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4" r:id="rId18"/>
    <p:sldId id="272" r:id="rId19"/>
    <p:sldId id="285" r:id="rId20"/>
    <p:sldId id="273" r:id="rId21"/>
    <p:sldId id="286" r:id="rId22"/>
    <p:sldId id="274" r:id="rId23"/>
    <p:sldId id="275" r:id="rId24"/>
    <p:sldId id="276" r:id="rId25"/>
    <p:sldId id="277" r:id="rId26"/>
    <p:sldId id="278" r:id="rId27"/>
    <p:sldId id="279" r:id="rId28"/>
    <p:sldId id="280" r:id="rId29"/>
    <p:sldId id="281" r:id="rId30"/>
    <p:sldId id="282" r:id="rId31"/>
    <p:sldId id="283"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3703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Frame the talk: we rebuilt the base paper's Monte Carlo pricing engine from scratch, validated it against closed forms, then went past its one technique (antithetic variates) to four more, benchmarked head to head. Tonight is about results — the code is available, but we will spend our time on what we found.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concretely: this is what one path of the underlying looks like under the model everyone uses, geometric Brownian motion. Same starting price, same volatility and drift feed every option in the deck — an up-and-in barrier call, a geometric and an arithmetic Asian option.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hockey-stick payoff is the base case. Everything that follows — barrier and Asian — modifies when or on what price this payoff is applied.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in cyan crosses the barrier partway through the year and is knocked in, so it prices like the vanilla call from that point. The orange path never gets there and is worth nothing, no matter where it ends up. This on/off switch is what makes barrier options much harder to price accurately than a vanilla call.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shaded band is the averaging window — the payoff depends on the mean price over that stretch, not the single value at day 252. Geometric averaging has a closed form we use as ground truth; arithmetic averaging, the one investors actually use, has none, so Monte Carlo is not optional there.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discretisation every experiment shares. r and σ are fixed by the scenario; Z is the only randomness, and it is generated once per path, up front, never inside the engine — that discipline is what lets us pair schemes and methods on the same random numbers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flaw in our runs — it is what Monte Carlo does. Doubling paths from 256 to 65,536 (256×) only cuts the error by 16×. The only way out is either brute-force scale, which is expensive, or smarter sampling — which is the rest of this talk.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techniques, four different mechanisms. The rest of the talk measures each one against plain Monte Carlo on the same scenarios, with the same acceptance checks.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insist on efficiency, not just variance reduction, because several of these methods cost more per path — a pilot run, a Sobol scramble, an extra likelihood-ratio calculation. And we insist on a trust check, because a method that is fast and wrong is worse than plain MC.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in this deck traces back to this same pipeline, run once per scenario and method, then summarised across 20 replicates. The seeding discipline is what lets us say a difference between methods is real, not luck of the draw.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scenarios chosen to stress different things: a near-the-money barrier like the paper's, a deep and a rare barrier to test tail behaviour, and both Asian averaging conventions. Every method below is run on this same grid.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We are not trying to overturn the base paper — we rebuilt its experiment independently and are about to show that two of its central claims hold up. Later we go further, with techniques the paper never tried.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Antithetic pairs a normal draw with its mirror. Because option payoffs are convex, the pair correlates negatively and the average of the two has lower variance than either alone. Our dashed lines mark the paper's own reported factors — we land right on them for the two options it tested.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isn't that the bias is exactly zero — it's O(Δt) and we measure it precisely — it's that no realistic run would ever notice it. The paper's claim of "negligible difference" holds, though not for the reason its own figures suggest.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scheme doesn't matter" is true for pricing but not for path fidelity — Milstein is the right choice if you ever need individual paths to be accurate, e.g. for hedging simulations, but buys nothing for a plain price.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Control variates, randomized quasi-Monte Carlo with a Brownian bridge, and importance sampling — plus a close look at the monitoring bias that plain convergence plots hide.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Asian has no closed form because the sum of lognormals isn't lognormal. But its geometric cousin does, and the two track each other almost perfectly path by path — so subtracting the geometric estimate (and adding back its known price) removes nearly all the noise.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07567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Asian has no closed form because the sum of lognormals isn't lognormal. But its geometric cousin does, and the two track each other almost perfectly path by path — so subtracting the geometric estimate (and adding back its known price) removes nearly all the noise.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Randomized quasi-Monte Carlo replaces pseudo-random draws with a scrambled Sobol sequence — points chosen to cover the space evenly rather than by chance — carried through a Brownian bridge. The slope, not just the level, changes: this is a fundamentally faster way to converge, not just a quieter one.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341221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curve is the whole story of when a control variate is worth building: near ρ=1 the payoff comes from a huge win, but the curve is flat almost everywhere else, so a mediocre control (like the deep barrier's) isn't worth much.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Randomized quasi-Monte Carlo replaces pseudo-random draws with a scrambled Sobol sequence — points chosen to cover the space evenly rather than by chance — carried through a Brownian bridge. The slope, not just the level, changes: this is a fundamentally faster way to converge, not just a quieter one.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3717020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Randomized quasi-Monte Carlo replaces pseudo-random draws with a scrambled Sobol sequence — points chosen to cover the space evenly rather than by chance — carried through a Brownian bridge. The slope, not just the level, changes: this is a fundamentally faster way to converge, not just a quieter one.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 construction spreads each day's increment across a different dimension, so no single Sobol coordinate matters much. The bridge instead assigns dimension 0 to the endpoint, then bisects — concentrating the low-discrepancy advantage exactly where the payoff is most sensitive.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Importance sampling shifts the drift so paths that matter — the ones that actually cross the barrier — happen far more often, then corrects for that shift with a likelihood-ratio weight. The rarer the event, the bigger the win: the effect is small at the deep barrier and dramatic at the rare 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Importance sampling is not free. Its pilot phase is a real cost, and at small N that cost dominates. Read this as: use IS deliberately, at the N you'll actually run, not as a default.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daily is not the same as checking continuously — a path can spike through the barrier between monitoring dates and be missed. This bias is tiny next to plain Monte Carlo's own noise, but it's real, systematic, and only visible once your estimator is precise enough to see past the noise — which is exactly what a good control variate buys you.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chart that answers "which technique should I use": at production scale, RQMC with a Brownian bridge is never worse than tied for best, across a near-vanilla barrier, a discontinuous deep barrier, and both Asian conventions.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reframes "efficiency" in units anyone can feel: what would have been a 10-second wait becomes 11 milliseconds. Even the deep barrier — the hardest case in the deck — drops from half a minute to two-thirds of a second.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had to compress this whole deck into one instruction for someone pricing these options tomorrow: match the technique to the geometry of the payoff, and always know which reference price you're actually converging to.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headline number in this deck was checked at least twice: once by the person who produced it, and once independently, against a from-scratch recomputation that never imports our own source.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live demo if time allows, or open the floor to questions. The reproduction command regenerates every figure and table in this deck from the checked-in CSVs in under 20 seconds.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22B"/>
        </a:solidFill>
        <a:effectLst/>
      </p:bgPr>
    </p:bg>
    <p:spTree>
      <p:nvGrpSpPr>
        <p:cNvPr id="1" name=""/>
        <p:cNvGrpSpPr/>
        <p:nvPr/>
      </p:nvGrpSpPr>
      <p:grpSpPr>
        <a:xfrm>
          <a:off x="0" y="0"/>
          <a:ext cx="0" cy="0"/>
          <a:chOff x="0" y="0"/>
          <a:chExt cx="0" cy="0"/>
        </a:xfrm>
      </p:grpSpPr>
      <p:pic>
        <p:nvPicPr>
          <p:cNvPr id="2" name="Image 0" descr="A fan of nine simulated stock-price paths spreading out from a common start"/>
          <p:cNvPicPr>
            <a:picLocks noChangeAspect="1"/>
          </p:cNvPicPr>
          <p:nvPr/>
        </p:nvPicPr>
        <p:blipFill>
          <a:blip r:embed="rId3"/>
          <a:srcRect/>
          <a:stretch/>
        </p:blipFill>
        <p:spPr>
          <a:xfrm>
            <a:off x="0" y="1143000"/>
            <a:ext cx="12192000" cy="5715000"/>
          </a:xfrm>
          <a:prstGeom prst="rect">
            <a:avLst/>
          </a:prstGeom>
        </p:spPr>
      </p:pic>
      <p:sp>
        <p:nvSpPr>
          <p:cNvPr id="3" name="Text 0"/>
          <p:cNvSpPr/>
          <p:nvPr/>
        </p:nvSpPr>
        <p:spPr>
          <a:xfrm>
            <a:off x="812800" y="883957"/>
            <a:ext cx="6424310"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CSE 402 · NUMERICAL ANALYSIS, SIMULATION &amp; MODELING · GROUP G07</a:t>
            </a:r>
            <a:endParaRPr lang="en-US" sz="1200" dirty="0"/>
          </a:p>
        </p:txBody>
      </p:sp>
      <p:sp>
        <p:nvSpPr>
          <p:cNvPr id="4" name="Text 1"/>
          <p:cNvSpPr/>
          <p:nvPr/>
        </p:nvSpPr>
        <p:spPr>
          <a:xfrm>
            <a:off x="812800" y="1460500"/>
            <a:ext cx="9810750" cy="772085"/>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F2EFFA"/>
                </a:solidFill>
                <a:latin typeface="Fraunces" pitchFamily="34" charset="0"/>
                <a:ea typeface="Fraunces" pitchFamily="34" charset="-122"/>
                <a:cs typeface="Fraunces" pitchFamily="34" charset="-120"/>
              </a:rPr>
              <a:t>Pricing the Path</a:t>
            </a:r>
            <a:endParaRPr lang="en-US" sz="5600" dirty="0"/>
          </a:p>
        </p:txBody>
      </p:sp>
      <p:sp>
        <p:nvSpPr>
          <p:cNvPr id="5" name="Text 2"/>
          <p:cNvSpPr/>
          <p:nvPr/>
        </p:nvSpPr>
        <p:spPr>
          <a:xfrm>
            <a:off x="812800" y="2207185"/>
            <a:ext cx="9810750" cy="416485"/>
          </a:xfrm>
          <a:prstGeom prst="rect">
            <a:avLst/>
          </a:prstGeom>
          <a:noFill/>
          <a:ln/>
        </p:spPr>
        <p:txBody>
          <a:bodyPr wrap="square" lIns="0" tIns="0" rIns="0" bIns="0" rtlCol="0" anchor="t">
            <a:normAutofit/>
          </a:bodyPr>
          <a:lstStyle/>
          <a:p>
            <a:pPr marL="0" indent="0" algn="l">
              <a:lnSpc>
                <a:spcPts val="3080"/>
              </a:lnSpc>
              <a:buNone/>
            </a:pPr>
            <a:r>
              <a:rPr lang="en-US" sz="2200" i="1" dirty="0">
                <a:solidFill>
                  <a:srgbClr val="3FD0E6"/>
                </a:solidFill>
                <a:latin typeface="Fraunces" pitchFamily="34" charset="0"/>
                <a:ea typeface="Fraunces" pitchFamily="34" charset="-122"/>
                <a:cs typeface="Fraunces" pitchFamily="34" charset="-120"/>
              </a:rPr>
              <a:t>beyond antithetic variates</a:t>
            </a:r>
            <a:endParaRPr lang="en-US" sz="2200" dirty="0"/>
          </a:p>
        </p:txBody>
      </p:sp>
      <p:sp>
        <p:nvSpPr>
          <p:cNvPr id="6" name="Text 3"/>
          <p:cNvSpPr/>
          <p:nvPr/>
        </p:nvSpPr>
        <p:spPr>
          <a:xfrm>
            <a:off x="812800" y="4950572"/>
            <a:ext cx="9810750" cy="48764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B8DC"/>
                </a:solidFill>
                <a:latin typeface="Space Grotesk" pitchFamily="34" charset="0"/>
                <a:ea typeface="Space Grotesk" pitchFamily="34" charset="-122"/>
                <a:cs typeface="Space Grotesk" pitchFamily="34" charset="-120"/>
              </a:rPr>
              <a:t>Extending S. R. Gottimukkala (2024), </a:t>
            </a:r>
            <a:r>
              <a:rPr lang="en-US" sz="1300" i="1" dirty="0">
                <a:solidFill>
                  <a:srgbClr val="BFB8DC"/>
                </a:solidFill>
                <a:latin typeface="Space Grotesk" pitchFamily="34" charset="0"/>
                <a:ea typeface="Space Grotesk" pitchFamily="34" charset="-122"/>
                <a:cs typeface="Space Grotesk" pitchFamily="34" charset="-120"/>
              </a:rPr>
              <a:t>Optimizing Exotic Option Pricing: Monte Carlo Simulation and Variance Reduction Techniques</a:t>
            </a:r>
            <a:r>
              <a:rPr lang="en-US" sz="1300" dirty="0">
                <a:solidFill>
                  <a:srgbClr val="BFB8DC"/>
                </a:solidFill>
                <a:latin typeface="Space Grotesk" pitchFamily="34" charset="0"/>
                <a:ea typeface="Space Grotesk" pitchFamily="34" charset="-122"/>
                <a:cs typeface="Space Grotesk" pitchFamily="34" charset="-120"/>
              </a:rPr>
              <a:t>, Preprints.org</a:t>
            </a:r>
            <a:endParaRPr lang="en-US" sz="1300" dirty="0"/>
          </a:p>
        </p:txBody>
      </p:sp>
      <p:sp>
        <p:nvSpPr>
          <p:cNvPr id="7" name="Shape 4"/>
          <p:cNvSpPr/>
          <p:nvPr/>
        </p:nvSpPr>
        <p:spPr>
          <a:xfrm>
            <a:off x="812800" y="5514415"/>
            <a:ext cx="1751946" cy="322543"/>
          </a:xfrm>
          <a:prstGeom prst="roundRect">
            <a:avLst>
              <a:gd name="adj" fmla="val 50000"/>
            </a:avLst>
          </a:prstGeom>
          <a:solidFill>
            <a:srgbClr val="F2EFFA"/>
          </a:solidFill>
          <a:ln/>
        </p:spPr>
      </p:sp>
      <p:sp>
        <p:nvSpPr>
          <p:cNvPr id="8" name="Text 5"/>
          <p:cNvSpPr/>
          <p:nvPr/>
        </p:nvSpPr>
        <p:spPr>
          <a:xfrm>
            <a:off x="939800" y="5577915"/>
            <a:ext cx="1548746"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16122B"/>
                </a:solidFill>
                <a:latin typeface="Space Grotesk" pitchFamily="34" charset="0"/>
                <a:ea typeface="Space Grotesk" pitchFamily="34" charset="-122"/>
                <a:cs typeface="Space Grotesk" pitchFamily="34" charset="-120"/>
              </a:rPr>
              <a:t>Nafis Nahian · 2105007</a:t>
            </a:r>
            <a:endParaRPr lang="en-US" sz="1100" dirty="0"/>
          </a:p>
        </p:txBody>
      </p:sp>
      <p:sp>
        <p:nvSpPr>
          <p:cNvPr id="9" name="Shape 6"/>
          <p:cNvSpPr/>
          <p:nvPr/>
        </p:nvSpPr>
        <p:spPr>
          <a:xfrm>
            <a:off x="2653646" y="5514415"/>
            <a:ext cx="1886604" cy="322543"/>
          </a:xfrm>
          <a:prstGeom prst="roundRect">
            <a:avLst>
              <a:gd name="adj" fmla="val 50000"/>
            </a:avLst>
          </a:prstGeom>
          <a:solidFill>
            <a:srgbClr val="F2EFFA"/>
          </a:solidFill>
          <a:ln/>
        </p:spPr>
      </p:sp>
      <p:sp>
        <p:nvSpPr>
          <p:cNvPr id="10" name="Text 7"/>
          <p:cNvSpPr/>
          <p:nvPr/>
        </p:nvSpPr>
        <p:spPr>
          <a:xfrm>
            <a:off x="2780646" y="5577915"/>
            <a:ext cx="168340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16122B"/>
                </a:solidFill>
                <a:latin typeface="Space Grotesk" pitchFamily="34" charset="0"/>
                <a:ea typeface="Space Grotesk" pitchFamily="34" charset="-122"/>
                <a:cs typeface="Space Grotesk" pitchFamily="34" charset="-120"/>
              </a:rPr>
              <a:t>Aritra Debnath · 2105010</a:t>
            </a:r>
            <a:endParaRPr lang="en-US" sz="1100" dirty="0"/>
          </a:p>
        </p:txBody>
      </p:sp>
      <p:sp>
        <p:nvSpPr>
          <p:cNvPr id="11" name="Shape 8"/>
          <p:cNvSpPr/>
          <p:nvPr/>
        </p:nvSpPr>
        <p:spPr>
          <a:xfrm>
            <a:off x="4629150" y="5514415"/>
            <a:ext cx="2035455" cy="322543"/>
          </a:xfrm>
          <a:prstGeom prst="roundRect">
            <a:avLst>
              <a:gd name="adj" fmla="val 50000"/>
            </a:avLst>
          </a:prstGeom>
          <a:solidFill>
            <a:srgbClr val="F2EFFA"/>
          </a:solidFill>
          <a:ln/>
        </p:spPr>
      </p:sp>
      <p:sp>
        <p:nvSpPr>
          <p:cNvPr id="12" name="Text 9"/>
          <p:cNvSpPr/>
          <p:nvPr/>
        </p:nvSpPr>
        <p:spPr>
          <a:xfrm>
            <a:off x="4756150" y="5577915"/>
            <a:ext cx="1834899"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16122B"/>
                </a:solidFill>
                <a:latin typeface="Space Grotesk" pitchFamily="34" charset="0"/>
                <a:ea typeface="Space Grotesk" pitchFamily="34" charset="-122"/>
                <a:cs typeface="Space Grotesk" pitchFamily="34" charset="-120"/>
              </a:rPr>
              <a:t>Tamzeed Mahfuz · 2105012</a:t>
            </a:r>
            <a:endParaRPr lang="en-US" sz="1100" dirty="0"/>
          </a:p>
        </p:txBody>
      </p:sp>
      <p:sp>
        <p:nvSpPr>
          <p:cNvPr id="13" name="Shape 10"/>
          <p:cNvSpPr/>
          <p:nvPr/>
        </p:nvSpPr>
        <p:spPr>
          <a:xfrm>
            <a:off x="6753505" y="5514415"/>
            <a:ext cx="1800038" cy="322543"/>
          </a:xfrm>
          <a:prstGeom prst="roundRect">
            <a:avLst>
              <a:gd name="adj" fmla="val 50000"/>
            </a:avLst>
          </a:prstGeom>
          <a:solidFill>
            <a:srgbClr val="F2EFFA"/>
          </a:solidFill>
          <a:ln/>
        </p:spPr>
      </p:sp>
      <p:sp>
        <p:nvSpPr>
          <p:cNvPr id="14" name="Text 11"/>
          <p:cNvSpPr/>
          <p:nvPr/>
        </p:nvSpPr>
        <p:spPr>
          <a:xfrm>
            <a:off x="6880505" y="5577915"/>
            <a:ext cx="159683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16122B"/>
                </a:solidFill>
                <a:latin typeface="Space Grotesk" pitchFamily="34" charset="0"/>
                <a:ea typeface="Space Grotesk" pitchFamily="34" charset="-122"/>
                <a:cs typeface="Space Grotesk" pitchFamily="34" charset="-120"/>
              </a:rPr>
              <a:t>Arnob Biswas · 2105015</a:t>
            </a:r>
            <a:endParaRPr lang="en-US" sz="1100" dirty="0"/>
          </a:p>
        </p:txBody>
      </p:sp>
      <p:sp>
        <p:nvSpPr>
          <p:cNvPr id="15" name="Shape 12"/>
          <p:cNvSpPr/>
          <p:nvPr/>
        </p:nvSpPr>
        <p:spPr>
          <a:xfrm>
            <a:off x="812800" y="5925857"/>
            <a:ext cx="2428035" cy="322543"/>
          </a:xfrm>
          <a:prstGeom prst="roundRect">
            <a:avLst>
              <a:gd name="adj" fmla="val 50000"/>
            </a:avLst>
          </a:prstGeom>
          <a:solidFill>
            <a:srgbClr val="F2EFFA"/>
          </a:solidFill>
          <a:ln/>
        </p:spPr>
      </p:sp>
      <p:sp>
        <p:nvSpPr>
          <p:cNvPr id="16" name="Text 13"/>
          <p:cNvSpPr/>
          <p:nvPr/>
        </p:nvSpPr>
        <p:spPr>
          <a:xfrm>
            <a:off x="939800" y="5989357"/>
            <a:ext cx="2239256"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16122B"/>
                </a:solidFill>
                <a:latin typeface="Space Grotesk" pitchFamily="34" charset="0"/>
                <a:ea typeface="Space Grotesk" pitchFamily="34" charset="-122"/>
                <a:cs typeface="Space Grotesk" pitchFamily="34" charset="-120"/>
              </a:rPr>
              <a:t>Zaki Rehnoom Unmona · 2105016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1 · THE JARGON, WITH NUMBERS</a:t>
            </a:r>
            <a:endParaRPr lang="en-US" sz="1200" dirty="0"/>
          </a:p>
        </p:txBody>
      </p:sp>
      <p:sp>
        <p:nvSpPr>
          <p:cNvPr id="3" name="Text 1"/>
          <p:cNvSpPr/>
          <p:nvPr/>
        </p:nvSpPr>
        <p:spPr>
          <a:xfrm>
            <a:off x="812800" y="1864472"/>
            <a:ext cx="5494020" cy="47242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EFFA"/>
                </a:solidFill>
                <a:latin typeface="Fraunces" pitchFamily="34" charset="0"/>
                <a:ea typeface="Fraunces" pitchFamily="34" charset="-122"/>
                <a:cs typeface="Fraunces" pitchFamily="34" charset="-120"/>
              </a:rPr>
              <a:t>A stock that wanders</a:t>
            </a:r>
            <a:endParaRPr lang="en-US" sz="3200" dirty="0"/>
          </a:p>
        </p:txBody>
      </p:sp>
      <p:sp>
        <p:nvSpPr>
          <p:cNvPr id="4" name="Text 2"/>
          <p:cNvSpPr/>
          <p:nvPr/>
        </p:nvSpPr>
        <p:spPr>
          <a:xfrm>
            <a:off x="812800" y="2514694"/>
            <a:ext cx="4447540" cy="10563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B8DC"/>
                </a:solidFill>
                <a:latin typeface="Space Grotesk" pitchFamily="34" charset="0"/>
                <a:ea typeface="Space Grotesk" pitchFamily="34" charset="-122"/>
                <a:cs typeface="Space Grotesk" pitchFamily="34" charset="-120"/>
              </a:rPr>
              <a:t>Every scenario in this project starts from the same stock: one seed, one year, endless possible futures. This is what geometric Brownian motion looks like.</a:t>
            </a:r>
            <a:endParaRPr lang="en-US" sz="1400" dirty="0"/>
          </a:p>
        </p:txBody>
      </p:sp>
      <p:sp>
        <p:nvSpPr>
          <p:cNvPr id="5" name="Shape 3"/>
          <p:cNvSpPr/>
          <p:nvPr/>
        </p:nvSpPr>
        <p:spPr>
          <a:xfrm>
            <a:off x="812800" y="3748835"/>
            <a:ext cx="2616200" cy="830543"/>
          </a:xfrm>
          <a:prstGeom prst="roundRect">
            <a:avLst>
              <a:gd name="adj" fmla="val 12233"/>
            </a:avLst>
          </a:prstGeom>
          <a:solidFill>
            <a:srgbClr val="201A3D"/>
          </a:solidFill>
          <a:ln/>
        </p:spPr>
      </p:sp>
      <p:sp>
        <p:nvSpPr>
          <p:cNvPr id="6" name="Text 4"/>
          <p:cNvSpPr/>
          <p:nvPr/>
        </p:nvSpPr>
        <p:spPr>
          <a:xfrm>
            <a:off x="990600" y="3901235"/>
            <a:ext cx="2328418"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F2EFFA"/>
                </a:solidFill>
                <a:latin typeface="JetBrains Mono" pitchFamily="34" charset="0"/>
                <a:ea typeface="JetBrains Mono" pitchFamily="34" charset="-122"/>
                <a:cs typeface="JetBrains Mono" pitchFamily="34" charset="-120"/>
              </a:rPr>
              <a:t>$100</a:t>
            </a:r>
            <a:endParaRPr lang="en-US" sz="2400" dirty="0"/>
          </a:p>
        </p:txBody>
      </p:sp>
      <p:sp>
        <p:nvSpPr>
          <p:cNvPr id="7" name="Text 5"/>
          <p:cNvSpPr/>
          <p:nvPr/>
        </p:nvSpPr>
        <p:spPr>
          <a:xfrm>
            <a:off x="990600" y="4231435"/>
            <a:ext cx="23284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start price, S₀</a:t>
            </a:r>
            <a:endParaRPr lang="en-US" sz="1100" dirty="0"/>
          </a:p>
        </p:txBody>
      </p:sp>
      <p:sp>
        <p:nvSpPr>
          <p:cNvPr id="8" name="Shape 6"/>
          <p:cNvSpPr/>
          <p:nvPr/>
        </p:nvSpPr>
        <p:spPr>
          <a:xfrm>
            <a:off x="3530600" y="3748835"/>
            <a:ext cx="2616200" cy="830543"/>
          </a:xfrm>
          <a:prstGeom prst="roundRect">
            <a:avLst>
              <a:gd name="adj" fmla="val 12233"/>
            </a:avLst>
          </a:prstGeom>
          <a:solidFill>
            <a:srgbClr val="201A3D"/>
          </a:solidFill>
          <a:ln/>
        </p:spPr>
      </p:sp>
      <p:sp>
        <p:nvSpPr>
          <p:cNvPr id="9" name="Text 7"/>
          <p:cNvSpPr/>
          <p:nvPr/>
        </p:nvSpPr>
        <p:spPr>
          <a:xfrm>
            <a:off x="3708400" y="3901235"/>
            <a:ext cx="2328418"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FF7A45"/>
                </a:solidFill>
                <a:latin typeface="JetBrains Mono" pitchFamily="34" charset="0"/>
                <a:ea typeface="JetBrains Mono" pitchFamily="34" charset="-122"/>
                <a:cs typeface="JetBrains Mono" pitchFamily="34" charset="-120"/>
              </a:rPr>
              <a:t>20%</a:t>
            </a:r>
            <a:endParaRPr lang="en-US" sz="2400" dirty="0"/>
          </a:p>
        </p:txBody>
      </p:sp>
      <p:sp>
        <p:nvSpPr>
          <p:cNvPr id="10" name="Text 8"/>
          <p:cNvSpPr/>
          <p:nvPr/>
        </p:nvSpPr>
        <p:spPr>
          <a:xfrm>
            <a:off x="3708400" y="4231435"/>
            <a:ext cx="23284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volatility, σ (a year's swing)</a:t>
            </a:r>
            <a:endParaRPr lang="en-US" sz="1100" dirty="0"/>
          </a:p>
        </p:txBody>
      </p:sp>
      <p:sp>
        <p:nvSpPr>
          <p:cNvPr id="11" name="Shape 9"/>
          <p:cNvSpPr/>
          <p:nvPr/>
        </p:nvSpPr>
        <p:spPr>
          <a:xfrm>
            <a:off x="812800" y="4680977"/>
            <a:ext cx="2616200" cy="830543"/>
          </a:xfrm>
          <a:prstGeom prst="roundRect">
            <a:avLst>
              <a:gd name="adj" fmla="val 12233"/>
            </a:avLst>
          </a:prstGeom>
          <a:solidFill>
            <a:srgbClr val="201A3D"/>
          </a:solidFill>
          <a:ln/>
        </p:spPr>
      </p:sp>
      <p:sp>
        <p:nvSpPr>
          <p:cNvPr id="12" name="Text 10"/>
          <p:cNvSpPr/>
          <p:nvPr/>
        </p:nvSpPr>
        <p:spPr>
          <a:xfrm>
            <a:off x="990600" y="4833377"/>
            <a:ext cx="2328418"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3FD0E6"/>
                </a:solidFill>
                <a:latin typeface="JetBrains Mono" pitchFamily="34" charset="0"/>
                <a:ea typeface="JetBrains Mono" pitchFamily="34" charset="-122"/>
                <a:cs typeface="JetBrains Mono" pitchFamily="34" charset="-120"/>
              </a:rPr>
              <a:t>3%</a:t>
            </a:r>
            <a:endParaRPr lang="en-US" sz="2400" dirty="0"/>
          </a:p>
        </p:txBody>
      </p:sp>
      <p:sp>
        <p:nvSpPr>
          <p:cNvPr id="13" name="Text 11"/>
          <p:cNvSpPr/>
          <p:nvPr/>
        </p:nvSpPr>
        <p:spPr>
          <a:xfrm>
            <a:off x="990600" y="5163577"/>
            <a:ext cx="23284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risk-free drift, r</a:t>
            </a:r>
            <a:endParaRPr lang="en-US" sz="1100" dirty="0"/>
          </a:p>
        </p:txBody>
      </p:sp>
      <p:sp>
        <p:nvSpPr>
          <p:cNvPr id="14" name="Shape 12"/>
          <p:cNvSpPr/>
          <p:nvPr/>
        </p:nvSpPr>
        <p:spPr>
          <a:xfrm>
            <a:off x="3530600" y="4680977"/>
            <a:ext cx="2616200" cy="830543"/>
          </a:xfrm>
          <a:prstGeom prst="roundRect">
            <a:avLst>
              <a:gd name="adj" fmla="val 12233"/>
            </a:avLst>
          </a:prstGeom>
          <a:solidFill>
            <a:srgbClr val="201A3D"/>
          </a:solidFill>
          <a:ln/>
        </p:spPr>
      </p:sp>
      <p:sp>
        <p:nvSpPr>
          <p:cNvPr id="15" name="Text 13"/>
          <p:cNvSpPr/>
          <p:nvPr/>
        </p:nvSpPr>
        <p:spPr>
          <a:xfrm>
            <a:off x="3708400" y="4833377"/>
            <a:ext cx="2328418"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F2EFFA"/>
                </a:solidFill>
                <a:latin typeface="JetBrains Mono" pitchFamily="34" charset="0"/>
                <a:ea typeface="JetBrains Mono" pitchFamily="34" charset="-122"/>
                <a:cs typeface="JetBrains Mono" pitchFamily="34" charset="-120"/>
              </a:rPr>
              <a:t>252</a:t>
            </a:r>
            <a:endParaRPr lang="en-US" sz="2400" dirty="0"/>
          </a:p>
        </p:txBody>
      </p:sp>
      <p:sp>
        <p:nvSpPr>
          <p:cNvPr id="16" name="Text 14"/>
          <p:cNvSpPr/>
          <p:nvPr/>
        </p:nvSpPr>
        <p:spPr>
          <a:xfrm>
            <a:off x="3708400" y="5163577"/>
            <a:ext cx="23284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trading days, T = 1 year</a:t>
            </a:r>
            <a:endParaRPr lang="en-US" sz="1100" dirty="0"/>
          </a:p>
        </p:txBody>
      </p:sp>
      <p:sp>
        <p:nvSpPr>
          <p:cNvPr id="17" name="Shape 15"/>
          <p:cNvSpPr/>
          <p:nvPr/>
        </p:nvSpPr>
        <p:spPr>
          <a:xfrm>
            <a:off x="6553200" y="1330885"/>
            <a:ext cx="4826000" cy="3556000"/>
          </a:xfrm>
          <a:prstGeom prst="roundRect">
            <a:avLst>
              <a:gd name="adj" fmla="val 5714"/>
            </a:avLst>
          </a:prstGeom>
          <a:solidFill>
            <a:srgbClr val="201A3D"/>
          </a:solidFill>
          <a:ln/>
        </p:spPr>
      </p:sp>
      <p:pic>
        <p:nvPicPr>
          <p:cNvPr id="18" name="Image 0" descr="Five simulated one-year price paths starting at 100 and spreading out to between 64 and 111"/>
          <p:cNvPicPr>
            <a:picLocks noChangeAspect="1"/>
          </p:cNvPicPr>
          <p:nvPr/>
        </p:nvPicPr>
        <p:blipFill>
          <a:blip r:embed="rId3"/>
          <a:srcRect/>
          <a:stretch/>
        </p:blipFill>
        <p:spPr>
          <a:xfrm>
            <a:off x="6680200" y="1457885"/>
            <a:ext cx="4572000" cy="3302000"/>
          </a:xfrm>
          <a:prstGeom prst="rect">
            <a:avLst/>
          </a:prstGeom>
        </p:spPr>
      </p:pic>
      <p:sp>
        <p:nvSpPr>
          <p:cNvPr id="19" name="Text 16"/>
          <p:cNvSpPr/>
          <p:nvPr/>
        </p:nvSpPr>
        <p:spPr>
          <a:xfrm>
            <a:off x="6832600" y="3108885"/>
            <a:ext cx="721285"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alpha val="60000"/>
                  </a:srgbClr>
                </a:solidFill>
                <a:latin typeface="JetBrains Mono" pitchFamily="34" charset="0"/>
                <a:ea typeface="JetBrains Mono" pitchFamily="34" charset="-122"/>
                <a:cs typeface="JetBrains Mono" pitchFamily="34" charset="-120"/>
              </a:rPr>
              <a:t>S₀ = 100</a:t>
            </a:r>
            <a:endParaRPr lang="en-US" sz="1100" dirty="0"/>
          </a:p>
        </p:txBody>
      </p:sp>
      <p:sp>
        <p:nvSpPr>
          <p:cNvPr id="20" name="Text 17"/>
          <p:cNvSpPr/>
          <p:nvPr/>
        </p:nvSpPr>
        <p:spPr>
          <a:xfrm>
            <a:off x="9609138" y="4411942"/>
            <a:ext cx="1541463"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day 252 → $64 to $111</a:t>
            </a:r>
            <a:endParaRPr lang="en-US" sz="1100" dirty="0"/>
          </a:p>
        </p:txBody>
      </p:sp>
      <p:sp>
        <p:nvSpPr>
          <p:cNvPr id="21" name="Text 18"/>
          <p:cNvSpPr/>
          <p:nvPr/>
        </p:nvSpPr>
        <p:spPr>
          <a:xfrm>
            <a:off x="812800" y="6238315"/>
            <a:ext cx="634592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Five draws of one scenario, seed 402 — illustrative, same S₀, σ, r as every experiment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1 · THE JARGON, WITH NUMBERS</a:t>
            </a:r>
            <a:endParaRPr lang="en-US" sz="1200" dirty="0"/>
          </a:p>
        </p:txBody>
      </p:sp>
      <p:sp>
        <p:nvSpPr>
          <p:cNvPr id="3" name="Text 1"/>
          <p:cNvSpPr/>
          <p:nvPr/>
        </p:nvSpPr>
        <p:spPr>
          <a:xfrm>
            <a:off x="812800" y="1698813"/>
            <a:ext cx="5494020" cy="47242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EFFA"/>
                </a:solidFill>
                <a:latin typeface="Fraunces" pitchFamily="34" charset="0"/>
                <a:ea typeface="Fraunces" pitchFamily="34" charset="-122"/>
                <a:cs typeface="Fraunces" pitchFamily="34" charset="-120"/>
              </a:rPr>
              <a:t>A call option</a:t>
            </a:r>
            <a:endParaRPr lang="en-US" sz="3200" dirty="0"/>
          </a:p>
        </p:txBody>
      </p:sp>
      <p:sp>
        <p:nvSpPr>
          <p:cNvPr id="4" name="Text 2"/>
          <p:cNvSpPr/>
          <p:nvPr/>
        </p:nvSpPr>
        <p:spPr>
          <a:xfrm>
            <a:off x="812800" y="2323633"/>
            <a:ext cx="4185920" cy="798606"/>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B8DC"/>
                </a:solidFill>
                <a:latin typeface="Space Grotesk" pitchFamily="34" charset="0"/>
                <a:ea typeface="Space Grotesk" pitchFamily="34" charset="-122"/>
                <a:cs typeface="Space Grotesk" pitchFamily="34" charset="-120"/>
              </a:rPr>
              <a:t>The right, not the obligation, to </a:t>
            </a:r>
            <a:r>
              <a:rPr lang="en-US" sz="1400" b="1" dirty="0">
                <a:solidFill>
                  <a:srgbClr val="BFB8DC"/>
                </a:solidFill>
                <a:latin typeface="Space Grotesk" pitchFamily="34" charset="0"/>
                <a:ea typeface="Space Grotesk" pitchFamily="34" charset="-122"/>
                <a:cs typeface="Space Grotesk" pitchFamily="34" charset="-120"/>
              </a:rPr>
              <a:t>buy at a fixed strike K = $105</a:t>
            </a:r>
            <a:r>
              <a:rPr lang="en-US" sz="1400" dirty="0">
                <a:solidFill>
                  <a:srgbClr val="BFB8DC"/>
                </a:solidFill>
                <a:latin typeface="Space Grotesk" pitchFamily="34" charset="0"/>
                <a:ea typeface="Space Grotesk" pitchFamily="34" charset="-122"/>
                <a:cs typeface="Space Grotesk" pitchFamily="34" charset="-120"/>
              </a:rPr>
              <a:t>. Below the strike it is worthless; above it, every extra dollar is yours.</a:t>
            </a:r>
            <a:endParaRPr lang="en-US" sz="1400" dirty="0"/>
          </a:p>
        </p:txBody>
      </p:sp>
      <p:sp>
        <p:nvSpPr>
          <p:cNvPr id="5" name="Shape 3"/>
          <p:cNvSpPr/>
          <p:nvPr/>
        </p:nvSpPr>
        <p:spPr>
          <a:xfrm>
            <a:off x="812800" y="3274639"/>
            <a:ext cx="5334000" cy="916828"/>
          </a:xfrm>
          <a:custGeom>
            <a:avLst/>
            <a:gdLst/>
            <a:ahLst/>
            <a:cxnLst/>
            <a:rect l="l" t="t" r="r" b="b"/>
            <a:pathLst>
              <a:path w="5334000" h="916828">
                <a:moveTo>
                  <a:pt x="0" y="0"/>
                </a:moveTo>
                <a:lnTo>
                  <a:pt x="5232400" y="0"/>
                </a:lnTo>
                <a:arcTo wR="101600" hR="101600" stAng="16200000" swAng="5400000"/>
                <a:lnTo>
                  <a:pt x="5334000" y="815228"/>
                </a:lnTo>
                <a:arcTo wR="101600" hR="101600" stAng="0" swAng="5400000"/>
                <a:lnTo>
                  <a:pt x="0" y="916828"/>
                </a:lnTo>
                <a:lnTo>
                  <a:pt x="0" y="0"/>
                </a:lnTo>
                <a:close/>
              </a:path>
            </a:pathLst>
          </a:custGeom>
          <a:solidFill>
            <a:srgbClr val="201A3D"/>
          </a:solidFill>
          <a:ln/>
        </p:spPr>
      </p:sp>
      <p:sp>
        <p:nvSpPr>
          <p:cNvPr id="6" name="Shape 4"/>
          <p:cNvSpPr/>
          <p:nvPr/>
        </p:nvSpPr>
        <p:spPr>
          <a:xfrm>
            <a:off x="812800" y="3274639"/>
            <a:ext cx="5334000" cy="916828"/>
          </a:xfrm>
          <a:custGeom>
            <a:avLst/>
            <a:gdLst/>
            <a:ahLst/>
            <a:cxnLst/>
            <a:rect l="l" t="t" r="r" b="b"/>
            <a:pathLst>
              <a:path w="5334000" h="916828">
                <a:moveTo>
                  <a:pt x="38100" y="916828"/>
                </a:moveTo>
                <a:lnTo>
                  <a:pt x="0" y="916828"/>
                </a:lnTo>
                <a:lnTo>
                  <a:pt x="0" y="0"/>
                </a:lnTo>
                <a:lnTo>
                  <a:pt x="38100" y="0"/>
                </a:lnTo>
                <a:lnTo>
                  <a:pt x="38100" y="916828"/>
                </a:lnTo>
                <a:close/>
              </a:path>
            </a:pathLst>
          </a:custGeom>
          <a:solidFill>
            <a:srgbClr val="3FD0E6"/>
          </a:solidFill>
          <a:ln/>
        </p:spPr>
      </p:sp>
      <p:sp>
        <p:nvSpPr>
          <p:cNvPr id="7" name="Text 5"/>
          <p:cNvSpPr/>
          <p:nvPr/>
        </p:nvSpPr>
        <p:spPr>
          <a:xfrm>
            <a:off x="1026459" y="3427039"/>
            <a:ext cx="5090818" cy="416485"/>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FD0E6"/>
                </a:solidFill>
                <a:latin typeface="JetBrains Mono" pitchFamily="34" charset="0"/>
                <a:ea typeface="JetBrains Mono" pitchFamily="34" charset="-122"/>
                <a:cs typeface="JetBrains Mono" pitchFamily="34" charset="-120"/>
              </a:rPr>
              <a:t>$120 → $15</a:t>
            </a:r>
            <a:endParaRPr lang="en-US" sz="2200" dirty="0"/>
          </a:p>
        </p:txBody>
      </p:sp>
      <p:sp>
        <p:nvSpPr>
          <p:cNvPr id="8" name="Text 6"/>
          <p:cNvSpPr/>
          <p:nvPr/>
        </p:nvSpPr>
        <p:spPr>
          <a:xfrm>
            <a:off x="1026459" y="3843525"/>
            <a:ext cx="50908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stock finishes above K: payoff = 120 − 105</a:t>
            </a:r>
            <a:endParaRPr lang="en-US" sz="1100" dirty="0"/>
          </a:p>
        </p:txBody>
      </p:sp>
      <p:sp>
        <p:nvSpPr>
          <p:cNvPr id="9" name="Shape 7"/>
          <p:cNvSpPr/>
          <p:nvPr/>
        </p:nvSpPr>
        <p:spPr>
          <a:xfrm>
            <a:off x="812800" y="4369267"/>
            <a:ext cx="5334000" cy="916828"/>
          </a:xfrm>
          <a:custGeom>
            <a:avLst/>
            <a:gdLst/>
            <a:ahLst/>
            <a:cxnLst/>
            <a:rect l="l" t="t" r="r" b="b"/>
            <a:pathLst>
              <a:path w="5334000" h="916828">
                <a:moveTo>
                  <a:pt x="0" y="0"/>
                </a:moveTo>
                <a:lnTo>
                  <a:pt x="5232400" y="0"/>
                </a:lnTo>
                <a:arcTo wR="101600" hR="101600" stAng="16200000" swAng="5400000"/>
                <a:lnTo>
                  <a:pt x="5334000" y="815228"/>
                </a:lnTo>
                <a:arcTo wR="101600" hR="101600" stAng="0" swAng="5400000"/>
                <a:lnTo>
                  <a:pt x="0" y="916828"/>
                </a:lnTo>
                <a:lnTo>
                  <a:pt x="0" y="0"/>
                </a:lnTo>
                <a:close/>
              </a:path>
            </a:pathLst>
          </a:custGeom>
          <a:solidFill>
            <a:srgbClr val="201A3D"/>
          </a:solidFill>
          <a:ln/>
        </p:spPr>
      </p:sp>
      <p:sp>
        <p:nvSpPr>
          <p:cNvPr id="10" name="Shape 8"/>
          <p:cNvSpPr/>
          <p:nvPr/>
        </p:nvSpPr>
        <p:spPr>
          <a:xfrm>
            <a:off x="812800" y="4369267"/>
            <a:ext cx="5334000" cy="916828"/>
          </a:xfrm>
          <a:custGeom>
            <a:avLst/>
            <a:gdLst/>
            <a:ahLst/>
            <a:cxnLst/>
            <a:rect l="l" t="t" r="r" b="b"/>
            <a:pathLst>
              <a:path w="5334000" h="916828">
                <a:moveTo>
                  <a:pt x="38100" y="916828"/>
                </a:moveTo>
                <a:lnTo>
                  <a:pt x="0" y="916828"/>
                </a:lnTo>
                <a:lnTo>
                  <a:pt x="0" y="0"/>
                </a:lnTo>
                <a:lnTo>
                  <a:pt x="38100" y="0"/>
                </a:lnTo>
                <a:lnTo>
                  <a:pt x="38100" y="916828"/>
                </a:lnTo>
                <a:close/>
              </a:path>
            </a:pathLst>
          </a:custGeom>
          <a:solidFill>
            <a:srgbClr val="FF7A45"/>
          </a:solidFill>
          <a:ln/>
        </p:spPr>
      </p:sp>
      <p:sp>
        <p:nvSpPr>
          <p:cNvPr id="11" name="Text 9"/>
          <p:cNvSpPr/>
          <p:nvPr/>
        </p:nvSpPr>
        <p:spPr>
          <a:xfrm>
            <a:off x="1026459" y="4521667"/>
            <a:ext cx="5090818" cy="416485"/>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7A45"/>
                </a:solidFill>
                <a:latin typeface="JetBrains Mono" pitchFamily="34" charset="0"/>
                <a:ea typeface="JetBrains Mono" pitchFamily="34" charset="-122"/>
                <a:cs typeface="JetBrains Mono" pitchFamily="34" charset="-120"/>
              </a:rPr>
              <a:t>$95 → $0</a:t>
            </a:r>
            <a:endParaRPr lang="en-US" sz="2200" dirty="0"/>
          </a:p>
        </p:txBody>
      </p:sp>
      <p:sp>
        <p:nvSpPr>
          <p:cNvPr id="12" name="Text 10"/>
          <p:cNvSpPr/>
          <p:nvPr/>
        </p:nvSpPr>
        <p:spPr>
          <a:xfrm>
            <a:off x="1026459" y="4938153"/>
            <a:ext cx="50908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stock finishes below K: the option lapses</a:t>
            </a:r>
            <a:endParaRPr lang="en-US" sz="1100" dirty="0"/>
          </a:p>
        </p:txBody>
      </p:sp>
      <p:sp>
        <p:nvSpPr>
          <p:cNvPr id="13" name="Text 11"/>
          <p:cNvSpPr/>
          <p:nvPr/>
        </p:nvSpPr>
        <p:spPr>
          <a:xfrm>
            <a:off x="812800" y="5463894"/>
            <a:ext cx="549402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Price today = e−rT × average payoff, over every simulated path.</a:t>
            </a:r>
            <a:endParaRPr lang="en-US" sz="1200" dirty="0"/>
          </a:p>
        </p:txBody>
      </p:sp>
      <p:sp>
        <p:nvSpPr>
          <p:cNvPr id="14" name="Shape 12"/>
          <p:cNvSpPr/>
          <p:nvPr/>
        </p:nvSpPr>
        <p:spPr>
          <a:xfrm>
            <a:off x="6553200" y="1330885"/>
            <a:ext cx="4826000" cy="3556000"/>
          </a:xfrm>
          <a:prstGeom prst="roundRect">
            <a:avLst>
              <a:gd name="adj" fmla="val 5714"/>
            </a:avLst>
          </a:prstGeom>
          <a:solidFill>
            <a:srgbClr val="201A3D"/>
          </a:solidFill>
          <a:ln/>
        </p:spPr>
      </p:sp>
      <p:pic>
        <p:nvPicPr>
          <p:cNvPr id="15" name="Image 0" descr="Payoff diagram: flat at zero below the strike, then rising one-for-one above it"/>
          <p:cNvPicPr>
            <a:picLocks noChangeAspect="1"/>
          </p:cNvPicPr>
          <p:nvPr/>
        </p:nvPicPr>
        <p:blipFill>
          <a:blip r:embed="rId3"/>
          <a:srcRect/>
          <a:stretch/>
        </p:blipFill>
        <p:spPr>
          <a:xfrm>
            <a:off x="6553200" y="1775385"/>
            <a:ext cx="4826000" cy="2667000"/>
          </a:xfrm>
          <a:prstGeom prst="rect">
            <a:avLst/>
          </a:prstGeom>
        </p:spPr>
      </p:pic>
      <p:sp>
        <p:nvSpPr>
          <p:cNvPr id="16" name="Text 13"/>
          <p:cNvSpPr/>
          <p:nvPr/>
        </p:nvSpPr>
        <p:spPr>
          <a:xfrm>
            <a:off x="8807450" y="1584885"/>
            <a:ext cx="63714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JetBrains Mono" pitchFamily="34" charset="0"/>
                <a:ea typeface="JetBrains Mono" pitchFamily="34" charset="-122"/>
                <a:cs typeface="JetBrains Mono" pitchFamily="34" charset="-120"/>
              </a:rPr>
              <a:t>K = 105</a:t>
            </a:r>
            <a:endParaRPr lang="en-US" sz="1100" dirty="0"/>
          </a:p>
        </p:txBody>
      </p:sp>
      <p:sp>
        <p:nvSpPr>
          <p:cNvPr id="17" name="Text 14"/>
          <p:cNvSpPr/>
          <p:nvPr/>
        </p:nvSpPr>
        <p:spPr>
          <a:xfrm>
            <a:off x="7759700" y="4201085"/>
            <a:ext cx="1223496"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F7A45"/>
                </a:solidFill>
                <a:latin typeface="JetBrains Mono" pitchFamily="34" charset="0"/>
                <a:ea typeface="JetBrains Mono" pitchFamily="34" charset="-122"/>
                <a:cs typeface="JetBrains Mono" pitchFamily="34" charset="-120"/>
              </a:rPr>
              <a:t>S=95, payoff 0</a:t>
            </a:r>
            <a:endParaRPr lang="en-US" sz="1100" dirty="0"/>
          </a:p>
        </p:txBody>
      </p:sp>
      <p:sp>
        <p:nvSpPr>
          <p:cNvPr id="18" name="Text 15"/>
          <p:cNvSpPr/>
          <p:nvPr/>
        </p:nvSpPr>
        <p:spPr>
          <a:xfrm>
            <a:off x="9537700" y="3489885"/>
            <a:ext cx="139102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3FD0E6"/>
                </a:solidFill>
                <a:latin typeface="JetBrains Mono" pitchFamily="34" charset="0"/>
                <a:ea typeface="JetBrains Mono" pitchFamily="34" charset="-122"/>
                <a:cs typeface="JetBrains Mono" pitchFamily="34" charset="-120"/>
              </a:rPr>
              <a:t>S=120, payoff 15</a:t>
            </a:r>
            <a:endParaRPr lang="en-US" sz="1100" dirty="0"/>
          </a:p>
        </p:txBody>
      </p:sp>
      <p:sp>
        <p:nvSpPr>
          <p:cNvPr id="19" name="Text 16"/>
          <p:cNvSpPr/>
          <p:nvPr/>
        </p:nvSpPr>
        <p:spPr>
          <a:xfrm>
            <a:off x="812800" y="6238315"/>
            <a:ext cx="677365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Every exotic in this deck adds a twist to this same payoff: a barrier gate, or an averaged 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1 · THE JARGON, WITH NUMBERS</a:t>
            </a:r>
            <a:endParaRPr lang="en-US" sz="1200" dirty="0"/>
          </a:p>
        </p:txBody>
      </p:sp>
      <p:sp>
        <p:nvSpPr>
          <p:cNvPr id="3" name="Text 1"/>
          <p:cNvSpPr/>
          <p:nvPr/>
        </p:nvSpPr>
        <p:spPr>
          <a:xfrm>
            <a:off x="812800" y="2036015"/>
            <a:ext cx="549402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An up-and-in barrier</a:t>
            </a:r>
            <a:endParaRPr lang="en-US" sz="3000" dirty="0"/>
          </a:p>
        </p:txBody>
      </p:sp>
      <p:sp>
        <p:nvSpPr>
          <p:cNvPr id="4" name="Text 2"/>
          <p:cNvSpPr/>
          <p:nvPr/>
        </p:nvSpPr>
        <p:spPr>
          <a:xfrm>
            <a:off x="812800" y="2632915"/>
            <a:ext cx="4185920" cy="10563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B8DC"/>
                </a:solidFill>
                <a:latin typeface="Space Grotesk" pitchFamily="34" charset="0"/>
                <a:ea typeface="Space Grotesk" pitchFamily="34" charset="-122"/>
                <a:cs typeface="Space Grotesk" pitchFamily="34" charset="-120"/>
              </a:rPr>
              <a:t>A call that starts </a:t>
            </a:r>
            <a:r>
              <a:rPr lang="en-US" sz="1400" b="1" dirty="0">
                <a:solidFill>
                  <a:srgbClr val="BFB8DC"/>
                </a:solidFill>
                <a:latin typeface="Space Grotesk" pitchFamily="34" charset="0"/>
                <a:ea typeface="Space Grotesk" pitchFamily="34" charset="-122"/>
                <a:cs typeface="Space Grotesk" pitchFamily="34" charset="-120"/>
              </a:rPr>
              <a:t>switched off</a:t>
            </a:r>
            <a:r>
              <a:rPr lang="en-US" sz="1400" dirty="0">
                <a:solidFill>
                  <a:srgbClr val="BFB8DC"/>
                </a:solidFill>
                <a:latin typeface="Space Grotesk" pitchFamily="34" charset="0"/>
                <a:ea typeface="Space Grotesk" pitchFamily="34" charset="-122"/>
                <a:cs typeface="Space Grotesk" pitchFamily="34" charset="-120"/>
              </a:rPr>
              <a:t>. It only pays out if the stock ever touches a barrier B above the strike — and even then, only if it also finishes in the money.</a:t>
            </a:r>
            <a:endParaRPr lang="en-US" sz="1400" dirty="0"/>
          </a:p>
        </p:txBody>
      </p:sp>
      <p:sp>
        <p:nvSpPr>
          <p:cNvPr id="5" name="Shape 3"/>
          <p:cNvSpPr/>
          <p:nvPr/>
        </p:nvSpPr>
        <p:spPr>
          <a:xfrm>
            <a:off x="812800" y="3841657"/>
            <a:ext cx="5334000" cy="441885"/>
          </a:xfrm>
          <a:prstGeom prst="roundRect">
            <a:avLst>
              <a:gd name="adj" fmla="val 22992"/>
            </a:avLst>
          </a:prstGeom>
          <a:solidFill>
            <a:srgbClr val="201A3D"/>
          </a:solidFill>
          <a:ln/>
        </p:spPr>
      </p:sp>
      <p:sp>
        <p:nvSpPr>
          <p:cNvPr id="6" name="Shape 4"/>
          <p:cNvSpPr/>
          <p:nvPr/>
        </p:nvSpPr>
        <p:spPr>
          <a:xfrm>
            <a:off x="965200" y="4018150"/>
            <a:ext cx="88900" cy="88900"/>
          </a:xfrm>
          <a:prstGeom prst="roundRect">
            <a:avLst>
              <a:gd name="adj" fmla="val 50000"/>
            </a:avLst>
          </a:prstGeom>
          <a:solidFill>
            <a:srgbClr val="3FD0E6"/>
          </a:solidFill>
          <a:ln/>
        </p:spPr>
      </p:sp>
      <p:sp>
        <p:nvSpPr>
          <p:cNvPr id="7" name="Text 5"/>
          <p:cNvSpPr/>
          <p:nvPr/>
        </p:nvSpPr>
        <p:spPr>
          <a:xfrm>
            <a:off x="1155700" y="3955957"/>
            <a:ext cx="3658063"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touches B → </a:t>
            </a:r>
            <a:r>
              <a:rPr lang="en-US" sz="1200" b="1" dirty="0">
                <a:solidFill>
                  <a:srgbClr val="F2EFFA"/>
                </a:solidFill>
                <a:latin typeface="Space Grotesk" pitchFamily="34" charset="0"/>
                <a:ea typeface="Space Grotesk" pitchFamily="34" charset="-122"/>
                <a:cs typeface="Space Grotesk" pitchFamily="34" charset="-120"/>
              </a:rPr>
              <a:t>knocked in</a:t>
            </a:r>
            <a:r>
              <a:rPr lang="en-US" sz="1200" dirty="0">
                <a:solidFill>
                  <a:srgbClr val="F2EFFA"/>
                </a:solidFill>
                <a:latin typeface="Space Grotesk" pitchFamily="34" charset="0"/>
                <a:ea typeface="Space Grotesk" pitchFamily="34" charset="-122"/>
                <a:cs typeface="Space Grotesk" pitchFamily="34" charset="-120"/>
              </a:rPr>
              <a:t>, prices like a normal call</a:t>
            </a:r>
            <a:endParaRPr lang="en-US" sz="1200" dirty="0"/>
          </a:p>
        </p:txBody>
      </p:sp>
      <p:sp>
        <p:nvSpPr>
          <p:cNvPr id="8" name="Shape 6"/>
          <p:cNvSpPr/>
          <p:nvPr/>
        </p:nvSpPr>
        <p:spPr>
          <a:xfrm>
            <a:off x="812800" y="4372442"/>
            <a:ext cx="5334000" cy="441885"/>
          </a:xfrm>
          <a:prstGeom prst="roundRect">
            <a:avLst>
              <a:gd name="adj" fmla="val 22992"/>
            </a:avLst>
          </a:prstGeom>
          <a:solidFill>
            <a:srgbClr val="201A3D"/>
          </a:solidFill>
          <a:ln/>
        </p:spPr>
      </p:sp>
      <p:sp>
        <p:nvSpPr>
          <p:cNvPr id="9" name="Shape 7"/>
          <p:cNvSpPr/>
          <p:nvPr/>
        </p:nvSpPr>
        <p:spPr>
          <a:xfrm>
            <a:off x="965200" y="4548935"/>
            <a:ext cx="88900" cy="88900"/>
          </a:xfrm>
          <a:prstGeom prst="roundRect">
            <a:avLst>
              <a:gd name="adj" fmla="val 50000"/>
            </a:avLst>
          </a:prstGeom>
          <a:solidFill>
            <a:srgbClr val="FF7A45"/>
          </a:solidFill>
          <a:ln/>
        </p:spPr>
      </p:sp>
      <p:sp>
        <p:nvSpPr>
          <p:cNvPr id="10" name="Text 8"/>
          <p:cNvSpPr/>
          <p:nvPr/>
        </p:nvSpPr>
        <p:spPr>
          <a:xfrm>
            <a:off x="1155700" y="4486742"/>
            <a:ext cx="2808375"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never touches B → </a:t>
            </a:r>
            <a:r>
              <a:rPr lang="en-US" sz="1200" b="1" dirty="0">
                <a:solidFill>
                  <a:srgbClr val="F2EFFA"/>
                </a:solidFill>
                <a:latin typeface="Space Grotesk" pitchFamily="34" charset="0"/>
                <a:ea typeface="Space Grotesk" pitchFamily="34" charset="-122"/>
                <a:cs typeface="Space Grotesk" pitchFamily="34" charset="-120"/>
              </a:rPr>
              <a:t>expires worthless</a:t>
            </a:r>
            <a:endParaRPr lang="en-US" sz="1200" dirty="0"/>
          </a:p>
        </p:txBody>
      </p:sp>
      <p:sp>
        <p:nvSpPr>
          <p:cNvPr id="11" name="Shape 9"/>
          <p:cNvSpPr/>
          <p:nvPr/>
        </p:nvSpPr>
        <p:spPr>
          <a:xfrm>
            <a:off x="812800" y="4992128"/>
            <a:ext cx="1381779" cy="322543"/>
          </a:xfrm>
          <a:prstGeom prst="roundRect">
            <a:avLst>
              <a:gd name="adj" fmla="val 50000"/>
            </a:avLst>
          </a:prstGeom>
          <a:solidFill>
            <a:srgbClr val="3A3560"/>
          </a:solidFill>
          <a:ln/>
        </p:spPr>
      </p:sp>
      <p:sp>
        <p:nvSpPr>
          <p:cNvPr id="12" name="Text 10"/>
          <p:cNvSpPr/>
          <p:nvPr/>
        </p:nvSpPr>
        <p:spPr>
          <a:xfrm>
            <a:off x="939800" y="5055628"/>
            <a:ext cx="1178579"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Space Grotesk" pitchFamily="34" charset="0"/>
                <a:ea typeface="Space Grotesk" pitchFamily="34" charset="-122"/>
                <a:cs typeface="Space Grotesk" pitchFamily="34" charset="-120"/>
              </a:rPr>
              <a:t>paper: B = 110.68</a:t>
            </a:r>
            <a:endParaRPr lang="en-US" sz="1100" dirty="0"/>
          </a:p>
        </p:txBody>
      </p:sp>
      <p:sp>
        <p:nvSpPr>
          <p:cNvPr id="13" name="Shape 11"/>
          <p:cNvSpPr/>
          <p:nvPr/>
        </p:nvSpPr>
        <p:spPr>
          <a:xfrm>
            <a:off x="2270779" y="4992128"/>
            <a:ext cx="1156074" cy="322543"/>
          </a:xfrm>
          <a:prstGeom prst="roundRect">
            <a:avLst>
              <a:gd name="adj" fmla="val 50000"/>
            </a:avLst>
          </a:prstGeom>
          <a:solidFill>
            <a:srgbClr val="3A3560"/>
          </a:solidFill>
          <a:ln/>
        </p:spPr>
      </p:sp>
      <p:sp>
        <p:nvSpPr>
          <p:cNvPr id="14" name="Text 12"/>
          <p:cNvSpPr/>
          <p:nvPr/>
        </p:nvSpPr>
        <p:spPr>
          <a:xfrm>
            <a:off x="2397779" y="5055628"/>
            <a:ext cx="95287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Space Grotesk" pitchFamily="34" charset="0"/>
                <a:ea typeface="Space Grotesk" pitchFamily="34" charset="-122"/>
                <a:cs typeface="Space Grotesk" pitchFamily="34" charset="-120"/>
              </a:rPr>
              <a:t>deep: B = 140</a:t>
            </a:r>
            <a:endParaRPr lang="en-US" sz="1100" dirty="0"/>
          </a:p>
        </p:txBody>
      </p:sp>
      <p:sp>
        <p:nvSpPr>
          <p:cNvPr id="15" name="Shape 13"/>
          <p:cNvSpPr/>
          <p:nvPr/>
        </p:nvSpPr>
        <p:spPr>
          <a:xfrm>
            <a:off x="3503052" y="4992128"/>
            <a:ext cx="1072403" cy="322543"/>
          </a:xfrm>
          <a:prstGeom prst="roundRect">
            <a:avLst>
              <a:gd name="adj" fmla="val 50000"/>
            </a:avLst>
          </a:prstGeom>
          <a:solidFill>
            <a:srgbClr val="3A3560"/>
          </a:solidFill>
          <a:ln/>
        </p:spPr>
      </p:sp>
      <p:sp>
        <p:nvSpPr>
          <p:cNvPr id="16" name="Text 14"/>
          <p:cNvSpPr/>
          <p:nvPr/>
        </p:nvSpPr>
        <p:spPr>
          <a:xfrm>
            <a:off x="3630052" y="5055628"/>
            <a:ext cx="869203"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Space Grotesk" pitchFamily="34" charset="0"/>
                <a:ea typeface="Space Grotesk" pitchFamily="34" charset="-122"/>
                <a:cs typeface="Space Grotesk" pitchFamily="34" charset="-120"/>
              </a:rPr>
              <a:t>rare: B = 160</a:t>
            </a:r>
            <a:endParaRPr lang="en-US" sz="1100" dirty="0"/>
          </a:p>
        </p:txBody>
      </p:sp>
      <p:sp>
        <p:nvSpPr>
          <p:cNvPr id="17" name="Shape 15"/>
          <p:cNvSpPr/>
          <p:nvPr/>
        </p:nvSpPr>
        <p:spPr>
          <a:xfrm>
            <a:off x="6553200" y="1305485"/>
            <a:ext cx="4826000" cy="3556000"/>
          </a:xfrm>
          <a:prstGeom prst="roundRect">
            <a:avLst>
              <a:gd name="adj" fmla="val 5714"/>
            </a:avLst>
          </a:prstGeom>
          <a:solidFill>
            <a:srgbClr val="201A3D"/>
          </a:solidFill>
          <a:ln/>
        </p:spPr>
      </p:sp>
      <p:pic>
        <p:nvPicPr>
          <p:cNvPr id="18" name="Image 0" descr="Two simulated paths: one crosses the barrier and knocks in, the other stays below it and expires worthless"/>
          <p:cNvPicPr>
            <a:picLocks noChangeAspect="1"/>
          </p:cNvPicPr>
          <p:nvPr/>
        </p:nvPicPr>
        <p:blipFill>
          <a:blip r:embed="rId3"/>
          <a:srcRect t="-26" b="-26"/>
          <a:stretch/>
        </p:blipFill>
        <p:spPr>
          <a:xfrm>
            <a:off x="6553200" y="1495985"/>
            <a:ext cx="4826000" cy="2681101"/>
          </a:xfrm>
          <a:prstGeom prst="rect">
            <a:avLst/>
          </a:prstGeom>
        </p:spPr>
      </p:pic>
      <p:sp>
        <p:nvSpPr>
          <p:cNvPr id="19" name="Text 16"/>
          <p:cNvSpPr/>
          <p:nvPr/>
        </p:nvSpPr>
        <p:spPr>
          <a:xfrm>
            <a:off x="6781800" y="1915085"/>
            <a:ext cx="888440"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A58BFF"/>
                </a:solidFill>
                <a:latin typeface="JetBrains Mono" pitchFamily="34" charset="0"/>
                <a:ea typeface="JetBrains Mono" pitchFamily="34" charset="-122"/>
                <a:cs typeface="JetBrains Mono" pitchFamily="34" charset="-120"/>
              </a:rPr>
              <a:t>B = 110.68</a:t>
            </a:r>
            <a:endParaRPr lang="en-US" sz="1100" dirty="0"/>
          </a:p>
        </p:txBody>
      </p:sp>
      <p:sp>
        <p:nvSpPr>
          <p:cNvPr id="20" name="Text 17"/>
          <p:cNvSpPr/>
          <p:nvPr/>
        </p:nvSpPr>
        <p:spPr>
          <a:xfrm>
            <a:off x="9560392" y="1686485"/>
            <a:ext cx="167910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3FD0E6"/>
                </a:solidFill>
                <a:latin typeface="Space Grotesk" pitchFamily="34" charset="0"/>
                <a:ea typeface="Space Grotesk" pitchFamily="34" charset="-122"/>
                <a:cs typeface="Space Grotesk" pitchFamily="34" charset="-120"/>
              </a:rPr>
              <a:t>touches B → knocked in</a:t>
            </a:r>
            <a:endParaRPr lang="en-US" sz="1100" dirty="0"/>
          </a:p>
        </p:txBody>
      </p:sp>
      <p:sp>
        <p:nvSpPr>
          <p:cNvPr id="21" name="Text 18"/>
          <p:cNvSpPr/>
          <p:nvPr/>
        </p:nvSpPr>
        <p:spPr>
          <a:xfrm>
            <a:off x="9501467" y="4259543"/>
            <a:ext cx="1738032"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F7A45"/>
                </a:solidFill>
                <a:latin typeface="Space Grotesk" pitchFamily="34" charset="0"/>
                <a:ea typeface="Space Grotesk" pitchFamily="34" charset="-122"/>
                <a:cs typeface="Space Grotesk" pitchFamily="34" charset="-120"/>
              </a:rPr>
              <a:t>stays below → worthless</a:t>
            </a:r>
            <a:endParaRPr lang="en-US" sz="1100" dirty="0"/>
          </a:p>
        </p:txBody>
      </p:sp>
      <p:sp>
        <p:nvSpPr>
          <p:cNvPr id="22" name="Text 19"/>
          <p:cNvSpPr/>
          <p:nvPr/>
        </p:nvSpPr>
        <p:spPr>
          <a:xfrm>
            <a:off x="812800" y="6238314"/>
            <a:ext cx="7017861"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Discrete monitoring: the barrier is only checked on the 252 simulated days, not continuously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1 · THE JARGON, WITH NUMBERS</a:t>
            </a:r>
            <a:endParaRPr lang="en-US" sz="1200" dirty="0"/>
          </a:p>
        </p:txBody>
      </p:sp>
      <p:sp>
        <p:nvSpPr>
          <p:cNvPr id="3" name="Text 1"/>
          <p:cNvSpPr/>
          <p:nvPr/>
        </p:nvSpPr>
        <p:spPr>
          <a:xfrm>
            <a:off x="812800" y="2130611"/>
            <a:ext cx="549402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Priced on the average</a:t>
            </a:r>
            <a:endParaRPr lang="en-US" sz="3000" dirty="0"/>
          </a:p>
        </p:txBody>
      </p:sp>
      <p:sp>
        <p:nvSpPr>
          <p:cNvPr id="4" name="Text 2"/>
          <p:cNvSpPr/>
          <p:nvPr/>
        </p:nvSpPr>
        <p:spPr>
          <a:xfrm>
            <a:off x="812800" y="2727511"/>
            <a:ext cx="4185920" cy="798606"/>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B8DC"/>
                </a:solidFill>
                <a:latin typeface="Space Grotesk" pitchFamily="34" charset="0"/>
                <a:ea typeface="Space Grotesk" pitchFamily="34" charset="-122"/>
                <a:cs typeface="Space Grotesk" pitchFamily="34" charset="-120"/>
              </a:rPr>
              <a:t>An Asian option pays off on the </a:t>
            </a:r>
            <a:r>
              <a:rPr lang="en-US" sz="1400" b="1" dirty="0">
                <a:solidFill>
                  <a:srgbClr val="BFB8DC"/>
                </a:solidFill>
                <a:latin typeface="Space Grotesk" pitchFamily="34" charset="0"/>
                <a:ea typeface="Space Grotesk" pitchFamily="34" charset="-122"/>
                <a:cs typeface="Space Grotesk" pitchFamily="34" charset="-120"/>
              </a:rPr>
              <a:t>average price over a window</a:t>
            </a:r>
            <a:r>
              <a:rPr lang="en-US" sz="1400" dirty="0">
                <a:solidFill>
                  <a:srgbClr val="BFB8DC"/>
                </a:solidFill>
                <a:latin typeface="Space Grotesk" pitchFamily="34" charset="0"/>
                <a:ea typeface="Space Grotesk" pitchFamily="34" charset="-122"/>
                <a:cs typeface="Space Grotesk" pitchFamily="34" charset="-120"/>
              </a:rPr>
              <a:t>, not the final tick — it dampens the effect of one wild last day.</a:t>
            </a:r>
            <a:endParaRPr lang="en-US" sz="1400" dirty="0"/>
          </a:p>
        </p:txBody>
      </p:sp>
      <p:sp>
        <p:nvSpPr>
          <p:cNvPr id="5" name="Shape 3"/>
          <p:cNvSpPr/>
          <p:nvPr/>
        </p:nvSpPr>
        <p:spPr>
          <a:xfrm>
            <a:off x="812800" y="3678517"/>
            <a:ext cx="5334000" cy="441885"/>
          </a:xfrm>
          <a:prstGeom prst="roundRect">
            <a:avLst>
              <a:gd name="adj" fmla="val 22992"/>
            </a:avLst>
          </a:prstGeom>
          <a:solidFill>
            <a:srgbClr val="201A3D"/>
          </a:solidFill>
          <a:ln/>
        </p:spPr>
      </p:sp>
      <p:sp>
        <p:nvSpPr>
          <p:cNvPr id="6" name="Shape 4"/>
          <p:cNvSpPr/>
          <p:nvPr/>
        </p:nvSpPr>
        <p:spPr>
          <a:xfrm>
            <a:off x="965200" y="3855011"/>
            <a:ext cx="88900" cy="88900"/>
          </a:xfrm>
          <a:prstGeom prst="roundRect">
            <a:avLst>
              <a:gd name="adj" fmla="val 50000"/>
            </a:avLst>
          </a:prstGeom>
          <a:solidFill>
            <a:srgbClr val="3FD0E6"/>
          </a:solidFill>
          <a:ln/>
        </p:spPr>
      </p:sp>
      <p:sp>
        <p:nvSpPr>
          <p:cNvPr id="7" name="Text 5"/>
          <p:cNvSpPr/>
          <p:nvPr/>
        </p:nvSpPr>
        <p:spPr>
          <a:xfrm>
            <a:off x="1155700" y="3792817"/>
            <a:ext cx="3504746"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geometric</a:t>
            </a:r>
            <a:r>
              <a:rPr lang="en-US" sz="1200" dirty="0">
                <a:solidFill>
                  <a:srgbClr val="F2EFFA"/>
                </a:solidFill>
                <a:latin typeface="Space Grotesk" pitchFamily="34" charset="0"/>
                <a:ea typeface="Space Grotesk" pitchFamily="34" charset="-122"/>
                <a:cs typeface="Space Grotesk" pitchFamily="34" charset="-120"/>
              </a:rPr>
              <a:t> average → closed-form price exists</a:t>
            </a:r>
            <a:endParaRPr lang="en-US" sz="1200" dirty="0"/>
          </a:p>
        </p:txBody>
      </p:sp>
      <p:sp>
        <p:nvSpPr>
          <p:cNvPr id="8" name="Shape 6"/>
          <p:cNvSpPr/>
          <p:nvPr/>
        </p:nvSpPr>
        <p:spPr>
          <a:xfrm>
            <a:off x="812800" y="4209303"/>
            <a:ext cx="5334000" cy="441885"/>
          </a:xfrm>
          <a:prstGeom prst="roundRect">
            <a:avLst>
              <a:gd name="adj" fmla="val 22992"/>
            </a:avLst>
          </a:prstGeom>
          <a:solidFill>
            <a:srgbClr val="201A3D"/>
          </a:solidFill>
          <a:ln/>
        </p:spPr>
      </p:sp>
      <p:sp>
        <p:nvSpPr>
          <p:cNvPr id="9" name="Shape 7"/>
          <p:cNvSpPr/>
          <p:nvPr/>
        </p:nvSpPr>
        <p:spPr>
          <a:xfrm>
            <a:off x="965200" y="4385794"/>
            <a:ext cx="88900" cy="88900"/>
          </a:xfrm>
          <a:prstGeom prst="roundRect">
            <a:avLst>
              <a:gd name="adj" fmla="val 50000"/>
            </a:avLst>
          </a:prstGeom>
          <a:solidFill>
            <a:srgbClr val="FF7A45"/>
          </a:solidFill>
          <a:ln/>
        </p:spPr>
      </p:sp>
      <p:sp>
        <p:nvSpPr>
          <p:cNvPr id="10" name="Text 8"/>
          <p:cNvSpPr/>
          <p:nvPr/>
        </p:nvSpPr>
        <p:spPr>
          <a:xfrm>
            <a:off x="1155700" y="4323603"/>
            <a:ext cx="3939016"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arithmetic</a:t>
            </a:r>
            <a:r>
              <a:rPr lang="en-US" sz="1200" dirty="0">
                <a:solidFill>
                  <a:srgbClr val="F2EFFA"/>
                </a:solidFill>
                <a:latin typeface="Space Grotesk" pitchFamily="34" charset="0"/>
                <a:ea typeface="Space Grotesk" pitchFamily="34" charset="-122"/>
                <a:cs typeface="Space Grotesk" pitchFamily="34" charset="-120"/>
              </a:rPr>
              <a:t> average → no closed form, must simulate</a:t>
            </a:r>
            <a:endParaRPr lang="en-US" sz="1200" dirty="0"/>
          </a:p>
        </p:txBody>
      </p:sp>
      <p:sp>
        <p:nvSpPr>
          <p:cNvPr id="11" name="Text 9"/>
          <p:cNvSpPr/>
          <p:nvPr/>
        </p:nvSpPr>
        <p:spPr>
          <a:xfrm>
            <a:off x="812800" y="4828989"/>
            <a:ext cx="5494020" cy="416485"/>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We also test a 30-day window: price 6.71, against 3.00 for the full 252-day average — the shorter window is worth more than double.</a:t>
            </a:r>
            <a:endParaRPr lang="en-US" sz="1100" dirty="0"/>
          </a:p>
        </p:txBody>
      </p:sp>
      <p:sp>
        <p:nvSpPr>
          <p:cNvPr id="12" name="Shape 10"/>
          <p:cNvSpPr/>
          <p:nvPr/>
        </p:nvSpPr>
        <p:spPr>
          <a:xfrm>
            <a:off x="6553200" y="1305486"/>
            <a:ext cx="4826000" cy="3556000"/>
          </a:xfrm>
          <a:prstGeom prst="roundRect">
            <a:avLst>
              <a:gd name="adj" fmla="val 5714"/>
            </a:avLst>
          </a:prstGeom>
          <a:solidFill>
            <a:srgbClr val="201A3D"/>
          </a:solidFill>
          <a:ln/>
        </p:spPr>
      </p:sp>
      <p:pic>
        <p:nvPicPr>
          <p:cNvPr id="13" name="Image 0" descr="A price path with the final segment of the year, its averaging window, shaded"/>
          <p:cNvPicPr>
            <a:picLocks noChangeAspect="1"/>
          </p:cNvPicPr>
          <p:nvPr/>
        </p:nvPicPr>
        <p:blipFill>
          <a:blip r:embed="rId3"/>
          <a:srcRect t="-26" b="-26"/>
          <a:stretch/>
        </p:blipFill>
        <p:spPr>
          <a:xfrm>
            <a:off x="6553200" y="1432486"/>
            <a:ext cx="4826000" cy="2681101"/>
          </a:xfrm>
          <a:prstGeom prst="rect">
            <a:avLst/>
          </a:prstGeom>
        </p:spPr>
      </p:pic>
      <p:sp>
        <p:nvSpPr>
          <p:cNvPr id="14" name="Text 11"/>
          <p:cNvSpPr/>
          <p:nvPr/>
        </p:nvSpPr>
        <p:spPr>
          <a:xfrm>
            <a:off x="10299700" y="1584886"/>
            <a:ext cx="1003300" cy="5588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A58BFF"/>
                </a:solidFill>
                <a:latin typeface="Space Grotesk" pitchFamily="34" charset="0"/>
                <a:ea typeface="Space Grotesk" pitchFamily="34" charset="-122"/>
                <a:cs typeface="Space Grotesk" pitchFamily="34" charset="-120"/>
              </a:rPr>
              <a:t>30-day averaging window</a:t>
            </a:r>
            <a:endParaRPr lang="en-US" sz="1000" dirty="0"/>
          </a:p>
        </p:txBody>
      </p:sp>
      <p:sp>
        <p:nvSpPr>
          <p:cNvPr id="15" name="Text 12"/>
          <p:cNvSpPr/>
          <p:nvPr/>
        </p:nvSpPr>
        <p:spPr>
          <a:xfrm>
            <a:off x="812800" y="6238314"/>
            <a:ext cx="7960943"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Kemna–Vorst gives the geometric closed form; the arithmetic case is this project's control-variate target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2 · SIMULATING THE PATH</a:t>
            </a:r>
            <a:endParaRPr lang="en-US" sz="1200" dirty="0"/>
          </a:p>
        </p:txBody>
      </p:sp>
      <p:sp>
        <p:nvSpPr>
          <p:cNvPr id="3" name="Text 1"/>
          <p:cNvSpPr/>
          <p:nvPr/>
        </p:nvSpPr>
        <p:spPr>
          <a:xfrm>
            <a:off x="812800" y="1381686"/>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One step of geometric Brownian motion</a:t>
            </a:r>
            <a:endParaRPr lang="en-US" sz="3000" dirty="0"/>
          </a:p>
        </p:txBody>
      </p:sp>
      <p:sp>
        <p:nvSpPr>
          <p:cNvPr id="4" name="Shape 2"/>
          <p:cNvSpPr/>
          <p:nvPr/>
        </p:nvSpPr>
        <p:spPr>
          <a:xfrm>
            <a:off x="812800" y="2156386"/>
            <a:ext cx="10566400" cy="1206500"/>
          </a:xfrm>
          <a:prstGeom prst="roundRect">
            <a:avLst>
              <a:gd name="adj" fmla="val 16842"/>
            </a:avLst>
          </a:prstGeom>
          <a:solidFill>
            <a:srgbClr val="201A3D"/>
          </a:solidFill>
          <a:ln/>
        </p:spPr>
      </p:sp>
      <p:sp>
        <p:nvSpPr>
          <p:cNvPr id="5" name="Text 3"/>
          <p:cNvSpPr/>
          <p:nvPr/>
        </p:nvSpPr>
        <p:spPr>
          <a:xfrm>
            <a:off x="1401942" y="2511986"/>
            <a:ext cx="9388022" cy="520700"/>
          </a:xfrm>
          <a:prstGeom prst="rect">
            <a:avLst/>
          </a:prstGeom>
          <a:noFill/>
          <a:ln/>
        </p:spPr>
        <p:txBody>
          <a:bodyPr wrap="square" lIns="0" tIns="0" rIns="0" bIns="0" rtlCol="0" anchor="t">
            <a:normAutofit/>
          </a:bodyPr>
          <a:lstStyle/>
          <a:p>
            <a:pPr marL="0" indent="0" algn="ctr">
              <a:lnSpc>
                <a:spcPts val="3900"/>
              </a:lnSpc>
              <a:buNone/>
            </a:pPr>
            <a:r>
              <a:rPr lang="en-US" sz="2600" b="1" dirty="0">
                <a:solidFill>
                  <a:srgbClr val="F2EFFA"/>
                </a:solidFill>
                <a:latin typeface="JetBrains Mono" pitchFamily="34" charset="0"/>
                <a:ea typeface="JetBrains Mono" pitchFamily="34" charset="-122"/>
                <a:cs typeface="JetBrains Mono" pitchFamily="34" charset="-120"/>
              </a:rPr>
              <a:t>S(t+Δt) = S(t) · exp[ (</a:t>
            </a:r>
            <a:r>
              <a:rPr lang="en-US" sz="2600" b="1" dirty="0">
                <a:solidFill>
                  <a:srgbClr val="3FD0E6"/>
                </a:solidFill>
                <a:latin typeface="JetBrains Mono" pitchFamily="34" charset="0"/>
                <a:ea typeface="JetBrains Mono" pitchFamily="34" charset="-122"/>
                <a:cs typeface="JetBrains Mono" pitchFamily="34" charset="-120"/>
              </a:rPr>
              <a:t>r</a:t>
            </a:r>
            <a:r>
              <a:rPr lang="en-US" sz="2600" b="1" dirty="0">
                <a:solidFill>
                  <a:srgbClr val="F2EFFA"/>
                </a:solidFill>
                <a:latin typeface="JetBrains Mono" pitchFamily="34" charset="0"/>
                <a:ea typeface="JetBrains Mono" pitchFamily="34" charset="-122"/>
                <a:cs typeface="JetBrains Mono" pitchFamily="34" charset="-120"/>
              </a:rPr>
              <a:t> − ½</a:t>
            </a:r>
            <a:r>
              <a:rPr lang="en-US" sz="2600" b="1" dirty="0">
                <a:solidFill>
                  <a:srgbClr val="FF7A45"/>
                </a:solidFill>
                <a:latin typeface="JetBrains Mono" pitchFamily="34" charset="0"/>
                <a:ea typeface="JetBrains Mono" pitchFamily="34" charset="-122"/>
                <a:cs typeface="JetBrains Mono" pitchFamily="34" charset="-120"/>
              </a:rPr>
              <a:t>σ</a:t>
            </a:r>
            <a:r>
              <a:rPr lang="en-US" sz="2600" b="1" dirty="0">
                <a:solidFill>
                  <a:srgbClr val="F2EFFA"/>
                </a:solidFill>
                <a:latin typeface="JetBrains Mono" pitchFamily="34" charset="0"/>
                <a:ea typeface="JetBrains Mono" pitchFamily="34" charset="-122"/>
                <a:cs typeface="JetBrains Mono" pitchFamily="34" charset="-120"/>
              </a:rPr>
              <a:t>²)Δt + </a:t>
            </a:r>
            <a:r>
              <a:rPr lang="en-US" sz="2600" b="1" dirty="0">
                <a:solidFill>
                  <a:srgbClr val="FF7A45"/>
                </a:solidFill>
                <a:latin typeface="JetBrains Mono" pitchFamily="34" charset="0"/>
                <a:ea typeface="JetBrains Mono" pitchFamily="34" charset="-122"/>
                <a:cs typeface="JetBrains Mono" pitchFamily="34" charset="-120"/>
              </a:rPr>
              <a:t>σ</a:t>
            </a:r>
            <a:r>
              <a:rPr lang="en-US" sz="2600" b="1" dirty="0">
                <a:solidFill>
                  <a:srgbClr val="F2EFFA"/>
                </a:solidFill>
                <a:latin typeface="JetBrains Mono" pitchFamily="34" charset="0"/>
                <a:ea typeface="JetBrains Mono" pitchFamily="34" charset="-122"/>
                <a:cs typeface="JetBrains Mono" pitchFamily="34" charset="-120"/>
              </a:rPr>
              <a:t>√Δt · </a:t>
            </a:r>
            <a:r>
              <a:rPr lang="en-US" sz="2600" b="1" dirty="0">
                <a:solidFill>
                  <a:srgbClr val="A58BFF"/>
                </a:solidFill>
                <a:latin typeface="JetBrains Mono" pitchFamily="34" charset="0"/>
                <a:ea typeface="JetBrains Mono" pitchFamily="34" charset="-122"/>
                <a:cs typeface="JetBrains Mono" pitchFamily="34" charset="-120"/>
              </a:rPr>
              <a:t>Z</a:t>
            </a:r>
            <a:r>
              <a:rPr lang="en-US" sz="2600" b="1" dirty="0">
                <a:solidFill>
                  <a:srgbClr val="F2EFFA"/>
                </a:solidFill>
                <a:latin typeface="JetBrains Mono" pitchFamily="34" charset="0"/>
                <a:ea typeface="JetBrains Mono" pitchFamily="34" charset="-122"/>
                <a:cs typeface="JetBrains Mono" pitchFamily="34" charset="-120"/>
              </a:rPr>
              <a:t> ]</a:t>
            </a:r>
            <a:endParaRPr lang="en-US" sz="2600" dirty="0"/>
          </a:p>
        </p:txBody>
      </p:sp>
      <p:sp>
        <p:nvSpPr>
          <p:cNvPr id="6" name="Shape 4"/>
          <p:cNvSpPr/>
          <p:nvPr/>
        </p:nvSpPr>
        <p:spPr>
          <a:xfrm>
            <a:off x="812800" y="3718486"/>
            <a:ext cx="3386605" cy="1204819"/>
          </a:xfrm>
          <a:prstGeom prst="roundRect">
            <a:avLst>
              <a:gd name="adj" fmla="val 10541"/>
            </a:avLst>
          </a:prstGeom>
          <a:solidFill>
            <a:srgbClr val="201A3D"/>
          </a:solidFill>
          <a:ln/>
        </p:spPr>
      </p:sp>
      <p:sp>
        <p:nvSpPr>
          <p:cNvPr id="7" name="Shape 5"/>
          <p:cNvSpPr/>
          <p:nvPr/>
        </p:nvSpPr>
        <p:spPr>
          <a:xfrm>
            <a:off x="812800" y="3718486"/>
            <a:ext cx="3386605" cy="1204819"/>
          </a:xfrm>
          <a:custGeom>
            <a:avLst/>
            <a:gdLst/>
            <a:ahLst/>
            <a:cxnLst/>
            <a:rect l="l" t="t" r="r" b="b"/>
            <a:pathLst>
              <a:path w="3386605" h="1204819">
                <a:moveTo>
                  <a:pt x="0" y="127000"/>
                </a:moveTo>
                <a:lnTo>
                  <a:pt x="0" y="127000"/>
                </a:lnTo>
                <a:arcTo wR="127000" hR="127000" stAng="10800000" swAng="5400000"/>
                <a:lnTo>
                  <a:pt x="3259605" y="0"/>
                </a:lnTo>
                <a:arcTo wR="127000" hR="127000" stAng="16200000" swAng="5400000"/>
                <a:lnTo>
                  <a:pt x="3386605" y="127000"/>
                </a:lnTo>
                <a:arcTo wR="127000" hR="101600" stAng="0" swAng="-5400000"/>
                <a:lnTo>
                  <a:pt x="127000" y="25400"/>
                </a:lnTo>
                <a:arcTo wR="127000" hR="101600" stAng="16200000" swAng="-5400000"/>
                <a:close/>
              </a:path>
            </a:pathLst>
          </a:custGeom>
          <a:solidFill>
            <a:srgbClr val="3FD0E6"/>
          </a:solidFill>
          <a:ln/>
        </p:spPr>
      </p:sp>
      <p:sp>
        <p:nvSpPr>
          <p:cNvPr id="8" name="Text 6"/>
          <p:cNvSpPr/>
          <p:nvPr/>
        </p:nvSpPr>
        <p:spPr>
          <a:xfrm>
            <a:off x="1016000" y="3945592"/>
            <a:ext cx="3069610" cy="309843"/>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D0E6"/>
                </a:solidFill>
                <a:latin typeface="JetBrains Mono" pitchFamily="34" charset="0"/>
                <a:ea typeface="JetBrains Mono" pitchFamily="34" charset="-122"/>
                <a:cs typeface="JetBrains Mono" pitchFamily="34" charset="-120"/>
              </a:rPr>
              <a:t>r = 3%</a:t>
            </a:r>
            <a:endParaRPr lang="en-US" sz="1600" dirty="0"/>
          </a:p>
        </p:txBody>
      </p:sp>
      <p:sp>
        <p:nvSpPr>
          <p:cNvPr id="9" name="Text 7"/>
          <p:cNvSpPr/>
          <p:nvPr/>
        </p:nvSpPr>
        <p:spPr>
          <a:xfrm>
            <a:off x="1016000" y="4293533"/>
            <a:ext cx="3069610" cy="4519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the drift — the average pull upward, risk-free rate</a:t>
            </a:r>
            <a:endParaRPr lang="en-US" sz="1200" dirty="0"/>
          </a:p>
        </p:txBody>
      </p:sp>
      <p:sp>
        <p:nvSpPr>
          <p:cNvPr id="10" name="Shape 8"/>
          <p:cNvSpPr/>
          <p:nvPr/>
        </p:nvSpPr>
        <p:spPr>
          <a:xfrm>
            <a:off x="4402605" y="3718486"/>
            <a:ext cx="3386698" cy="1204819"/>
          </a:xfrm>
          <a:prstGeom prst="roundRect">
            <a:avLst>
              <a:gd name="adj" fmla="val 10541"/>
            </a:avLst>
          </a:prstGeom>
          <a:solidFill>
            <a:srgbClr val="201A3D"/>
          </a:solidFill>
          <a:ln/>
        </p:spPr>
      </p:sp>
      <p:sp>
        <p:nvSpPr>
          <p:cNvPr id="11" name="Shape 9"/>
          <p:cNvSpPr/>
          <p:nvPr/>
        </p:nvSpPr>
        <p:spPr>
          <a:xfrm>
            <a:off x="4402605" y="3718486"/>
            <a:ext cx="3386698" cy="1204819"/>
          </a:xfrm>
          <a:custGeom>
            <a:avLst/>
            <a:gdLst/>
            <a:ahLst/>
            <a:cxnLst/>
            <a:rect l="l" t="t" r="r" b="b"/>
            <a:pathLst>
              <a:path w="3386698" h="1204819">
                <a:moveTo>
                  <a:pt x="0" y="127000"/>
                </a:moveTo>
                <a:lnTo>
                  <a:pt x="0" y="127000"/>
                </a:lnTo>
                <a:arcTo wR="127000" hR="127000" stAng="10800000" swAng="5400000"/>
                <a:lnTo>
                  <a:pt x="3259698" y="0"/>
                </a:lnTo>
                <a:arcTo wR="127000" hR="127000" stAng="16200000" swAng="5400000"/>
                <a:lnTo>
                  <a:pt x="3386698" y="127000"/>
                </a:lnTo>
                <a:arcTo wR="127000" hR="101600" stAng="0" swAng="-5400000"/>
                <a:lnTo>
                  <a:pt x="127000" y="25400"/>
                </a:lnTo>
                <a:arcTo wR="127000" hR="101600" stAng="16200000" swAng="-5400000"/>
                <a:close/>
              </a:path>
            </a:pathLst>
          </a:custGeom>
          <a:solidFill>
            <a:srgbClr val="FF7A45"/>
          </a:solidFill>
          <a:ln/>
        </p:spPr>
      </p:sp>
      <p:sp>
        <p:nvSpPr>
          <p:cNvPr id="12" name="Text 10"/>
          <p:cNvSpPr/>
          <p:nvPr/>
        </p:nvSpPr>
        <p:spPr>
          <a:xfrm>
            <a:off x="4605805" y="3945592"/>
            <a:ext cx="3069707" cy="309843"/>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7A45"/>
                </a:solidFill>
                <a:latin typeface="JetBrains Mono" pitchFamily="34" charset="0"/>
                <a:ea typeface="JetBrains Mono" pitchFamily="34" charset="-122"/>
                <a:cs typeface="JetBrains Mono" pitchFamily="34" charset="-120"/>
              </a:rPr>
              <a:t>σ = 20%</a:t>
            </a:r>
            <a:endParaRPr lang="en-US" sz="1600" dirty="0"/>
          </a:p>
        </p:txBody>
      </p:sp>
      <p:sp>
        <p:nvSpPr>
          <p:cNvPr id="13" name="Text 11"/>
          <p:cNvSpPr/>
          <p:nvPr/>
        </p:nvSpPr>
        <p:spPr>
          <a:xfrm>
            <a:off x="4605805" y="4293533"/>
            <a:ext cx="3069707" cy="4519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the shock size — how hard each step can swing</a:t>
            </a:r>
            <a:endParaRPr lang="en-US" sz="1200" dirty="0"/>
          </a:p>
        </p:txBody>
      </p:sp>
      <p:sp>
        <p:nvSpPr>
          <p:cNvPr id="14" name="Shape 12"/>
          <p:cNvSpPr/>
          <p:nvPr/>
        </p:nvSpPr>
        <p:spPr>
          <a:xfrm>
            <a:off x="7992502" y="3718486"/>
            <a:ext cx="3386698" cy="1204819"/>
          </a:xfrm>
          <a:prstGeom prst="roundRect">
            <a:avLst>
              <a:gd name="adj" fmla="val 10541"/>
            </a:avLst>
          </a:prstGeom>
          <a:solidFill>
            <a:srgbClr val="201A3D"/>
          </a:solidFill>
          <a:ln/>
        </p:spPr>
      </p:sp>
      <p:sp>
        <p:nvSpPr>
          <p:cNvPr id="15" name="Shape 13"/>
          <p:cNvSpPr/>
          <p:nvPr/>
        </p:nvSpPr>
        <p:spPr>
          <a:xfrm>
            <a:off x="7992502" y="3718486"/>
            <a:ext cx="3386698" cy="1204819"/>
          </a:xfrm>
          <a:custGeom>
            <a:avLst/>
            <a:gdLst/>
            <a:ahLst/>
            <a:cxnLst/>
            <a:rect l="l" t="t" r="r" b="b"/>
            <a:pathLst>
              <a:path w="3386698" h="1204819">
                <a:moveTo>
                  <a:pt x="0" y="127000"/>
                </a:moveTo>
                <a:lnTo>
                  <a:pt x="0" y="127000"/>
                </a:lnTo>
                <a:arcTo wR="127000" hR="127000" stAng="10800000" swAng="5400000"/>
                <a:lnTo>
                  <a:pt x="3259698" y="0"/>
                </a:lnTo>
                <a:arcTo wR="127000" hR="127000" stAng="16200000" swAng="5400000"/>
                <a:lnTo>
                  <a:pt x="3386698" y="127000"/>
                </a:lnTo>
                <a:arcTo wR="127000" hR="101600" stAng="0" swAng="-5400000"/>
                <a:lnTo>
                  <a:pt x="127000" y="25400"/>
                </a:lnTo>
                <a:arcTo wR="127000" hR="101600" stAng="16200000" swAng="-5400000"/>
                <a:close/>
              </a:path>
            </a:pathLst>
          </a:custGeom>
          <a:solidFill>
            <a:srgbClr val="A58BFF"/>
          </a:solidFill>
          <a:ln/>
        </p:spPr>
      </p:sp>
      <p:sp>
        <p:nvSpPr>
          <p:cNvPr id="16" name="Text 14"/>
          <p:cNvSpPr/>
          <p:nvPr/>
        </p:nvSpPr>
        <p:spPr>
          <a:xfrm>
            <a:off x="8195702" y="3945592"/>
            <a:ext cx="3069707" cy="309843"/>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58BFF"/>
                </a:solidFill>
                <a:latin typeface="JetBrains Mono" pitchFamily="34" charset="0"/>
                <a:ea typeface="JetBrains Mono" pitchFamily="34" charset="-122"/>
                <a:cs typeface="JetBrains Mono" pitchFamily="34" charset="-120"/>
              </a:rPr>
              <a:t>Z ~ N(0,1)</a:t>
            </a:r>
            <a:endParaRPr lang="en-US" sz="1600" dirty="0"/>
          </a:p>
        </p:txBody>
      </p:sp>
      <p:sp>
        <p:nvSpPr>
          <p:cNvPr id="17" name="Text 15"/>
          <p:cNvSpPr/>
          <p:nvPr/>
        </p:nvSpPr>
        <p:spPr>
          <a:xfrm>
            <a:off x="8195702" y="4293533"/>
            <a:ext cx="3069707" cy="4519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one fresh random draw per step, per path</a:t>
            </a:r>
            <a:endParaRPr lang="en-US" sz="1200" dirty="0"/>
          </a:p>
        </p:txBody>
      </p:sp>
      <p:sp>
        <p:nvSpPr>
          <p:cNvPr id="18" name="Text 16"/>
          <p:cNvSpPr/>
          <p:nvPr/>
        </p:nvSpPr>
        <p:spPr>
          <a:xfrm>
            <a:off x="812800" y="5333532"/>
            <a:ext cx="6246659"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252 steps of this equation trace one year. We tested three ways to take that step:</a:t>
            </a:r>
            <a:endParaRPr lang="en-US" sz="1200" dirty="0"/>
          </a:p>
        </p:txBody>
      </p:sp>
      <p:sp>
        <p:nvSpPr>
          <p:cNvPr id="19" name="Shape 17"/>
          <p:cNvSpPr/>
          <p:nvPr/>
        </p:nvSpPr>
        <p:spPr>
          <a:xfrm>
            <a:off x="6979117" y="5278906"/>
            <a:ext cx="1276630" cy="322543"/>
          </a:xfrm>
          <a:prstGeom prst="roundRect">
            <a:avLst>
              <a:gd name="adj" fmla="val 50000"/>
            </a:avLst>
          </a:prstGeom>
          <a:solidFill>
            <a:srgbClr val="3A3560"/>
          </a:solidFill>
          <a:ln/>
        </p:spPr>
      </p:sp>
      <p:sp>
        <p:nvSpPr>
          <p:cNvPr id="20" name="Text 18"/>
          <p:cNvSpPr/>
          <p:nvPr/>
        </p:nvSpPr>
        <p:spPr>
          <a:xfrm>
            <a:off x="7118817" y="5342406"/>
            <a:ext cx="1048030"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Space Grotesk" pitchFamily="34" charset="0"/>
                <a:ea typeface="Space Grotesk" pitchFamily="34" charset="-122"/>
                <a:cs typeface="Space Grotesk" pitchFamily="34" charset="-120"/>
              </a:rPr>
              <a:t>exact log-GBM</a:t>
            </a:r>
            <a:endParaRPr lang="en-US" sz="1100" dirty="0"/>
          </a:p>
        </p:txBody>
      </p:sp>
      <p:sp>
        <p:nvSpPr>
          <p:cNvPr id="21" name="Shape 19"/>
          <p:cNvSpPr/>
          <p:nvPr/>
        </p:nvSpPr>
        <p:spPr>
          <a:xfrm>
            <a:off x="8357347" y="5278906"/>
            <a:ext cx="1399895" cy="322543"/>
          </a:xfrm>
          <a:prstGeom prst="roundRect">
            <a:avLst>
              <a:gd name="adj" fmla="val 50000"/>
            </a:avLst>
          </a:prstGeom>
          <a:solidFill>
            <a:srgbClr val="3A3560"/>
          </a:solidFill>
          <a:ln/>
        </p:spPr>
      </p:sp>
      <p:sp>
        <p:nvSpPr>
          <p:cNvPr id="22" name="Text 20"/>
          <p:cNvSpPr/>
          <p:nvPr/>
        </p:nvSpPr>
        <p:spPr>
          <a:xfrm>
            <a:off x="8497047" y="5342406"/>
            <a:ext cx="1171295"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Space Grotesk" pitchFamily="34" charset="0"/>
                <a:ea typeface="Space Grotesk" pitchFamily="34" charset="-122"/>
                <a:cs typeface="Space Grotesk" pitchFamily="34" charset="-120"/>
              </a:rPr>
              <a:t>Euler–Maruyama</a:t>
            </a:r>
            <a:endParaRPr lang="en-US" sz="1100" dirty="0"/>
          </a:p>
        </p:txBody>
      </p:sp>
      <p:sp>
        <p:nvSpPr>
          <p:cNvPr id="23" name="Shape 21"/>
          <p:cNvSpPr/>
          <p:nvPr/>
        </p:nvSpPr>
        <p:spPr>
          <a:xfrm>
            <a:off x="9858842" y="5278906"/>
            <a:ext cx="804769" cy="322543"/>
          </a:xfrm>
          <a:prstGeom prst="roundRect">
            <a:avLst>
              <a:gd name="adj" fmla="val 50000"/>
            </a:avLst>
          </a:prstGeom>
          <a:solidFill>
            <a:srgbClr val="3A3560"/>
          </a:solidFill>
          <a:ln/>
        </p:spPr>
      </p:sp>
      <p:sp>
        <p:nvSpPr>
          <p:cNvPr id="24" name="Text 22"/>
          <p:cNvSpPr/>
          <p:nvPr/>
        </p:nvSpPr>
        <p:spPr>
          <a:xfrm>
            <a:off x="9998542" y="5342406"/>
            <a:ext cx="576169"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Space Grotesk" pitchFamily="34" charset="0"/>
                <a:ea typeface="Space Grotesk" pitchFamily="34" charset="-122"/>
                <a:cs typeface="Space Grotesk" pitchFamily="34" charset="-120"/>
              </a:rPr>
              <a:t>Milstein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6238314"/>
            <a:ext cx="6363041"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Fitted RMSE·√N slope: −0.51 (barrier), −0.50 (Asian) — no plateau, just N⁻ᐧ⁵ throughout</a:t>
            </a:r>
            <a:endParaRPr lang="en-US" sz="1200" dirty="0"/>
          </a:p>
        </p:txBody>
      </p:sp>
      <p:sp>
        <p:nvSpPr>
          <p:cNvPr id="3" name="Text 1"/>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3 · ERROR, AND HOW TO SHRINK IT</a:t>
            </a:r>
            <a:endParaRPr lang="en-US" sz="1200" dirty="0"/>
          </a:p>
        </p:txBody>
      </p:sp>
      <p:sp>
        <p:nvSpPr>
          <p:cNvPr id="4" name="Text 2"/>
          <p:cNvSpPr/>
          <p:nvPr/>
        </p:nvSpPr>
        <p:spPr>
          <a:xfrm>
            <a:off x="812800" y="1282700"/>
            <a:ext cx="10883392" cy="47242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EFFA"/>
                </a:solidFill>
                <a:latin typeface="Fraunces" pitchFamily="34" charset="0"/>
                <a:ea typeface="Fraunces" pitchFamily="34" charset="-122"/>
                <a:cs typeface="Fraunces" pitchFamily="34" charset="-120"/>
              </a:rPr>
              <a:t>The √N wall</a:t>
            </a:r>
            <a:endParaRPr lang="en-US" sz="3200" dirty="0"/>
          </a:p>
        </p:txBody>
      </p:sp>
      <p:sp>
        <p:nvSpPr>
          <p:cNvPr id="5" name="Text 3"/>
          <p:cNvSpPr/>
          <p:nvPr/>
        </p:nvSpPr>
        <p:spPr>
          <a:xfrm>
            <a:off x="812800" y="2837703"/>
            <a:ext cx="5258562" cy="54087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B8DC"/>
                </a:solidFill>
                <a:latin typeface="Space Grotesk" pitchFamily="34" charset="0"/>
                <a:ea typeface="Space Grotesk" pitchFamily="34" charset="-122"/>
                <a:cs typeface="Space Grotesk" pitchFamily="34" charset="-120"/>
              </a:rPr>
              <a:t>Standard error falls as </a:t>
            </a:r>
            <a:r>
              <a:rPr lang="en-US" sz="1400" b="1" dirty="0">
                <a:solidFill>
                  <a:srgbClr val="BFB8DC"/>
                </a:solidFill>
                <a:latin typeface="Space Grotesk" pitchFamily="34" charset="0"/>
                <a:ea typeface="Space Grotesk" pitchFamily="34" charset="-122"/>
                <a:cs typeface="Space Grotesk" pitchFamily="34" charset="-120"/>
              </a:rPr>
              <a:t>1/√N</a:t>
            </a:r>
            <a:r>
              <a:rPr lang="en-US" sz="1400" dirty="0">
                <a:solidFill>
                  <a:srgbClr val="BFB8DC"/>
                </a:solidFill>
                <a:latin typeface="Space Grotesk" pitchFamily="34" charset="0"/>
                <a:ea typeface="Space Grotesk" pitchFamily="34" charset="-122"/>
                <a:cs typeface="Space Grotesk" pitchFamily="34" charset="-120"/>
              </a:rPr>
              <a:t>. To halve the error, you need </a:t>
            </a:r>
            <a:r>
              <a:rPr lang="en-US" sz="1400" b="1" dirty="0">
                <a:solidFill>
                  <a:srgbClr val="BFB8DC"/>
                </a:solidFill>
                <a:latin typeface="Space Grotesk" pitchFamily="34" charset="0"/>
                <a:ea typeface="Space Grotesk" pitchFamily="34" charset="-122"/>
                <a:cs typeface="Space Grotesk" pitchFamily="34" charset="-120"/>
              </a:rPr>
              <a:t>4×</a:t>
            </a:r>
            <a:r>
              <a:rPr lang="en-US" sz="1400" dirty="0">
                <a:solidFill>
                  <a:srgbClr val="BFB8DC"/>
                </a:solidFill>
                <a:latin typeface="Space Grotesk" pitchFamily="34" charset="0"/>
                <a:ea typeface="Space Grotesk" pitchFamily="34" charset="-122"/>
                <a:cs typeface="Space Grotesk" pitchFamily="34" charset="-120"/>
              </a:rPr>
              <a:t> the paths — every single time.</a:t>
            </a:r>
            <a:endParaRPr lang="en-US" sz="1400" dirty="0"/>
          </a:p>
        </p:txBody>
      </p:sp>
      <p:sp>
        <p:nvSpPr>
          <p:cNvPr id="6" name="Shape 4"/>
          <p:cNvSpPr/>
          <p:nvPr/>
        </p:nvSpPr>
        <p:spPr>
          <a:xfrm>
            <a:off x="812800" y="3530975"/>
            <a:ext cx="5105400" cy="1274856"/>
          </a:xfrm>
          <a:prstGeom prst="roundRect">
            <a:avLst>
              <a:gd name="adj" fmla="val 9962"/>
            </a:avLst>
          </a:prstGeom>
          <a:solidFill>
            <a:srgbClr val="201A3D"/>
          </a:solidFill>
          <a:ln/>
        </p:spPr>
      </p:sp>
      <p:sp>
        <p:nvSpPr>
          <p:cNvPr id="7" name="Text 5"/>
          <p:cNvSpPr/>
          <p:nvPr/>
        </p:nvSpPr>
        <p:spPr>
          <a:xfrm>
            <a:off x="1016000" y="3734175"/>
            <a:ext cx="4839970" cy="416485"/>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7A45"/>
                </a:solidFill>
                <a:latin typeface="JetBrains Mono" pitchFamily="34" charset="0"/>
                <a:ea typeface="JetBrains Mono" pitchFamily="34" charset="-122"/>
                <a:cs typeface="JetBrains Mono" pitchFamily="34" charset="-120"/>
              </a:rPr>
              <a:t>±4.9%</a:t>
            </a:r>
            <a:endParaRPr lang="en-US" sz="2200" dirty="0"/>
          </a:p>
        </p:txBody>
      </p:sp>
      <p:sp>
        <p:nvSpPr>
          <p:cNvPr id="8" name="Text 6"/>
          <p:cNvSpPr/>
          <p:nvPr/>
        </p:nvSpPr>
        <p:spPr>
          <a:xfrm>
            <a:off x="1016000" y="4176058"/>
            <a:ext cx="4839970" cy="4519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barrier price CI at N = 5,000 paths — where the paper's plots visually "settle"</a:t>
            </a:r>
            <a:endParaRPr lang="en-US" sz="1200" dirty="0"/>
          </a:p>
        </p:txBody>
      </p:sp>
      <p:sp>
        <p:nvSpPr>
          <p:cNvPr id="9" name="Shape 7"/>
          <p:cNvSpPr/>
          <p:nvPr/>
        </p:nvSpPr>
        <p:spPr>
          <a:xfrm>
            <a:off x="812800" y="4983631"/>
            <a:ext cx="5105400" cy="1061571"/>
          </a:xfrm>
          <a:prstGeom prst="roundRect">
            <a:avLst>
              <a:gd name="adj" fmla="val 11963"/>
            </a:avLst>
          </a:prstGeom>
          <a:solidFill>
            <a:srgbClr val="201A3D"/>
          </a:solidFill>
          <a:ln/>
        </p:spPr>
      </p:sp>
      <p:sp>
        <p:nvSpPr>
          <p:cNvPr id="10" name="Text 8"/>
          <p:cNvSpPr/>
          <p:nvPr/>
        </p:nvSpPr>
        <p:spPr>
          <a:xfrm>
            <a:off x="1016000" y="5186831"/>
            <a:ext cx="4839970" cy="416485"/>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FD0E6"/>
                </a:solidFill>
                <a:latin typeface="JetBrains Mono" pitchFamily="34" charset="0"/>
                <a:ea typeface="JetBrains Mono" pitchFamily="34" charset="-122"/>
                <a:cs typeface="JetBrains Mono" pitchFamily="34" charset="-120"/>
              </a:rPr>
              <a:t>≈120,000</a:t>
            </a:r>
            <a:endParaRPr lang="en-US" sz="2200" dirty="0"/>
          </a:p>
        </p:txBody>
      </p:sp>
      <p:sp>
        <p:nvSpPr>
          <p:cNvPr id="11" name="Text 9"/>
          <p:cNvSpPr/>
          <p:nvPr/>
        </p:nvSpPr>
        <p:spPr>
          <a:xfrm>
            <a:off x="1016000" y="5628714"/>
            <a:ext cx="483997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paths needed for ±1% — 24× more than "where it looked stable"</a:t>
            </a:r>
            <a:endParaRPr lang="en-US" sz="1200" dirty="0"/>
          </a:p>
        </p:txBody>
      </p:sp>
      <p:sp>
        <p:nvSpPr>
          <p:cNvPr id="12" name="Text 10"/>
          <p:cNvSpPr/>
          <p:nvPr/>
        </p:nvSpPr>
        <p:spPr>
          <a:xfrm>
            <a:off x="6524065" y="3309658"/>
            <a:ext cx="469620"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F7A45"/>
                </a:solidFill>
                <a:latin typeface="JetBrains Mono" pitchFamily="34" charset="0"/>
                <a:ea typeface="JetBrains Mono" pitchFamily="34" charset="-122"/>
                <a:cs typeface="JetBrains Mono" pitchFamily="34" charset="-120"/>
              </a:rPr>
              <a:t>23.2%</a:t>
            </a:r>
            <a:endParaRPr lang="en-US" sz="1100" dirty="0"/>
          </a:p>
        </p:txBody>
      </p:sp>
      <p:sp>
        <p:nvSpPr>
          <p:cNvPr id="13" name="Text 11"/>
          <p:cNvSpPr/>
          <p:nvPr/>
        </p:nvSpPr>
        <p:spPr>
          <a:xfrm>
            <a:off x="6618288" y="5867400"/>
            <a:ext cx="28126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256</a:t>
            </a:r>
            <a:endParaRPr lang="en-US" sz="1000" dirty="0"/>
          </a:p>
        </p:txBody>
      </p:sp>
      <p:sp>
        <p:nvSpPr>
          <p:cNvPr id="14" name="Text 12"/>
          <p:cNvSpPr/>
          <p:nvPr/>
        </p:nvSpPr>
        <p:spPr>
          <a:xfrm>
            <a:off x="7570601" y="4427258"/>
            <a:ext cx="469620"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F7A45"/>
                </a:solidFill>
                <a:latin typeface="JetBrains Mono" pitchFamily="34" charset="0"/>
                <a:ea typeface="JetBrains Mono" pitchFamily="34" charset="-122"/>
                <a:cs typeface="JetBrains Mono" pitchFamily="34" charset="-120"/>
              </a:rPr>
              <a:t>11.6%</a:t>
            </a:r>
            <a:endParaRPr lang="en-US" sz="1100" dirty="0"/>
          </a:p>
        </p:txBody>
      </p:sp>
      <p:sp>
        <p:nvSpPr>
          <p:cNvPr id="15" name="Text 13"/>
          <p:cNvSpPr/>
          <p:nvPr/>
        </p:nvSpPr>
        <p:spPr>
          <a:xfrm>
            <a:off x="7621681" y="5867400"/>
            <a:ext cx="367460"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1,024</a:t>
            </a:r>
            <a:endParaRPr lang="en-US" sz="1000" dirty="0"/>
          </a:p>
        </p:txBody>
      </p:sp>
      <p:sp>
        <p:nvSpPr>
          <p:cNvPr id="16" name="Text 14"/>
          <p:cNvSpPr/>
          <p:nvPr/>
        </p:nvSpPr>
        <p:spPr>
          <a:xfrm>
            <a:off x="8658972" y="4986058"/>
            <a:ext cx="385856"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F7A45"/>
                </a:solidFill>
                <a:latin typeface="JetBrains Mono" pitchFamily="34" charset="0"/>
                <a:ea typeface="JetBrains Mono" pitchFamily="34" charset="-122"/>
                <a:cs typeface="JetBrains Mono" pitchFamily="34" charset="-120"/>
              </a:rPr>
              <a:t>5.8%</a:t>
            </a:r>
            <a:endParaRPr lang="en-US" sz="1100" dirty="0"/>
          </a:p>
        </p:txBody>
      </p:sp>
      <p:sp>
        <p:nvSpPr>
          <p:cNvPr id="17" name="Text 15"/>
          <p:cNvSpPr/>
          <p:nvPr/>
        </p:nvSpPr>
        <p:spPr>
          <a:xfrm>
            <a:off x="8653369" y="5867400"/>
            <a:ext cx="39696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4,096</a:t>
            </a:r>
            <a:endParaRPr lang="en-US" sz="1000" dirty="0"/>
          </a:p>
        </p:txBody>
      </p:sp>
      <p:sp>
        <p:nvSpPr>
          <p:cNvPr id="18" name="Text 16"/>
          <p:cNvSpPr/>
          <p:nvPr/>
        </p:nvSpPr>
        <p:spPr>
          <a:xfrm>
            <a:off x="9705415" y="5265458"/>
            <a:ext cx="385856"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F7A45"/>
                </a:solidFill>
                <a:latin typeface="JetBrains Mono" pitchFamily="34" charset="0"/>
                <a:ea typeface="JetBrains Mono" pitchFamily="34" charset="-122"/>
                <a:cs typeface="JetBrains Mono" pitchFamily="34" charset="-120"/>
              </a:rPr>
              <a:t>2.9%</a:t>
            </a:r>
            <a:endParaRPr lang="en-US" sz="1100" dirty="0"/>
          </a:p>
        </p:txBody>
      </p:sp>
      <p:sp>
        <p:nvSpPr>
          <p:cNvPr id="19" name="Text 17"/>
          <p:cNvSpPr/>
          <p:nvPr/>
        </p:nvSpPr>
        <p:spPr>
          <a:xfrm>
            <a:off x="9674038" y="5867400"/>
            <a:ext cx="448702"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16,384</a:t>
            </a:r>
            <a:endParaRPr lang="en-US" sz="1000" dirty="0"/>
          </a:p>
        </p:txBody>
      </p:sp>
      <p:sp>
        <p:nvSpPr>
          <p:cNvPr id="20" name="Text 18"/>
          <p:cNvSpPr/>
          <p:nvPr/>
        </p:nvSpPr>
        <p:spPr>
          <a:xfrm>
            <a:off x="10751951" y="5405158"/>
            <a:ext cx="385856"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F7A45"/>
                </a:solidFill>
                <a:latin typeface="JetBrains Mono" pitchFamily="34" charset="0"/>
                <a:ea typeface="JetBrains Mono" pitchFamily="34" charset="-122"/>
                <a:cs typeface="JetBrains Mono" pitchFamily="34" charset="-120"/>
              </a:rPr>
              <a:t>1.4%</a:t>
            </a:r>
            <a:endParaRPr lang="en-US" sz="1100" dirty="0"/>
          </a:p>
        </p:txBody>
      </p:sp>
      <p:sp>
        <p:nvSpPr>
          <p:cNvPr id="21" name="Text 19"/>
          <p:cNvSpPr/>
          <p:nvPr/>
        </p:nvSpPr>
        <p:spPr>
          <a:xfrm>
            <a:off x="10711329" y="5867400"/>
            <a:ext cx="467005"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65,536</a:t>
            </a:r>
            <a:endParaRPr lang="en-US" sz="1000" dirty="0"/>
          </a:p>
        </p:txBody>
      </p:sp>
      <p:sp>
        <p:nvSpPr>
          <p:cNvPr id="22" name="Text 20"/>
          <p:cNvSpPr/>
          <p:nvPr/>
        </p:nvSpPr>
        <p:spPr>
          <a:xfrm>
            <a:off x="6468502" y="3089368"/>
            <a:ext cx="5258562" cy="220943"/>
          </a:xfrm>
          <a:prstGeom prst="rect">
            <a:avLst/>
          </a:prstGeom>
          <a:noFill/>
          <a:ln/>
        </p:spPr>
        <p:txBody>
          <a:bodyPr wrap="square" lIns="0" tIns="0" rIns="0" bIns="0" rtlCol="0" anchor="t">
            <a:normAutofit/>
          </a:bodyPr>
          <a:lstStyle/>
          <a:p>
            <a:pPr marL="0" indent="0" algn="l">
              <a:lnSpc>
                <a:spcPts val="1540"/>
              </a:lnSpc>
              <a:buNone/>
            </a:pPr>
            <a:r>
              <a:rPr lang="en-US" sz="1100" kern="0" spc="50" dirty="0">
                <a:solidFill>
                  <a:srgbClr val="BFB8DC"/>
                </a:solidFill>
                <a:latin typeface="Space Grotesk" pitchFamily="34" charset="0"/>
                <a:ea typeface="Space Grotesk" pitchFamily="34" charset="-122"/>
                <a:cs typeface="Space Grotesk" pitchFamily="34" charset="-120"/>
              </a:rPr>
              <a:t>95% CI half-width, barrier call, by path count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3 · ERROR, AND HOW TO SHRINK IT</a:t>
            </a:r>
            <a:endParaRPr lang="en-US" sz="1200" dirty="0"/>
          </a:p>
        </p:txBody>
      </p:sp>
      <p:sp>
        <p:nvSpPr>
          <p:cNvPr id="3" name="Text 1"/>
          <p:cNvSpPr/>
          <p:nvPr/>
        </p:nvSpPr>
        <p:spPr>
          <a:xfrm>
            <a:off x="812800" y="1280086"/>
            <a:ext cx="10883392" cy="47242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EFFA"/>
                </a:solidFill>
                <a:latin typeface="Fraunces" pitchFamily="34" charset="0"/>
                <a:ea typeface="Fraunces" pitchFamily="34" charset="-122"/>
                <a:cs typeface="Fraunces" pitchFamily="34" charset="-120"/>
              </a:rPr>
              <a:t>Two ways past the wall</a:t>
            </a:r>
            <a:endParaRPr lang="en-US" sz="3200" dirty="0"/>
          </a:p>
        </p:txBody>
      </p:sp>
      <p:sp>
        <p:nvSpPr>
          <p:cNvPr id="4" name="Text 2"/>
          <p:cNvSpPr/>
          <p:nvPr/>
        </p:nvSpPr>
        <p:spPr>
          <a:xfrm>
            <a:off x="812800" y="1981107"/>
            <a:ext cx="8502650" cy="52312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B8DC"/>
                </a:solidFill>
                <a:latin typeface="Space Grotesk" pitchFamily="34" charset="0"/>
                <a:ea typeface="Space Grotesk" pitchFamily="34" charset="-122"/>
                <a:cs typeface="Space Grotesk" pitchFamily="34" charset="-120"/>
              </a:rPr>
              <a:t>Shrink the variance per path, or spread the sampling points more evenly than randomness would. We tried one of each, plus a way to aim at what matters.</a:t>
            </a:r>
            <a:endParaRPr lang="en-US" sz="1400" dirty="0"/>
          </a:p>
        </p:txBody>
      </p:sp>
      <p:sp>
        <p:nvSpPr>
          <p:cNvPr id="5" name="Shape 3"/>
          <p:cNvSpPr/>
          <p:nvPr/>
        </p:nvSpPr>
        <p:spPr>
          <a:xfrm>
            <a:off x="812800" y="2732835"/>
            <a:ext cx="5194300" cy="1567236"/>
          </a:xfrm>
          <a:prstGeom prst="roundRect">
            <a:avLst>
              <a:gd name="adj" fmla="val 9724"/>
            </a:avLst>
          </a:prstGeom>
          <a:solidFill>
            <a:srgbClr val="201A3D"/>
          </a:solidFill>
          <a:ln/>
        </p:spPr>
      </p:sp>
      <p:pic>
        <p:nvPicPr>
          <p:cNvPr id="6" name="Image 0" descr="A mirrored pair of arrows"/>
          <p:cNvPicPr>
            <a:picLocks noChangeAspect="1"/>
          </p:cNvPicPr>
          <p:nvPr/>
        </p:nvPicPr>
        <p:blipFill>
          <a:blip r:embed="rId3"/>
          <a:srcRect/>
          <a:stretch/>
        </p:blipFill>
        <p:spPr>
          <a:xfrm>
            <a:off x="1041400" y="3211606"/>
            <a:ext cx="609600" cy="609600"/>
          </a:xfrm>
          <a:prstGeom prst="rect">
            <a:avLst/>
          </a:prstGeom>
        </p:spPr>
      </p:pic>
      <p:sp>
        <p:nvSpPr>
          <p:cNvPr id="7" name="Text 4"/>
          <p:cNvSpPr/>
          <p:nvPr/>
        </p:nvSpPr>
        <p:spPr>
          <a:xfrm>
            <a:off x="1828800" y="3268849"/>
            <a:ext cx="2612449" cy="26922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FD0E6"/>
                </a:solidFill>
                <a:latin typeface="Space Grotesk" pitchFamily="34" charset="0"/>
                <a:ea typeface="Space Grotesk" pitchFamily="34" charset="-122"/>
                <a:cs typeface="Space Grotesk" pitchFamily="34" charset="-120"/>
              </a:rPr>
              <a:t>Antithetic variates</a:t>
            </a:r>
            <a:endParaRPr lang="en-US" sz="1600" dirty="0"/>
          </a:p>
        </p:txBody>
      </p:sp>
      <p:sp>
        <p:nvSpPr>
          <p:cNvPr id="8" name="Text 5"/>
          <p:cNvSpPr/>
          <p:nvPr/>
        </p:nvSpPr>
        <p:spPr>
          <a:xfrm>
            <a:off x="1828800" y="3550769"/>
            <a:ext cx="2612449"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pair every draw Z with its mirror −Z</a:t>
            </a:r>
            <a:endParaRPr lang="en-US" sz="1200" dirty="0"/>
          </a:p>
        </p:txBody>
      </p:sp>
      <p:sp>
        <p:nvSpPr>
          <p:cNvPr id="9" name="Shape 6"/>
          <p:cNvSpPr/>
          <p:nvPr/>
        </p:nvSpPr>
        <p:spPr>
          <a:xfrm>
            <a:off x="6184900" y="2732835"/>
            <a:ext cx="5194300" cy="1567236"/>
          </a:xfrm>
          <a:prstGeom prst="roundRect">
            <a:avLst>
              <a:gd name="adj" fmla="val 9724"/>
            </a:avLst>
          </a:prstGeom>
          <a:solidFill>
            <a:srgbClr val="201A3D"/>
          </a:solidFill>
          <a:ln/>
        </p:spPr>
      </p:sp>
      <p:pic>
        <p:nvPicPr>
          <p:cNvPr id="10" name="Image 1" descr="A large circle with a known smaller circle subtracted from it"/>
          <p:cNvPicPr>
            <a:picLocks noChangeAspect="1"/>
          </p:cNvPicPr>
          <p:nvPr/>
        </p:nvPicPr>
        <p:blipFill>
          <a:blip r:embed="rId4"/>
          <a:srcRect/>
          <a:stretch/>
        </p:blipFill>
        <p:spPr>
          <a:xfrm>
            <a:off x="6413500" y="3211606"/>
            <a:ext cx="609600" cy="609600"/>
          </a:xfrm>
          <a:prstGeom prst="rect">
            <a:avLst/>
          </a:prstGeom>
        </p:spPr>
      </p:pic>
      <p:sp>
        <p:nvSpPr>
          <p:cNvPr id="11" name="Text 7"/>
          <p:cNvSpPr/>
          <p:nvPr/>
        </p:nvSpPr>
        <p:spPr>
          <a:xfrm>
            <a:off x="7200900" y="3268849"/>
            <a:ext cx="3948250" cy="26922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58BFF"/>
                </a:solidFill>
                <a:latin typeface="Space Grotesk" pitchFamily="34" charset="0"/>
                <a:ea typeface="Space Grotesk" pitchFamily="34" charset="-122"/>
                <a:cs typeface="Space Grotesk" pitchFamily="34" charset="-120"/>
              </a:rPr>
              <a:t>Control variates</a:t>
            </a:r>
            <a:endParaRPr lang="en-US" sz="1600" dirty="0"/>
          </a:p>
        </p:txBody>
      </p:sp>
      <p:sp>
        <p:nvSpPr>
          <p:cNvPr id="12" name="Text 8"/>
          <p:cNvSpPr/>
          <p:nvPr/>
        </p:nvSpPr>
        <p:spPr>
          <a:xfrm>
            <a:off x="7200900" y="3550769"/>
            <a:ext cx="394825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subtract a correlated price we already know exactly</a:t>
            </a:r>
            <a:endParaRPr lang="en-US" sz="1200" dirty="0"/>
          </a:p>
        </p:txBody>
      </p:sp>
      <p:sp>
        <p:nvSpPr>
          <p:cNvPr id="13" name="Shape 9"/>
          <p:cNvSpPr/>
          <p:nvPr/>
        </p:nvSpPr>
        <p:spPr>
          <a:xfrm>
            <a:off x="812800" y="4477872"/>
            <a:ext cx="5194300" cy="1567329"/>
          </a:xfrm>
          <a:prstGeom prst="roundRect">
            <a:avLst>
              <a:gd name="adj" fmla="val 9724"/>
            </a:avLst>
          </a:prstGeom>
          <a:solidFill>
            <a:srgbClr val="201A3D"/>
          </a:solidFill>
          <a:ln/>
        </p:spPr>
      </p:sp>
      <p:pic>
        <p:nvPicPr>
          <p:cNvPr id="14" name="Image 2" descr="An evenly spaced lattice of points, a low-discrepancy sequence"/>
          <p:cNvPicPr>
            <a:picLocks noChangeAspect="1"/>
          </p:cNvPicPr>
          <p:nvPr/>
        </p:nvPicPr>
        <p:blipFill>
          <a:blip r:embed="rId5"/>
          <a:srcRect/>
          <a:stretch/>
        </p:blipFill>
        <p:spPr>
          <a:xfrm>
            <a:off x="1041400" y="4956733"/>
            <a:ext cx="609600" cy="609600"/>
          </a:xfrm>
          <a:prstGeom prst="rect">
            <a:avLst/>
          </a:prstGeom>
        </p:spPr>
      </p:pic>
      <p:sp>
        <p:nvSpPr>
          <p:cNvPr id="15" name="Text 10"/>
          <p:cNvSpPr/>
          <p:nvPr/>
        </p:nvSpPr>
        <p:spPr>
          <a:xfrm>
            <a:off x="1828800" y="5013883"/>
            <a:ext cx="3425298" cy="26922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7A45"/>
                </a:solidFill>
                <a:latin typeface="Space Grotesk" pitchFamily="34" charset="0"/>
                <a:ea typeface="Space Grotesk" pitchFamily="34" charset="-122"/>
                <a:cs typeface="Space Grotesk" pitchFamily="34" charset="-120"/>
              </a:rPr>
              <a:t>RQMC + Brownian bridge</a:t>
            </a:r>
            <a:endParaRPr lang="en-US" sz="1600" dirty="0"/>
          </a:p>
        </p:txBody>
      </p:sp>
      <p:sp>
        <p:nvSpPr>
          <p:cNvPr id="16" name="Text 11"/>
          <p:cNvSpPr/>
          <p:nvPr/>
        </p:nvSpPr>
        <p:spPr>
          <a:xfrm>
            <a:off x="1828800" y="5295807"/>
            <a:ext cx="3425298"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cover the sample space evenly, not randomly</a:t>
            </a:r>
            <a:endParaRPr lang="en-US" sz="1200" dirty="0"/>
          </a:p>
        </p:txBody>
      </p:sp>
      <p:sp>
        <p:nvSpPr>
          <p:cNvPr id="17" name="Shape 12"/>
          <p:cNvSpPr/>
          <p:nvPr/>
        </p:nvSpPr>
        <p:spPr>
          <a:xfrm>
            <a:off x="6184900" y="4477872"/>
            <a:ext cx="5194300" cy="1567329"/>
          </a:xfrm>
          <a:prstGeom prst="roundRect">
            <a:avLst>
              <a:gd name="adj" fmla="val 9724"/>
            </a:avLst>
          </a:prstGeom>
          <a:solidFill>
            <a:srgbClr val="201A3D"/>
          </a:solidFill>
          <a:ln/>
        </p:spPr>
      </p:sp>
      <p:pic>
        <p:nvPicPr>
          <p:cNvPr id="18" name="Image 3" descr="An arrow steering into the center of a target"/>
          <p:cNvPicPr>
            <a:picLocks noChangeAspect="1"/>
          </p:cNvPicPr>
          <p:nvPr/>
        </p:nvPicPr>
        <p:blipFill>
          <a:blip r:embed="rId6"/>
          <a:srcRect/>
          <a:stretch/>
        </p:blipFill>
        <p:spPr>
          <a:xfrm>
            <a:off x="6413500" y="4956733"/>
            <a:ext cx="609600" cy="609600"/>
          </a:xfrm>
          <a:prstGeom prst="rect">
            <a:avLst/>
          </a:prstGeom>
        </p:spPr>
      </p:pic>
      <p:sp>
        <p:nvSpPr>
          <p:cNvPr id="19" name="Text 13"/>
          <p:cNvSpPr/>
          <p:nvPr/>
        </p:nvSpPr>
        <p:spPr>
          <a:xfrm>
            <a:off x="7200900" y="5013883"/>
            <a:ext cx="3458097" cy="26922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FD0E6"/>
                </a:solidFill>
                <a:latin typeface="Space Grotesk" pitchFamily="34" charset="0"/>
                <a:ea typeface="Space Grotesk" pitchFamily="34" charset="-122"/>
                <a:cs typeface="Space Grotesk" pitchFamily="34" charset="-120"/>
              </a:rPr>
              <a:t>Importance sampling</a:t>
            </a:r>
            <a:endParaRPr lang="en-US" sz="1600" dirty="0"/>
          </a:p>
        </p:txBody>
      </p:sp>
      <p:sp>
        <p:nvSpPr>
          <p:cNvPr id="20" name="Text 14"/>
          <p:cNvSpPr/>
          <p:nvPr/>
        </p:nvSpPr>
        <p:spPr>
          <a:xfrm>
            <a:off x="7200900" y="5295807"/>
            <a:ext cx="3458097"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steer draws toward the barrier, reweight after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4 · HOW WE JUDGE A WIN</a:t>
            </a:r>
            <a:endParaRPr lang="en-US" sz="1200" dirty="0"/>
          </a:p>
        </p:txBody>
      </p:sp>
      <p:sp>
        <p:nvSpPr>
          <p:cNvPr id="3" name="Text 1"/>
          <p:cNvSpPr/>
          <p:nvPr/>
        </p:nvSpPr>
        <p:spPr>
          <a:xfrm>
            <a:off x="812800" y="1280083"/>
            <a:ext cx="10883392" cy="47242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EFFA"/>
                </a:solidFill>
                <a:latin typeface="Fraunces" pitchFamily="34" charset="0"/>
                <a:ea typeface="Fraunces" pitchFamily="34" charset="-122"/>
                <a:cs typeface="Fraunces" pitchFamily="34" charset="-120"/>
              </a:rPr>
              <a:t>Four numbers, every slide</a:t>
            </a:r>
            <a:endParaRPr lang="en-US" sz="3200" dirty="0"/>
          </a:p>
        </p:txBody>
      </p:sp>
      <p:sp>
        <p:nvSpPr>
          <p:cNvPr id="4" name="Shape 2"/>
          <p:cNvSpPr/>
          <p:nvPr/>
        </p:nvSpPr>
        <p:spPr>
          <a:xfrm>
            <a:off x="812800" y="1981107"/>
            <a:ext cx="5207000" cy="1955800"/>
          </a:xfrm>
          <a:prstGeom prst="roundRect">
            <a:avLst>
              <a:gd name="adj" fmla="val 6494"/>
            </a:avLst>
          </a:prstGeom>
          <a:solidFill>
            <a:srgbClr val="201A3D"/>
          </a:solidFill>
          <a:ln/>
        </p:spPr>
      </p:sp>
      <p:sp>
        <p:nvSpPr>
          <p:cNvPr id="5" name="Text 3"/>
          <p:cNvSpPr/>
          <p:nvPr/>
        </p:nvSpPr>
        <p:spPr>
          <a:xfrm>
            <a:off x="1016000" y="2184307"/>
            <a:ext cx="494461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3FD0E6"/>
                </a:solidFill>
                <a:latin typeface="JetBrains Mono" pitchFamily="34" charset="0"/>
                <a:ea typeface="JetBrains Mono" pitchFamily="34" charset="-122"/>
                <a:cs typeface="JetBrains Mono" pitchFamily="34" charset="-120"/>
              </a:rPr>
              <a:t>VRF</a:t>
            </a:r>
            <a:endParaRPr lang="en-US" sz="2000" dirty="0"/>
          </a:p>
        </p:txBody>
      </p:sp>
      <p:sp>
        <p:nvSpPr>
          <p:cNvPr id="6" name="Text 4"/>
          <p:cNvSpPr/>
          <p:nvPr/>
        </p:nvSpPr>
        <p:spPr>
          <a:xfrm>
            <a:off x="1016000" y="2590707"/>
            <a:ext cx="4944618"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Var(plain) ÷ Var(method)</a:t>
            </a:r>
            <a:endParaRPr lang="en-US" sz="1200" dirty="0"/>
          </a:p>
        </p:txBody>
      </p:sp>
      <p:sp>
        <p:nvSpPr>
          <p:cNvPr id="7" name="Text 5"/>
          <p:cNvSpPr/>
          <p:nvPr/>
        </p:nvSpPr>
        <p:spPr>
          <a:xfrm>
            <a:off x="1016000" y="2854790"/>
            <a:ext cx="49446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how much quieter the estimator is, at equal path count</a:t>
            </a:r>
            <a:endParaRPr lang="en-US" sz="1100" dirty="0"/>
          </a:p>
        </p:txBody>
      </p:sp>
      <p:sp>
        <p:nvSpPr>
          <p:cNvPr id="8" name="Shape 6"/>
          <p:cNvSpPr/>
          <p:nvPr/>
        </p:nvSpPr>
        <p:spPr>
          <a:xfrm>
            <a:off x="6172200" y="1981107"/>
            <a:ext cx="5207000" cy="1955800"/>
          </a:xfrm>
          <a:prstGeom prst="roundRect">
            <a:avLst>
              <a:gd name="adj" fmla="val 6494"/>
            </a:avLst>
          </a:prstGeom>
          <a:solidFill>
            <a:srgbClr val="201A3D"/>
          </a:solidFill>
          <a:ln/>
        </p:spPr>
      </p:sp>
      <p:sp>
        <p:nvSpPr>
          <p:cNvPr id="9" name="Text 7"/>
          <p:cNvSpPr/>
          <p:nvPr/>
        </p:nvSpPr>
        <p:spPr>
          <a:xfrm>
            <a:off x="6375400" y="2184307"/>
            <a:ext cx="494461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3FD0E6"/>
                </a:solidFill>
                <a:latin typeface="JetBrains Mono" pitchFamily="34" charset="0"/>
                <a:ea typeface="JetBrains Mono" pitchFamily="34" charset="-122"/>
                <a:cs typeface="JetBrains Mono" pitchFamily="34" charset="-120"/>
              </a:rPr>
              <a:t>Efficiency</a:t>
            </a:r>
            <a:endParaRPr lang="en-US" sz="2000" dirty="0"/>
          </a:p>
        </p:txBody>
      </p:sp>
      <p:sp>
        <p:nvSpPr>
          <p:cNvPr id="10" name="Text 8"/>
          <p:cNvSpPr/>
          <p:nvPr/>
        </p:nvSpPr>
        <p:spPr>
          <a:xfrm>
            <a:off x="6375400" y="2590707"/>
            <a:ext cx="4944618"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1 ÷ (variance × runtime), vs plain</a:t>
            </a:r>
            <a:endParaRPr lang="en-US" sz="1200" dirty="0"/>
          </a:p>
        </p:txBody>
      </p:sp>
      <p:sp>
        <p:nvSpPr>
          <p:cNvPr id="11" name="Text 9"/>
          <p:cNvSpPr/>
          <p:nvPr/>
        </p:nvSpPr>
        <p:spPr>
          <a:xfrm>
            <a:off x="6375400" y="2854790"/>
            <a:ext cx="49446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VRF charges rent — a slower method needs a bigger VRF to win</a:t>
            </a:r>
            <a:endParaRPr lang="en-US" sz="1100" dirty="0"/>
          </a:p>
        </p:txBody>
      </p:sp>
      <p:sp>
        <p:nvSpPr>
          <p:cNvPr id="12" name="Shape 10"/>
          <p:cNvSpPr/>
          <p:nvPr/>
        </p:nvSpPr>
        <p:spPr>
          <a:xfrm>
            <a:off x="812800" y="4089307"/>
            <a:ext cx="5207000" cy="1955893"/>
          </a:xfrm>
          <a:prstGeom prst="roundRect">
            <a:avLst>
              <a:gd name="adj" fmla="val 6493"/>
            </a:avLst>
          </a:prstGeom>
          <a:solidFill>
            <a:srgbClr val="201A3D"/>
          </a:solidFill>
          <a:ln/>
        </p:spPr>
      </p:sp>
      <p:sp>
        <p:nvSpPr>
          <p:cNvPr id="13" name="Text 11"/>
          <p:cNvSpPr/>
          <p:nvPr/>
        </p:nvSpPr>
        <p:spPr>
          <a:xfrm>
            <a:off x="1016000" y="4292507"/>
            <a:ext cx="494461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3FD0E6"/>
                </a:solidFill>
                <a:latin typeface="JetBrains Mono" pitchFamily="34" charset="0"/>
                <a:ea typeface="JetBrains Mono" pitchFamily="34" charset="-122"/>
                <a:cs typeface="JetBrains Mono" pitchFamily="34" charset="-120"/>
              </a:rPr>
              <a:t>RMSE slope</a:t>
            </a:r>
            <a:endParaRPr lang="en-US" sz="2000" dirty="0"/>
          </a:p>
        </p:txBody>
      </p:sp>
      <p:sp>
        <p:nvSpPr>
          <p:cNvPr id="14" name="Text 12"/>
          <p:cNvSpPr/>
          <p:nvPr/>
        </p:nvSpPr>
        <p:spPr>
          <a:xfrm>
            <a:off x="1016000" y="4698907"/>
            <a:ext cx="4944618"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log(RMSE) vs log(N)</a:t>
            </a:r>
            <a:endParaRPr lang="en-US" sz="1200" dirty="0"/>
          </a:p>
        </p:txBody>
      </p:sp>
      <p:sp>
        <p:nvSpPr>
          <p:cNvPr id="15" name="Text 13"/>
          <p:cNvSpPr/>
          <p:nvPr/>
        </p:nvSpPr>
        <p:spPr>
          <a:xfrm>
            <a:off x="1016000" y="4962990"/>
            <a:ext cx="49446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plain sits at −0.5; steeper means faster convergence</a:t>
            </a:r>
            <a:endParaRPr lang="en-US" sz="1100" dirty="0"/>
          </a:p>
        </p:txBody>
      </p:sp>
      <p:sp>
        <p:nvSpPr>
          <p:cNvPr id="16" name="Shape 14"/>
          <p:cNvSpPr/>
          <p:nvPr/>
        </p:nvSpPr>
        <p:spPr>
          <a:xfrm>
            <a:off x="6172200" y="4089307"/>
            <a:ext cx="5207000" cy="1955893"/>
          </a:xfrm>
          <a:prstGeom prst="roundRect">
            <a:avLst>
              <a:gd name="adj" fmla="val 6493"/>
            </a:avLst>
          </a:prstGeom>
          <a:solidFill>
            <a:srgbClr val="201A3D"/>
          </a:solidFill>
          <a:ln/>
        </p:spPr>
      </p:sp>
      <p:sp>
        <p:nvSpPr>
          <p:cNvPr id="17" name="Text 15"/>
          <p:cNvSpPr/>
          <p:nvPr/>
        </p:nvSpPr>
        <p:spPr>
          <a:xfrm>
            <a:off x="6375400" y="4292507"/>
            <a:ext cx="494461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3FD0E6"/>
                </a:solidFill>
                <a:latin typeface="JetBrains Mono" pitchFamily="34" charset="0"/>
                <a:ea typeface="JetBrains Mono" pitchFamily="34" charset="-122"/>
                <a:cs typeface="JetBrains Mono" pitchFamily="34" charset="-120"/>
              </a:rPr>
              <a:t>Trust</a:t>
            </a:r>
            <a:endParaRPr lang="en-US" sz="2000" dirty="0"/>
          </a:p>
        </p:txBody>
      </p:sp>
      <p:sp>
        <p:nvSpPr>
          <p:cNvPr id="18" name="Text 16"/>
          <p:cNvSpPr/>
          <p:nvPr/>
        </p:nvSpPr>
        <p:spPr>
          <a:xfrm>
            <a:off x="6375400" y="4698907"/>
            <a:ext cx="4944618"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within 3 SE of the reference, CI coverage</a:t>
            </a:r>
            <a:endParaRPr lang="en-US" sz="1200" dirty="0"/>
          </a:p>
        </p:txBody>
      </p:sp>
      <p:sp>
        <p:nvSpPr>
          <p:cNvPr id="19" name="Text 17"/>
          <p:cNvSpPr/>
          <p:nvPr/>
        </p:nvSpPr>
        <p:spPr>
          <a:xfrm>
            <a:off x="6375400" y="4962990"/>
            <a:ext cx="494461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a fast estimator that's wrong is not a result</a:t>
            </a:r>
            <a:endParaRPr lang="en-US" sz="1100" dirty="0"/>
          </a:p>
        </p:txBody>
      </p:sp>
      <p:sp>
        <p:nvSpPr>
          <p:cNvPr id="20" name="Text 18"/>
          <p:cNvSpPr/>
          <p:nvPr/>
        </p:nvSpPr>
        <p:spPr>
          <a:xfrm>
            <a:off x="812800" y="6238317"/>
            <a:ext cx="747079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Every number in this deck reports all four, with a bootstrap 95% CI where R=20 replicates allow one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4 · HOW WE JUDGE A WIN</a:t>
            </a:r>
            <a:endParaRPr lang="en-US" sz="1200" dirty="0"/>
          </a:p>
        </p:txBody>
      </p:sp>
      <p:sp>
        <p:nvSpPr>
          <p:cNvPr id="3" name="Text 1"/>
          <p:cNvSpPr/>
          <p:nvPr/>
        </p:nvSpPr>
        <p:spPr>
          <a:xfrm>
            <a:off x="812800" y="1305483"/>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One pipeline, every number in this deck</a:t>
            </a:r>
            <a:endParaRPr lang="en-US" sz="3000" dirty="0"/>
          </a:p>
        </p:txBody>
      </p:sp>
      <p:sp>
        <p:nvSpPr>
          <p:cNvPr id="4" name="Shape 2"/>
          <p:cNvSpPr/>
          <p:nvPr/>
        </p:nvSpPr>
        <p:spPr>
          <a:xfrm>
            <a:off x="812800" y="3068544"/>
            <a:ext cx="1422400" cy="1081554"/>
          </a:xfrm>
          <a:prstGeom prst="roundRect">
            <a:avLst>
              <a:gd name="adj" fmla="val 10568"/>
            </a:avLst>
          </a:prstGeom>
          <a:solidFill>
            <a:srgbClr val="201A3D"/>
          </a:solidFill>
          <a:ln/>
        </p:spPr>
      </p:sp>
      <p:sp>
        <p:nvSpPr>
          <p:cNvPr id="5" name="Shape 3"/>
          <p:cNvSpPr/>
          <p:nvPr/>
        </p:nvSpPr>
        <p:spPr>
          <a:xfrm>
            <a:off x="812800" y="3068544"/>
            <a:ext cx="1422400" cy="1081554"/>
          </a:xfrm>
          <a:custGeom>
            <a:avLst/>
            <a:gdLst/>
            <a:ahLst/>
            <a:cxnLst/>
            <a:rect l="l" t="t" r="r" b="b"/>
            <a:pathLst>
              <a:path w="1422400" h="1081554">
                <a:moveTo>
                  <a:pt x="0" y="114300"/>
                </a:moveTo>
                <a:lnTo>
                  <a:pt x="0" y="114300"/>
                </a:lnTo>
                <a:arcTo wR="114300" hR="114300" stAng="10800000" swAng="5400000"/>
                <a:lnTo>
                  <a:pt x="1308100" y="0"/>
                </a:lnTo>
                <a:arcTo wR="114300" hR="114300" stAng="16200000" swAng="5400000"/>
                <a:lnTo>
                  <a:pt x="1422400" y="114300"/>
                </a:lnTo>
                <a:arcTo wR="114300" hR="88900" stAng="0" swAng="-5400000"/>
                <a:lnTo>
                  <a:pt x="114300" y="25400"/>
                </a:lnTo>
                <a:arcTo wR="114300" hR="88900" stAng="16200000" swAng="-5400000"/>
                <a:close/>
              </a:path>
            </a:pathLst>
          </a:custGeom>
          <a:solidFill>
            <a:srgbClr val="A58BFF"/>
          </a:solidFill>
          <a:ln/>
        </p:spPr>
      </p:sp>
      <p:sp>
        <p:nvSpPr>
          <p:cNvPr id="6" name="Text 4"/>
          <p:cNvSpPr/>
          <p:nvPr/>
        </p:nvSpPr>
        <p:spPr>
          <a:xfrm>
            <a:off x="1202951" y="3244850"/>
            <a:ext cx="642097" cy="220943"/>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F2EFFA"/>
                </a:solidFill>
                <a:latin typeface="Space Grotesk" pitchFamily="34" charset="0"/>
                <a:ea typeface="Space Grotesk" pitchFamily="34" charset="-122"/>
                <a:cs typeface="Space Grotesk" pitchFamily="34" charset="-120"/>
              </a:rPr>
              <a:t>Scenario</a:t>
            </a:r>
            <a:endParaRPr lang="en-US" sz="1100" dirty="0"/>
          </a:p>
        </p:txBody>
      </p:sp>
      <p:sp>
        <p:nvSpPr>
          <p:cNvPr id="7" name="Text 5"/>
          <p:cNvSpPr/>
          <p:nvPr/>
        </p:nvSpPr>
        <p:spPr>
          <a:xfrm>
            <a:off x="901700" y="3491192"/>
            <a:ext cx="1244600" cy="531906"/>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9B93BD"/>
                </a:solidFill>
                <a:latin typeface="Space Grotesk" pitchFamily="34" charset="0"/>
                <a:ea typeface="Space Grotesk" pitchFamily="34" charset="-122"/>
                <a:cs typeface="Space Grotesk" pitchFamily="34" charset="-120"/>
              </a:rPr>
              <a:t>6 frozen configs — barrier, Asian, deep &amp; rare</a:t>
            </a:r>
            <a:endParaRPr lang="en-US" sz="950" dirty="0"/>
          </a:p>
        </p:txBody>
      </p:sp>
      <p:pic>
        <p:nvPicPr>
          <p:cNvPr id="8" name="Image 0" descr="arrow-right"/>
          <p:cNvPicPr>
            <a:picLocks noChangeAspect="1"/>
          </p:cNvPicPr>
          <p:nvPr/>
        </p:nvPicPr>
        <p:blipFill>
          <a:blip r:embed="rId3"/>
          <a:srcRect/>
          <a:stretch/>
        </p:blipFill>
        <p:spPr>
          <a:xfrm>
            <a:off x="2324100" y="3545824"/>
            <a:ext cx="228600" cy="127000"/>
          </a:xfrm>
          <a:prstGeom prst="rect">
            <a:avLst/>
          </a:prstGeom>
        </p:spPr>
      </p:pic>
      <p:sp>
        <p:nvSpPr>
          <p:cNvPr id="9" name="Shape 6"/>
          <p:cNvSpPr/>
          <p:nvPr/>
        </p:nvSpPr>
        <p:spPr>
          <a:xfrm>
            <a:off x="2641600" y="3068544"/>
            <a:ext cx="1422400" cy="1081554"/>
          </a:xfrm>
          <a:prstGeom prst="roundRect">
            <a:avLst>
              <a:gd name="adj" fmla="val 10568"/>
            </a:avLst>
          </a:prstGeom>
          <a:solidFill>
            <a:srgbClr val="201A3D"/>
          </a:solidFill>
          <a:ln/>
        </p:spPr>
      </p:sp>
      <p:sp>
        <p:nvSpPr>
          <p:cNvPr id="10" name="Shape 7"/>
          <p:cNvSpPr/>
          <p:nvPr/>
        </p:nvSpPr>
        <p:spPr>
          <a:xfrm>
            <a:off x="2641600" y="3068544"/>
            <a:ext cx="1422400" cy="1081554"/>
          </a:xfrm>
          <a:custGeom>
            <a:avLst/>
            <a:gdLst/>
            <a:ahLst/>
            <a:cxnLst/>
            <a:rect l="l" t="t" r="r" b="b"/>
            <a:pathLst>
              <a:path w="1422400" h="1081554">
                <a:moveTo>
                  <a:pt x="0" y="114300"/>
                </a:moveTo>
                <a:lnTo>
                  <a:pt x="0" y="114300"/>
                </a:lnTo>
                <a:arcTo wR="114300" hR="114300" stAng="10800000" swAng="5400000"/>
                <a:lnTo>
                  <a:pt x="1308100" y="0"/>
                </a:lnTo>
                <a:arcTo wR="114300" hR="114300" stAng="16200000" swAng="5400000"/>
                <a:lnTo>
                  <a:pt x="1422400" y="114300"/>
                </a:lnTo>
                <a:arcTo wR="114300" hR="88900" stAng="0" swAng="-5400000"/>
                <a:lnTo>
                  <a:pt x="114300" y="25400"/>
                </a:lnTo>
                <a:arcTo wR="114300" hR="88900" stAng="16200000" swAng="-5400000"/>
                <a:close/>
              </a:path>
            </a:pathLst>
          </a:custGeom>
          <a:solidFill>
            <a:srgbClr val="A58BFF"/>
          </a:solidFill>
          <a:ln/>
        </p:spPr>
      </p:sp>
      <p:sp>
        <p:nvSpPr>
          <p:cNvPr id="11" name="Text 8"/>
          <p:cNvSpPr/>
          <p:nvPr/>
        </p:nvSpPr>
        <p:spPr>
          <a:xfrm>
            <a:off x="2788397" y="3244850"/>
            <a:ext cx="1128713" cy="220943"/>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F2EFFA"/>
                </a:solidFill>
                <a:latin typeface="Space Grotesk" pitchFamily="34" charset="0"/>
                <a:ea typeface="Space Grotesk" pitchFamily="34" charset="-122"/>
                <a:cs typeface="Space Grotesk" pitchFamily="34" charset="-120"/>
              </a:rPr>
              <a:t>Seeded normals</a:t>
            </a:r>
            <a:endParaRPr lang="en-US" sz="1100" dirty="0"/>
          </a:p>
        </p:txBody>
      </p:sp>
      <p:sp>
        <p:nvSpPr>
          <p:cNvPr id="12" name="Text 9"/>
          <p:cNvSpPr/>
          <p:nvPr/>
        </p:nvSpPr>
        <p:spPr>
          <a:xfrm>
            <a:off x="2730500" y="3491192"/>
            <a:ext cx="1244600" cy="531906"/>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9B93BD"/>
                </a:solidFill>
                <a:latin typeface="Space Grotesk" pitchFamily="34" charset="0"/>
                <a:ea typeface="Space Grotesk" pitchFamily="34" charset="-122"/>
                <a:cs typeface="Space Grotesk" pitchFamily="34" charset="-120"/>
              </a:rPr>
              <a:t>SeedSequence 402, CRC32-keyed, paired</a:t>
            </a:r>
            <a:endParaRPr lang="en-US" sz="950" dirty="0"/>
          </a:p>
        </p:txBody>
      </p:sp>
      <p:pic>
        <p:nvPicPr>
          <p:cNvPr id="13" name="Image 1" descr="arrow-right"/>
          <p:cNvPicPr>
            <a:picLocks noChangeAspect="1"/>
          </p:cNvPicPr>
          <p:nvPr/>
        </p:nvPicPr>
        <p:blipFill>
          <a:blip r:embed="rId3"/>
          <a:srcRect/>
          <a:stretch/>
        </p:blipFill>
        <p:spPr>
          <a:xfrm>
            <a:off x="4152900" y="3545824"/>
            <a:ext cx="228600" cy="127000"/>
          </a:xfrm>
          <a:prstGeom prst="rect">
            <a:avLst/>
          </a:prstGeom>
        </p:spPr>
      </p:pic>
      <p:sp>
        <p:nvSpPr>
          <p:cNvPr id="14" name="Shape 10"/>
          <p:cNvSpPr/>
          <p:nvPr/>
        </p:nvSpPr>
        <p:spPr>
          <a:xfrm>
            <a:off x="4470400" y="3068544"/>
            <a:ext cx="1422400" cy="1081554"/>
          </a:xfrm>
          <a:prstGeom prst="roundRect">
            <a:avLst>
              <a:gd name="adj" fmla="val 10568"/>
            </a:avLst>
          </a:prstGeom>
          <a:solidFill>
            <a:srgbClr val="201A3D"/>
          </a:solidFill>
          <a:ln/>
        </p:spPr>
      </p:sp>
      <p:sp>
        <p:nvSpPr>
          <p:cNvPr id="15" name="Shape 11"/>
          <p:cNvSpPr/>
          <p:nvPr/>
        </p:nvSpPr>
        <p:spPr>
          <a:xfrm>
            <a:off x="4470400" y="3068544"/>
            <a:ext cx="1422400" cy="1081554"/>
          </a:xfrm>
          <a:custGeom>
            <a:avLst/>
            <a:gdLst/>
            <a:ahLst/>
            <a:cxnLst/>
            <a:rect l="l" t="t" r="r" b="b"/>
            <a:pathLst>
              <a:path w="1422400" h="1081554">
                <a:moveTo>
                  <a:pt x="0" y="114300"/>
                </a:moveTo>
                <a:lnTo>
                  <a:pt x="0" y="114300"/>
                </a:lnTo>
                <a:arcTo wR="114300" hR="114300" stAng="10800000" swAng="5400000"/>
                <a:lnTo>
                  <a:pt x="1308100" y="0"/>
                </a:lnTo>
                <a:arcTo wR="114300" hR="114300" stAng="16200000" swAng="5400000"/>
                <a:lnTo>
                  <a:pt x="1422400" y="114300"/>
                </a:lnTo>
                <a:arcTo wR="114300" hR="88900" stAng="0" swAng="-5400000"/>
                <a:lnTo>
                  <a:pt x="114300" y="25400"/>
                </a:lnTo>
                <a:arcTo wR="114300" hR="88900" stAng="16200000" swAng="-5400000"/>
                <a:close/>
              </a:path>
            </a:pathLst>
          </a:custGeom>
          <a:solidFill>
            <a:srgbClr val="3FD0E6"/>
          </a:solidFill>
          <a:ln/>
        </p:spPr>
      </p:sp>
      <p:sp>
        <p:nvSpPr>
          <p:cNvPr id="16" name="Text 12"/>
          <p:cNvSpPr/>
          <p:nvPr/>
        </p:nvSpPr>
        <p:spPr>
          <a:xfrm>
            <a:off x="4754469" y="3244850"/>
            <a:ext cx="854168" cy="220943"/>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F2EFFA"/>
                </a:solidFill>
                <a:latin typeface="Space Grotesk" pitchFamily="34" charset="0"/>
                <a:ea typeface="Space Grotesk" pitchFamily="34" charset="-122"/>
                <a:cs typeface="Space Grotesk" pitchFamily="34" charset="-120"/>
              </a:rPr>
              <a:t>Path engine</a:t>
            </a:r>
            <a:endParaRPr lang="en-US" sz="1100" dirty="0"/>
          </a:p>
        </p:txBody>
      </p:sp>
      <p:sp>
        <p:nvSpPr>
          <p:cNvPr id="17" name="Text 13"/>
          <p:cNvSpPr/>
          <p:nvPr/>
        </p:nvSpPr>
        <p:spPr>
          <a:xfrm>
            <a:off x="4559300" y="3491192"/>
            <a:ext cx="1244600" cy="531906"/>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9B93BD"/>
                </a:solidFill>
                <a:latin typeface="Space Grotesk" pitchFamily="34" charset="0"/>
                <a:ea typeface="Space Grotesk" pitchFamily="34" charset="-122"/>
                <a:cs typeface="Space Grotesk" pitchFamily="34" charset="-120"/>
              </a:rPr>
              <a:t>exact log-GBM, Euler–Maruyama, Milstein</a:t>
            </a:r>
            <a:endParaRPr lang="en-US" sz="950" dirty="0"/>
          </a:p>
        </p:txBody>
      </p:sp>
      <p:pic>
        <p:nvPicPr>
          <p:cNvPr id="18" name="Image 2" descr="arrow-right"/>
          <p:cNvPicPr>
            <a:picLocks noChangeAspect="1"/>
          </p:cNvPicPr>
          <p:nvPr/>
        </p:nvPicPr>
        <p:blipFill>
          <a:blip r:embed="rId3"/>
          <a:srcRect/>
          <a:stretch/>
        </p:blipFill>
        <p:spPr>
          <a:xfrm>
            <a:off x="5981700" y="3545824"/>
            <a:ext cx="228600" cy="127000"/>
          </a:xfrm>
          <a:prstGeom prst="rect">
            <a:avLst/>
          </a:prstGeom>
        </p:spPr>
      </p:pic>
      <p:sp>
        <p:nvSpPr>
          <p:cNvPr id="19" name="Shape 14"/>
          <p:cNvSpPr/>
          <p:nvPr/>
        </p:nvSpPr>
        <p:spPr>
          <a:xfrm>
            <a:off x="6299200" y="3152961"/>
            <a:ext cx="1422400" cy="912719"/>
          </a:xfrm>
          <a:prstGeom prst="roundRect">
            <a:avLst>
              <a:gd name="adj" fmla="val 12523"/>
            </a:avLst>
          </a:prstGeom>
          <a:solidFill>
            <a:srgbClr val="201A3D"/>
          </a:solidFill>
          <a:ln/>
        </p:spPr>
      </p:sp>
      <p:sp>
        <p:nvSpPr>
          <p:cNvPr id="20" name="Shape 15"/>
          <p:cNvSpPr/>
          <p:nvPr/>
        </p:nvSpPr>
        <p:spPr>
          <a:xfrm>
            <a:off x="6299200" y="3152961"/>
            <a:ext cx="1422400" cy="912719"/>
          </a:xfrm>
          <a:custGeom>
            <a:avLst/>
            <a:gdLst/>
            <a:ahLst/>
            <a:cxnLst/>
            <a:rect l="l" t="t" r="r" b="b"/>
            <a:pathLst>
              <a:path w="1422400" h="912719">
                <a:moveTo>
                  <a:pt x="0" y="114300"/>
                </a:moveTo>
                <a:lnTo>
                  <a:pt x="0" y="114300"/>
                </a:lnTo>
                <a:arcTo wR="114300" hR="114300" stAng="10800000" swAng="5400000"/>
                <a:lnTo>
                  <a:pt x="1308100" y="0"/>
                </a:lnTo>
                <a:arcTo wR="114300" hR="114300" stAng="16200000" swAng="5400000"/>
                <a:lnTo>
                  <a:pt x="1422400" y="114300"/>
                </a:lnTo>
                <a:arcTo wR="114300" hR="88900" stAng="0" swAng="-5400000"/>
                <a:lnTo>
                  <a:pt x="114300" y="25400"/>
                </a:lnTo>
                <a:arcTo wR="114300" hR="88900" stAng="16200000" swAng="-5400000"/>
                <a:close/>
              </a:path>
            </a:pathLst>
          </a:custGeom>
          <a:solidFill>
            <a:srgbClr val="3FD0E6"/>
          </a:solidFill>
          <a:ln/>
        </p:spPr>
      </p:sp>
      <p:sp>
        <p:nvSpPr>
          <p:cNvPr id="21" name="Text 16"/>
          <p:cNvSpPr/>
          <p:nvPr/>
        </p:nvSpPr>
        <p:spPr>
          <a:xfrm>
            <a:off x="6766578" y="3329267"/>
            <a:ext cx="487643" cy="220943"/>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F2EFFA"/>
                </a:solidFill>
                <a:latin typeface="Space Grotesk" pitchFamily="34" charset="0"/>
                <a:ea typeface="Space Grotesk" pitchFamily="34" charset="-122"/>
                <a:cs typeface="Space Grotesk" pitchFamily="34" charset="-120"/>
              </a:rPr>
              <a:t>Payoff</a:t>
            </a:r>
            <a:endParaRPr lang="en-US" sz="1100" dirty="0"/>
          </a:p>
        </p:txBody>
      </p:sp>
      <p:sp>
        <p:nvSpPr>
          <p:cNvPr id="22" name="Text 17"/>
          <p:cNvSpPr/>
          <p:nvPr/>
        </p:nvSpPr>
        <p:spPr>
          <a:xfrm>
            <a:off x="6388100" y="3575608"/>
            <a:ext cx="1244600" cy="363071"/>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9B93BD"/>
                </a:solidFill>
                <a:latin typeface="Space Grotesk" pitchFamily="34" charset="0"/>
                <a:ea typeface="Space Grotesk" pitchFamily="34" charset="-122"/>
                <a:cs typeface="Space Grotesk" pitchFamily="34" charset="-120"/>
              </a:rPr>
              <a:t>barrier, geometric &amp; arithmetic Asian</a:t>
            </a:r>
            <a:endParaRPr lang="en-US" sz="950" dirty="0"/>
          </a:p>
        </p:txBody>
      </p:sp>
      <p:pic>
        <p:nvPicPr>
          <p:cNvPr id="23" name="Image 3" descr="arrow-right"/>
          <p:cNvPicPr>
            <a:picLocks noChangeAspect="1"/>
          </p:cNvPicPr>
          <p:nvPr/>
        </p:nvPicPr>
        <p:blipFill>
          <a:blip r:embed="rId3"/>
          <a:srcRect/>
          <a:stretch/>
        </p:blipFill>
        <p:spPr>
          <a:xfrm>
            <a:off x="7810500" y="3545824"/>
            <a:ext cx="228600" cy="127000"/>
          </a:xfrm>
          <a:prstGeom prst="rect">
            <a:avLst/>
          </a:prstGeom>
        </p:spPr>
      </p:pic>
      <p:sp>
        <p:nvSpPr>
          <p:cNvPr id="24" name="Shape 18"/>
          <p:cNvSpPr/>
          <p:nvPr/>
        </p:nvSpPr>
        <p:spPr>
          <a:xfrm>
            <a:off x="8128000" y="3068544"/>
            <a:ext cx="1422400" cy="1081554"/>
          </a:xfrm>
          <a:prstGeom prst="roundRect">
            <a:avLst>
              <a:gd name="adj" fmla="val 10568"/>
            </a:avLst>
          </a:prstGeom>
          <a:solidFill>
            <a:srgbClr val="201A3D"/>
          </a:solidFill>
          <a:ln/>
        </p:spPr>
      </p:sp>
      <p:sp>
        <p:nvSpPr>
          <p:cNvPr id="25" name="Shape 19"/>
          <p:cNvSpPr/>
          <p:nvPr/>
        </p:nvSpPr>
        <p:spPr>
          <a:xfrm>
            <a:off x="8128000" y="3068544"/>
            <a:ext cx="1422400" cy="1081554"/>
          </a:xfrm>
          <a:custGeom>
            <a:avLst/>
            <a:gdLst/>
            <a:ahLst/>
            <a:cxnLst/>
            <a:rect l="l" t="t" r="r" b="b"/>
            <a:pathLst>
              <a:path w="1422400" h="1081554">
                <a:moveTo>
                  <a:pt x="0" y="114300"/>
                </a:moveTo>
                <a:lnTo>
                  <a:pt x="0" y="114300"/>
                </a:lnTo>
                <a:arcTo wR="114300" hR="114300" stAng="10800000" swAng="5400000"/>
                <a:lnTo>
                  <a:pt x="1308100" y="0"/>
                </a:lnTo>
                <a:arcTo wR="114300" hR="114300" stAng="16200000" swAng="5400000"/>
                <a:lnTo>
                  <a:pt x="1422400" y="114300"/>
                </a:lnTo>
                <a:arcTo wR="114300" hR="88900" stAng="0" swAng="-5400000"/>
                <a:lnTo>
                  <a:pt x="114300" y="25400"/>
                </a:lnTo>
                <a:arcTo wR="114300" hR="88900" stAng="16200000" swAng="-5400000"/>
                <a:close/>
              </a:path>
            </a:pathLst>
          </a:custGeom>
          <a:solidFill>
            <a:srgbClr val="FF7A45"/>
          </a:solidFill>
          <a:ln/>
        </p:spPr>
      </p:sp>
      <p:sp>
        <p:nvSpPr>
          <p:cNvPr id="26" name="Text 20"/>
          <p:cNvSpPr/>
          <p:nvPr/>
        </p:nvSpPr>
        <p:spPr>
          <a:xfrm>
            <a:off x="8490603" y="3244850"/>
            <a:ext cx="697099" cy="220943"/>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F2EFFA"/>
                </a:solidFill>
                <a:latin typeface="Space Grotesk" pitchFamily="34" charset="0"/>
                <a:ea typeface="Space Grotesk" pitchFamily="34" charset="-122"/>
                <a:cs typeface="Space Grotesk" pitchFamily="34" charset="-120"/>
              </a:rPr>
              <a:t>Estimator</a:t>
            </a:r>
            <a:endParaRPr lang="en-US" sz="1100" dirty="0"/>
          </a:p>
        </p:txBody>
      </p:sp>
      <p:sp>
        <p:nvSpPr>
          <p:cNvPr id="27" name="Text 21"/>
          <p:cNvSpPr/>
          <p:nvPr/>
        </p:nvSpPr>
        <p:spPr>
          <a:xfrm>
            <a:off x="8216900" y="3491192"/>
            <a:ext cx="1244600" cy="531906"/>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9B93BD"/>
                </a:solidFill>
                <a:latin typeface="Space Grotesk" pitchFamily="34" charset="0"/>
                <a:ea typeface="Space Grotesk" pitchFamily="34" charset="-122"/>
                <a:cs typeface="Space Grotesk" pitchFamily="34" charset="-120"/>
              </a:rPr>
              <a:t>5 registered methods, one registry</a:t>
            </a:r>
            <a:endParaRPr lang="en-US" sz="950" dirty="0"/>
          </a:p>
        </p:txBody>
      </p:sp>
      <p:pic>
        <p:nvPicPr>
          <p:cNvPr id="28" name="Image 4" descr="arrow-right"/>
          <p:cNvPicPr>
            <a:picLocks noChangeAspect="1"/>
          </p:cNvPicPr>
          <p:nvPr/>
        </p:nvPicPr>
        <p:blipFill>
          <a:blip r:embed="rId3"/>
          <a:srcRect/>
          <a:stretch/>
        </p:blipFill>
        <p:spPr>
          <a:xfrm>
            <a:off x="9639300" y="3545824"/>
            <a:ext cx="228600" cy="127000"/>
          </a:xfrm>
          <a:prstGeom prst="rect">
            <a:avLst/>
          </a:prstGeom>
        </p:spPr>
      </p:pic>
      <p:sp>
        <p:nvSpPr>
          <p:cNvPr id="29" name="Shape 22"/>
          <p:cNvSpPr/>
          <p:nvPr/>
        </p:nvSpPr>
        <p:spPr>
          <a:xfrm>
            <a:off x="9956800" y="3152961"/>
            <a:ext cx="1422400" cy="912719"/>
          </a:xfrm>
          <a:prstGeom prst="roundRect">
            <a:avLst>
              <a:gd name="adj" fmla="val 12523"/>
            </a:avLst>
          </a:prstGeom>
          <a:solidFill>
            <a:srgbClr val="201A3D"/>
          </a:solidFill>
          <a:ln/>
        </p:spPr>
      </p:sp>
      <p:sp>
        <p:nvSpPr>
          <p:cNvPr id="30" name="Shape 23"/>
          <p:cNvSpPr/>
          <p:nvPr/>
        </p:nvSpPr>
        <p:spPr>
          <a:xfrm>
            <a:off x="9956800" y="3152961"/>
            <a:ext cx="1422400" cy="912719"/>
          </a:xfrm>
          <a:custGeom>
            <a:avLst/>
            <a:gdLst/>
            <a:ahLst/>
            <a:cxnLst/>
            <a:rect l="l" t="t" r="r" b="b"/>
            <a:pathLst>
              <a:path w="1422400" h="912719">
                <a:moveTo>
                  <a:pt x="0" y="114300"/>
                </a:moveTo>
                <a:lnTo>
                  <a:pt x="0" y="114300"/>
                </a:lnTo>
                <a:arcTo wR="114300" hR="114300" stAng="10800000" swAng="5400000"/>
                <a:lnTo>
                  <a:pt x="1308100" y="0"/>
                </a:lnTo>
                <a:arcTo wR="114300" hR="114300" stAng="16200000" swAng="5400000"/>
                <a:lnTo>
                  <a:pt x="1422400" y="114300"/>
                </a:lnTo>
                <a:arcTo wR="114300" hR="88900" stAng="0" swAng="-5400000"/>
                <a:lnTo>
                  <a:pt x="114300" y="25400"/>
                </a:lnTo>
                <a:arcTo wR="114300" hR="88900" stAng="16200000" swAng="-5400000"/>
                <a:close/>
              </a:path>
            </a:pathLst>
          </a:custGeom>
          <a:solidFill>
            <a:srgbClr val="FF7A45"/>
          </a:solidFill>
          <a:ln/>
        </p:spPr>
      </p:sp>
      <p:sp>
        <p:nvSpPr>
          <p:cNvPr id="31" name="Text 24"/>
          <p:cNvSpPr/>
          <p:nvPr/>
        </p:nvSpPr>
        <p:spPr>
          <a:xfrm>
            <a:off x="10274860" y="3329267"/>
            <a:ext cx="786279" cy="220943"/>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F2EFFA"/>
                </a:solidFill>
                <a:latin typeface="Space Grotesk" pitchFamily="34" charset="0"/>
                <a:ea typeface="Space Grotesk" pitchFamily="34" charset="-122"/>
                <a:cs typeface="Space Grotesk" pitchFamily="34" charset="-120"/>
              </a:rPr>
              <a:t>Summarise</a:t>
            </a:r>
            <a:endParaRPr lang="en-US" sz="1100" dirty="0"/>
          </a:p>
        </p:txBody>
      </p:sp>
      <p:sp>
        <p:nvSpPr>
          <p:cNvPr id="32" name="Text 25"/>
          <p:cNvSpPr/>
          <p:nvPr/>
        </p:nvSpPr>
        <p:spPr>
          <a:xfrm>
            <a:off x="10045700" y="3575608"/>
            <a:ext cx="1244600" cy="363071"/>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9B93BD"/>
                </a:solidFill>
                <a:latin typeface="Space Grotesk" pitchFamily="34" charset="0"/>
                <a:ea typeface="Space Grotesk" pitchFamily="34" charset="-122"/>
                <a:cs typeface="Space Grotesk" pitchFamily="34" charset="-120"/>
              </a:rPr>
              <a:t>R=20 replicates → CSV, figures, tables</a:t>
            </a:r>
            <a:endParaRPr lang="en-US" sz="950" dirty="0"/>
          </a:p>
        </p:txBody>
      </p:sp>
      <p:sp>
        <p:nvSpPr>
          <p:cNvPr id="33" name="Shape 26"/>
          <p:cNvSpPr/>
          <p:nvPr/>
        </p:nvSpPr>
        <p:spPr>
          <a:xfrm>
            <a:off x="3096652" y="5494058"/>
            <a:ext cx="1938898" cy="347943"/>
          </a:xfrm>
          <a:prstGeom prst="roundRect">
            <a:avLst>
              <a:gd name="adj" fmla="val 50000"/>
            </a:avLst>
          </a:prstGeom>
          <a:solidFill>
            <a:srgbClr val="201A3D"/>
          </a:solidFill>
          <a:ln/>
        </p:spPr>
      </p:sp>
      <p:sp>
        <p:nvSpPr>
          <p:cNvPr id="34" name="Text 27"/>
          <p:cNvSpPr/>
          <p:nvPr/>
        </p:nvSpPr>
        <p:spPr>
          <a:xfrm>
            <a:off x="3249052" y="5570258"/>
            <a:ext cx="168489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A58BFF"/>
                </a:solidFill>
                <a:latin typeface="Space Grotesk" pitchFamily="34" charset="0"/>
                <a:ea typeface="Space Grotesk" pitchFamily="34" charset="-122"/>
                <a:cs typeface="Space Grotesk" pitchFamily="34" charset="-120"/>
              </a:rPr>
              <a:t>1,700-row master sweep</a:t>
            </a:r>
            <a:endParaRPr lang="en-US" sz="1100" dirty="0"/>
          </a:p>
        </p:txBody>
      </p:sp>
      <p:sp>
        <p:nvSpPr>
          <p:cNvPr id="35" name="Shape 28"/>
          <p:cNvSpPr/>
          <p:nvPr/>
        </p:nvSpPr>
        <p:spPr>
          <a:xfrm>
            <a:off x="5137150" y="5494058"/>
            <a:ext cx="1646798" cy="347943"/>
          </a:xfrm>
          <a:prstGeom prst="roundRect">
            <a:avLst>
              <a:gd name="adj" fmla="val 50000"/>
            </a:avLst>
          </a:prstGeom>
          <a:solidFill>
            <a:srgbClr val="201A3D"/>
          </a:solidFill>
          <a:ln/>
        </p:spPr>
      </p:sp>
      <p:sp>
        <p:nvSpPr>
          <p:cNvPr id="36" name="Text 29"/>
          <p:cNvSpPr/>
          <p:nvPr/>
        </p:nvSpPr>
        <p:spPr>
          <a:xfrm>
            <a:off x="5289550" y="5570258"/>
            <a:ext cx="139279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3FD0E6"/>
                </a:solidFill>
                <a:latin typeface="Space Grotesk" pitchFamily="34" charset="0"/>
                <a:ea typeface="Space Grotesk" pitchFamily="34" charset="-122"/>
                <a:cs typeface="Space Grotesk" pitchFamily="34" charset="-120"/>
              </a:rPr>
              <a:t>90 tests, all passing</a:t>
            </a:r>
            <a:endParaRPr lang="en-US" sz="1100" dirty="0"/>
          </a:p>
        </p:txBody>
      </p:sp>
      <p:sp>
        <p:nvSpPr>
          <p:cNvPr id="37" name="Shape 30"/>
          <p:cNvSpPr/>
          <p:nvPr/>
        </p:nvSpPr>
        <p:spPr>
          <a:xfrm>
            <a:off x="6885548" y="5494058"/>
            <a:ext cx="2209800" cy="347943"/>
          </a:xfrm>
          <a:prstGeom prst="roundRect">
            <a:avLst>
              <a:gd name="adj" fmla="val 50000"/>
            </a:avLst>
          </a:prstGeom>
          <a:solidFill>
            <a:srgbClr val="201A3D"/>
          </a:solidFill>
          <a:ln/>
        </p:spPr>
      </p:sp>
      <p:sp>
        <p:nvSpPr>
          <p:cNvPr id="38" name="Text 31"/>
          <p:cNvSpPr/>
          <p:nvPr/>
        </p:nvSpPr>
        <p:spPr>
          <a:xfrm>
            <a:off x="7037948" y="5570258"/>
            <a:ext cx="1962150"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F7A45"/>
                </a:solidFill>
                <a:latin typeface="Space Grotesk" pitchFamily="34" charset="0"/>
                <a:ea typeface="Space Grotesk" pitchFamily="34" charset="-122"/>
                <a:cs typeface="Space Grotesk" pitchFamily="34" charset="-120"/>
              </a:rPr>
              <a:t>one-command reproduction</a:t>
            </a:r>
            <a:endParaRPr lang="en-US" sz="1100" dirty="0"/>
          </a:p>
        </p:txBody>
      </p:sp>
      <p:sp>
        <p:nvSpPr>
          <p:cNvPr id="39" name="Text 32"/>
          <p:cNvSpPr/>
          <p:nvPr/>
        </p:nvSpPr>
        <p:spPr>
          <a:xfrm>
            <a:off x="812800" y="6238317"/>
            <a:ext cx="10696218"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298"/>
                </a:solidFill>
                <a:latin typeface="Space Grotesk" pitchFamily="34" charset="0"/>
                <a:ea typeface="Space Grotesk" pitchFamily="34" charset="-122"/>
                <a:cs typeface="Space Grotesk" pitchFamily="34" charset="-120"/>
              </a:rPr>
              <a:t>Randomness is always a pre-built array — never drawn inside the engine — so every method and scheme can be compared on identical draws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4 · HOW WE JUDGE A WIN</a:t>
            </a:r>
            <a:endParaRPr lang="en-US" sz="1200" dirty="0"/>
          </a:p>
        </p:txBody>
      </p:sp>
      <p:sp>
        <p:nvSpPr>
          <p:cNvPr id="3" name="Text 1"/>
          <p:cNvSpPr/>
          <p:nvPr/>
        </p:nvSpPr>
        <p:spPr>
          <a:xfrm>
            <a:off x="812800" y="1254683"/>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Six scenarios, one grid</a:t>
            </a:r>
            <a:endParaRPr lang="en-US" sz="3000" dirty="0"/>
          </a:p>
        </p:txBody>
      </p:sp>
      <p:sp>
        <p:nvSpPr>
          <p:cNvPr id="4" name="Shape 2"/>
          <p:cNvSpPr/>
          <p:nvPr/>
        </p:nvSpPr>
        <p:spPr>
          <a:xfrm>
            <a:off x="812800" y="1902383"/>
            <a:ext cx="3437405" cy="1541836"/>
          </a:xfrm>
          <a:prstGeom prst="roundRect">
            <a:avLst>
              <a:gd name="adj" fmla="val 7413"/>
            </a:avLst>
          </a:prstGeom>
          <a:solidFill>
            <a:srgbClr val="201A3D"/>
          </a:solidFill>
          <a:ln/>
        </p:spPr>
      </p:sp>
      <p:sp>
        <p:nvSpPr>
          <p:cNvPr id="5" name="Text 3"/>
          <p:cNvSpPr/>
          <p:nvPr/>
        </p:nvSpPr>
        <p:spPr>
          <a:xfrm>
            <a:off x="977900" y="2067483"/>
            <a:ext cx="3200420"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D0E6"/>
                </a:solidFill>
                <a:latin typeface="Space Grotesk" pitchFamily="34" charset="0"/>
                <a:ea typeface="Space Grotesk" pitchFamily="34" charset="-122"/>
                <a:cs typeface="Space Grotesk" pitchFamily="34" charset="-120"/>
              </a:rPr>
              <a:t>Paper barrier</a:t>
            </a:r>
            <a:endParaRPr lang="en-US" sz="1200" dirty="0"/>
          </a:p>
        </p:txBody>
      </p:sp>
      <p:sp>
        <p:nvSpPr>
          <p:cNvPr id="6" name="Text 4"/>
          <p:cNvSpPr/>
          <p:nvPr/>
        </p:nvSpPr>
        <p:spPr>
          <a:xfrm>
            <a:off x="977900" y="2318872"/>
            <a:ext cx="3200420"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JetBrains Mono" pitchFamily="34" charset="0"/>
                <a:ea typeface="JetBrains Mono" pitchFamily="34" charset="-122"/>
                <a:cs typeface="JetBrains Mono" pitchFamily="34" charset="-120"/>
              </a:rPr>
              <a:t>B = 110.68</a:t>
            </a:r>
            <a:endParaRPr lang="en-US" sz="1100" dirty="0"/>
          </a:p>
        </p:txBody>
      </p:sp>
      <p:sp>
        <p:nvSpPr>
          <p:cNvPr id="7" name="Text 5"/>
          <p:cNvSpPr/>
          <p:nvPr/>
        </p:nvSpPr>
        <p:spPr>
          <a:xfrm>
            <a:off x="977900" y="2552514"/>
            <a:ext cx="3200420"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up-and-in call, base paper's own level</a:t>
            </a:r>
            <a:endParaRPr lang="en-US" sz="1000" dirty="0"/>
          </a:p>
        </p:txBody>
      </p:sp>
      <p:sp>
        <p:nvSpPr>
          <p:cNvPr id="8" name="Shape 6"/>
          <p:cNvSpPr/>
          <p:nvPr/>
        </p:nvSpPr>
        <p:spPr>
          <a:xfrm>
            <a:off x="4377205" y="1902383"/>
            <a:ext cx="3437498" cy="1541836"/>
          </a:xfrm>
          <a:prstGeom prst="roundRect">
            <a:avLst>
              <a:gd name="adj" fmla="val 7413"/>
            </a:avLst>
          </a:prstGeom>
          <a:solidFill>
            <a:srgbClr val="201A3D"/>
          </a:solidFill>
          <a:ln/>
        </p:spPr>
      </p:sp>
      <p:sp>
        <p:nvSpPr>
          <p:cNvPr id="9" name="Text 7"/>
          <p:cNvSpPr/>
          <p:nvPr/>
        </p:nvSpPr>
        <p:spPr>
          <a:xfrm>
            <a:off x="4542305" y="2067483"/>
            <a:ext cx="3200517"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D0E6"/>
                </a:solidFill>
                <a:latin typeface="Space Grotesk" pitchFamily="34" charset="0"/>
                <a:ea typeface="Space Grotesk" pitchFamily="34" charset="-122"/>
                <a:cs typeface="Space Grotesk" pitchFamily="34" charset="-120"/>
              </a:rPr>
              <a:t>Deep barrier</a:t>
            </a:r>
            <a:endParaRPr lang="en-US" sz="1200" dirty="0"/>
          </a:p>
        </p:txBody>
      </p:sp>
      <p:sp>
        <p:nvSpPr>
          <p:cNvPr id="10" name="Text 8"/>
          <p:cNvSpPr/>
          <p:nvPr/>
        </p:nvSpPr>
        <p:spPr>
          <a:xfrm>
            <a:off x="4542305" y="2318872"/>
            <a:ext cx="3200517"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JetBrains Mono" pitchFamily="34" charset="0"/>
                <a:ea typeface="JetBrains Mono" pitchFamily="34" charset="-122"/>
                <a:cs typeface="JetBrains Mono" pitchFamily="34" charset="-120"/>
              </a:rPr>
              <a:t>B = 140</a:t>
            </a:r>
            <a:endParaRPr lang="en-US" sz="1100" dirty="0"/>
          </a:p>
        </p:txBody>
      </p:sp>
      <p:sp>
        <p:nvSpPr>
          <p:cNvPr id="11" name="Text 9"/>
          <p:cNvSpPr/>
          <p:nvPr/>
        </p:nvSpPr>
        <p:spPr>
          <a:xfrm>
            <a:off x="4542305" y="2552514"/>
            <a:ext cx="320051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harder to knock in — 9.3% of paths do</a:t>
            </a:r>
            <a:endParaRPr lang="en-US" sz="1000" dirty="0"/>
          </a:p>
        </p:txBody>
      </p:sp>
      <p:sp>
        <p:nvSpPr>
          <p:cNvPr id="12" name="Shape 10"/>
          <p:cNvSpPr/>
          <p:nvPr/>
        </p:nvSpPr>
        <p:spPr>
          <a:xfrm>
            <a:off x="7941702" y="1902383"/>
            <a:ext cx="3437498" cy="1541836"/>
          </a:xfrm>
          <a:prstGeom prst="roundRect">
            <a:avLst>
              <a:gd name="adj" fmla="val 7413"/>
            </a:avLst>
          </a:prstGeom>
          <a:solidFill>
            <a:srgbClr val="201A3D"/>
          </a:solidFill>
          <a:ln/>
        </p:spPr>
      </p:sp>
      <p:sp>
        <p:nvSpPr>
          <p:cNvPr id="13" name="Text 11"/>
          <p:cNvSpPr/>
          <p:nvPr/>
        </p:nvSpPr>
        <p:spPr>
          <a:xfrm>
            <a:off x="8106802" y="2067483"/>
            <a:ext cx="3200517"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D0E6"/>
                </a:solidFill>
                <a:latin typeface="Space Grotesk" pitchFamily="34" charset="0"/>
                <a:ea typeface="Space Grotesk" pitchFamily="34" charset="-122"/>
                <a:cs typeface="Space Grotesk" pitchFamily="34" charset="-120"/>
              </a:rPr>
              <a:t>Rare barrier</a:t>
            </a:r>
            <a:endParaRPr lang="en-US" sz="1200" dirty="0"/>
          </a:p>
        </p:txBody>
      </p:sp>
      <p:sp>
        <p:nvSpPr>
          <p:cNvPr id="14" name="Text 12"/>
          <p:cNvSpPr/>
          <p:nvPr/>
        </p:nvSpPr>
        <p:spPr>
          <a:xfrm>
            <a:off x="8106802" y="2318872"/>
            <a:ext cx="3200517"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JetBrains Mono" pitchFamily="34" charset="0"/>
                <a:ea typeface="JetBrains Mono" pitchFamily="34" charset="-122"/>
                <a:cs typeface="JetBrains Mono" pitchFamily="34" charset="-120"/>
              </a:rPr>
              <a:t>B = 160</a:t>
            </a:r>
            <a:endParaRPr lang="en-US" sz="1100" dirty="0"/>
          </a:p>
        </p:txBody>
      </p:sp>
      <p:sp>
        <p:nvSpPr>
          <p:cNvPr id="15" name="Text 13"/>
          <p:cNvSpPr/>
          <p:nvPr/>
        </p:nvSpPr>
        <p:spPr>
          <a:xfrm>
            <a:off x="8106802" y="2552514"/>
            <a:ext cx="320051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our extension — 1.9% knock-in, a true tail event</a:t>
            </a:r>
            <a:endParaRPr lang="en-US" sz="1000" dirty="0"/>
          </a:p>
        </p:txBody>
      </p:sp>
      <p:sp>
        <p:nvSpPr>
          <p:cNvPr id="16" name="Shape 14"/>
          <p:cNvSpPr/>
          <p:nvPr/>
        </p:nvSpPr>
        <p:spPr>
          <a:xfrm>
            <a:off x="812800" y="3571224"/>
            <a:ext cx="3437405" cy="1719636"/>
          </a:xfrm>
          <a:prstGeom prst="roundRect">
            <a:avLst>
              <a:gd name="adj" fmla="val 6647"/>
            </a:avLst>
          </a:prstGeom>
          <a:solidFill>
            <a:srgbClr val="201A3D"/>
          </a:solidFill>
          <a:ln/>
        </p:spPr>
      </p:sp>
      <p:sp>
        <p:nvSpPr>
          <p:cNvPr id="17" name="Text 15"/>
          <p:cNvSpPr/>
          <p:nvPr/>
        </p:nvSpPr>
        <p:spPr>
          <a:xfrm>
            <a:off x="977900" y="3736324"/>
            <a:ext cx="3200420"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45"/>
                </a:solidFill>
                <a:latin typeface="Space Grotesk" pitchFamily="34" charset="0"/>
                <a:ea typeface="Space Grotesk" pitchFamily="34" charset="-122"/>
                <a:cs typeface="Space Grotesk" pitchFamily="34" charset="-120"/>
              </a:rPr>
              <a:t>Geometric Asian</a:t>
            </a:r>
            <a:endParaRPr lang="en-US" sz="1200" dirty="0"/>
          </a:p>
        </p:txBody>
      </p:sp>
      <p:sp>
        <p:nvSpPr>
          <p:cNvPr id="18" name="Text 16"/>
          <p:cNvSpPr/>
          <p:nvPr/>
        </p:nvSpPr>
        <p:spPr>
          <a:xfrm>
            <a:off x="977900" y="3987707"/>
            <a:ext cx="3200420"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JetBrains Mono" pitchFamily="34" charset="0"/>
                <a:ea typeface="JetBrains Mono" pitchFamily="34" charset="-122"/>
                <a:cs typeface="JetBrains Mono" pitchFamily="34" charset="-120"/>
              </a:rPr>
              <a:t>call &amp; put</a:t>
            </a:r>
            <a:endParaRPr lang="en-US" sz="1100" dirty="0"/>
          </a:p>
        </p:txBody>
      </p:sp>
      <p:sp>
        <p:nvSpPr>
          <p:cNvPr id="19" name="Text 17"/>
          <p:cNvSpPr/>
          <p:nvPr/>
        </p:nvSpPr>
        <p:spPr>
          <a:xfrm>
            <a:off x="977900" y="4221349"/>
            <a:ext cx="3200420"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closed form exists — our ground truth</a:t>
            </a:r>
            <a:endParaRPr lang="en-US" sz="1000" dirty="0"/>
          </a:p>
        </p:txBody>
      </p:sp>
      <p:sp>
        <p:nvSpPr>
          <p:cNvPr id="20" name="Shape 18"/>
          <p:cNvSpPr/>
          <p:nvPr/>
        </p:nvSpPr>
        <p:spPr>
          <a:xfrm>
            <a:off x="4377205" y="3571224"/>
            <a:ext cx="3437498" cy="1719636"/>
          </a:xfrm>
          <a:prstGeom prst="roundRect">
            <a:avLst>
              <a:gd name="adj" fmla="val 6647"/>
            </a:avLst>
          </a:prstGeom>
          <a:solidFill>
            <a:srgbClr val="201A3D"/>
          </a:solidFill>
          <a:ln/>
        </p:spPr>
      </p:sp>
      <p:sp>
        <p:nvSpPr>
          <p:cNvPr id="21" name="Text 19"/>
          <p:cNvSpPr/>
          <p:nvPr/>
        </p:nvSpPr>
        <p:spPr>
          <a:xfrm>
            <a:off x="4542305" y="3736324"/>
            <a:ext cx="3200517"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45"/>
                </a:solidFill>
                <a:latin typeface="Space Grotesk" pitchFamily="34" charset="0"/>
                <a:ea typeface="Space Grotesk" pitchFamily="34" charset="-122"/>
                <a:cs typeface="Space Grotesk" pitchFamily="34" charset="-120"/>
              </a:rPr>
              <a:t>Arithmetic Asian</a:t>
            </a:r>
            <a:endParaRPr lang="en-US" sz="1200" dirty="0"/>
          </a:p>
        </p:txBody>
      </p:sp>
      <p:sp>
        <p:nvSpPr>
          <p:cNvPr id="22" name="Text 20"/>
          <p:cNvSpPr/>
          <p:nvPr/>
        </p:nvSpPr>
        <p:spPr>
          <a:xfrm>
            <a:off x="4542305" y="3987707"/>
            <a:ext cx="3200517"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JetBrains Mono" pitchFamily="34" charset="0"/>
                <a:ea typeface="JetBrains Mono" pitchFamily="34" charset="-122"/>
                <a:cs typeface="JetBrains Mono" pitchFamily="34" charset="-120"/>
              </a:rPr>
              <a:t>no closed form</a:t>
            </a:r>
            <a:endParaRPr lang="en-US" sz="1100" dirty="0"/>
          </a:p>
        </p:txBody>
      </p:sp>
      <p:sp>
        <p:nvSpPr>
          <p:cNvPr id="23" name="Text 21"/>
          <p:cNvSpPr/>
          <p:nvPr/>
        </p:nvSpPr>
        <p:spPr>
          <a:xfrm>
            <a:off x="4542305" y="4221349"/>
            <a:ext cx="3200517"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what investors actually trade — the control-variate target</a:t>
            </a:r>
            <a:endParaRPr lang="en-US" sz="1000" dirty="0"/>
          </a:p>
        </p:txBody>
      </p:sp>
      <p:sp>
        <p:nvSpPr>
          <p:cNvPr id="24" name="Shape 22"/>
          <p:cNvSpPr/>
          <p:nvPr/>
        </p:nvSpPr>
        <p:spPr>
          <a:xfrm>
            <a:off x="7941702" y="3571224"/>
            <a:ext cx="3437498" cy="1719636"/>
          </a:xfrm>
          <a:prstGeom prst="roundRect">
            <a:avLst>
              <a:gd name="adj" fmla="val 6647"/>
            </a:avLst>
          </a:prstGeom>
          <a:solidFill>
            <a:srgbClr val="201A3D"/>
          </a:solidFill>
          <a:ln/>
        </p:spPr>
      </p:sp>
      <p:sp>
        <p:nvSpPr>
          <p:cNvPr id="25" name="Text 23"/>
          <p:cNvSpPr/>
          <p:nvPr/>
        </p:nvSpPr>
        <p:spPr>
          <a:xfrm>
            <a:off x="8106802" y="3736324"/>
            <a:ext cx="3200517"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45"/>
                </a:solidFill>
                <a:latin typeface="Space Grotesk" pitchFamily="34" charset="0"/>
                <a:ea typeface="Space Grotesk" pitchFamily="34" charset="-122"/>
                <a:cs typeface="Space Grotesk" pitchFamily="34" charset="-120"/>
              </a:rPr>
              <a:t>30-day window</a:t>
            </a:r>
            <a:endParaRPr lang="en-US" sz="1200" dirty="0"/>
          </a:p>
        </p:txBody>
      </p:sp>
      <p:sp>
        <p:nvSpPr>
          <p:cNvPr id="26" name="Text 24"/>
          <p:cNvSpPr/>
          <p:nvPr/>
        </p:nvSpPr>
        <p:spPr>
          <a:xfrm>
            <a:off x="8106802" y="3987707"/>
            <a:ext cx="3200517"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JetBrains Mono" pitchFamily="34" charset="0"/>
                <a:ea typeface="JetBrains Mono" pitchFamily="34" charset="-122"/>
                <a:cs typeface="JetBrains Mono" pitchFamily="34" charset="-120"/>
              </a:rPr>
              <a:t>last 30 of 252 days</a:t>
            </a:r>
            <a:endParaRPr lang="en-US" sz="1100" dirty="0"/>
          </a:p>
        </p:txBody>
      </p:sp>
      <p:sp>
        <p:nvSpPr>
          <p:cNvPr id="27" name="Text 25"/>
          <p:cNvSpPr/>
          <p:nvPr/>
        </p:nvSpPr>
        <p:spPr>
          <a:xfrm>
            <a:off x="8106802" y="4221349"/>
            <a:ext cx="320051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price 6.71, more than double the full-year average</a:t>
            </a:r>
            <a:endParaRPr lang="en-US" sz="1000" dirty="0"/>
          </a:p>
        </p:txBody>
      </p:sp>
      <p:sp>
        <p:nvSpPr>
          <p:cNvPr id="28" name="Shape 26"/>
          <p:cNvSpPr/>
          <p:nvPr/>
        </p:nvSpPr>
        <p:spPr>
          <a:xfrm>
            <a:off x="3527238" y="5519458"/>
            <a:ext cx="1452563" cy="322543"/>
          </a:xfrm>
          <a:prstGeom prst="roundRect">
            <a:avLst>
              <a:gd name="adj" fmla="val 50000"/>
            </a:avLst>
          </a:prstGeom>
          <a:solidFill>
            <a:srgbClr val="3A3560"/>
          </a:solidFill>
          <a:ln/>
        </p:spPr>
      </p:sp>
      <p:sp>
        <p:nvSpPr>
          <p:cNvPr id="29" name="Text 27"/>
          <p:cNvSpPr/>
          <p:nvPr/>
        </p:nvSpPr>
        <p:spPr>
          <a:xfrm>
            <a:off x="3666938" y="5582958"/>
            <a:ext cx="1223963"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Space Grotesk" pitchFamily="34" charset="0"/>
                <a:ea typeface="Space Grotesk" pitchFamily="34" charset="-122"/>
                <a:cs typeface="Space Grotesk" pitchFamily="34" charset="-120"/>
              </a:rPr>
              <a:t>N = 256 → 65,536</a:t>
            </a:r>
            <a:endParaRPr lang="en-US" sz="1100" dirty="0"/>
          </a:p>
        </p:txBody>
      </p:sp>
      <p:sp>
        <p:nvSpPr>
          <p:cNvPr id="30" name="Shape 28"/>
          <p:cNvSpPr/>
          <p:nvPr/>
        </p:nvSpPr>
        <p:spPr>
          <a:xfrm>
            <a:off x="5081401" y="5519458"/>
            <a:ext cx="1403724" cy="322543"/>
          </a:xfrm>
          <a:prstGeom prst="roundRect">
            <a:avLst>
              <a:gd name="adj" fmla="val 50000"/>
            </a:avLst>
          </a:prstGeom>
          <a:solidFill>
            <a:srgbClr val="3A3560"/>
          </a:solidFill>
          <a:ln/>
        </p:spPr>
      </p:sp>
      <p:sp>
        <p:nvSpPr>
          <p:cNvPr id="31" name="Text 29"/>
          <p:cNvSpPr/>
          <p:nvPr/>
        </p:nvSpPr>
        <p:spPr>
          <a:xfrm>
            <a:off x="5221101" y="5582958"/>
            <a:ext cx="117512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Space Grotesk" pitchFamily="34" charset="0"/>
                <a:ea typeface="Space Grotesk" pitchFamily="34" charset="-122"/>
                <a:cs typeface="Space Grotesk" pitchFamily="34" charset="-120"/>
              </a:rPr>
              <a:t>R = 20 replicates</a:t>
            </a:r>
            <a:endParaRPr lang="en-US" sz="1100" dirty="0"/>
          </a:p>
        </p:txBody>
      </p:sp>
      <p:sp>
        <p:nvSpPr>
          <p:cNvPr id="32" name="Shape 30"/>
          <p:cNvSpPr/>
          <p:nvPr/>
        </p:nvSpPr>
        <p:spPr>
          <a:xfrm>
            <a:off x="6586724" y="5519458"/>
            <a:ext cx="2077944" cy="322543"/>
          </a:xfrm>
          <a:prstGeom prst="roundRect">
            <a:avLst>
              <a:gd name="adj" fmla="val 50000"/>
            </a:avLst>
          </a:prstGeom>
          <a:solidFill>
            <a:srgbClr val="3A3560"/>
          </a:solidFill>
          <a:ln/>
        </p:spPr>
      </p:sp>
      <p:sp>
        <p:nvSpPr>
          <p:cNvPr id="33" name="Text 31"/>
          <p:cNvSpPr/>
          <p:nvPr/>
        </p:nvSpPr>
        <p:spPr>
          <a:xfrm>
            <a:off x="6726424" y="5582958"/>
            <a:ext cx="1852500"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F2EFFA"/>
                </a:solidFill>
                <a:latin typeface="Space Grotesk" pitchFamily="34" charset="0"/>
                <a:ea typeface="Space Grotesk" pitchFamily="34" charset="-122"/>
                <a:cs typeface="Space Grotesk" pitchFamily="34" charset="-120"/>
              </a:rPr>
              <a:t>252 daily monitoring steps</a:t>
            </a:r>
            <a:endParaRPr lang="en-US" sz="1100" dirty="0"/>
          </a:p>
        </p:txBody>
      </p:sp>
      <p:sp>
        <p:nvSpPr>
          <p:cNvPr id="34" name="Text 32"/>
          <p:cNvSpPr/>
          <p:nvPr/>
        </p:nvSpPr>
        <p:spPr>
          <a:xfrm>
            <a:off x="812800" y="6238317"/>
            <a:ext cx="489441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S₀=100, r=3%, σ=20%, T=1 year, K=105 — shared by every scenario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22B"/>
        </a:solidFill>
        <a:effectLst/>
      </p:bgPr>
    </p:bg>
    <p:spTree>
      <p:nvGrpSpPr>
        <p:cNvPr id="1" name=""/>
        <p:cNvGrpSpPr/>
        <p:nvPr/>
      </p:nvGrpSpPr>
      <p:grpSpPr>
        <a:xfrm>
          <a:off x="0" y="0"/>
          <a:ext cx="0" cy="0"/>
          <a:chOff x="0" y="0"/>
          <a:chExt cx="0" cy="0"/>
        </a:xfrm>
      </p:grpSpPr>
      <p:sp>
        <p:nvSpPr>
          <p:cNvPr id="2" name="Shape 0"/>
          <p:cNvSpPr/>
          <p:nvPr/>
        </p:nvSpPr>
        <p:spPr>
          <a:xfrm>
            <a:off x="0" y="0"/>
            <a:ext cx="6985000" cy="6985000"/>
          </a:xfrm>
          <a:prstGeom prst="roundRect">
            <a:avLst>
              <a:gd name="adj" fmla="val 23273"/>
            </a:avLst>
          </a:prstGeom>
          <a:gradFill rotWithShape="1">
            <a:gsLst>
              <a:gs pos="0">
                <a:srgbClr val="3FD0E6">
                  <a:alpha val="18000"/>
                </a:srgbClr>
              </a:gs>
              <a:gs pos="70000">
                <a:srgbClr val="3FD0E6">
                  <a:alpha val="0"/>
                </a:srgbClr>
              </a:gs>
            </a:gsLst>
            <a:path path="circle">
              <a:fillToRect l="50000" t="50000" r="50000" b="50000"/>
            </a:path>
          </a:gradFill>
          <a:ln/>
        </p:spPr>
      </p:sp>
      <p:sp>
        <p:nvSpPr>
          <p:cNvPr id="3" name="Shape 1"/>
          <p:cNvSpPr/>
          <p:nvPr/>
        </p:nvSpPr>
        <p:spPr>
          <a:xfrm>
            <a:off x="4572000" y="-762000"/>
            <a:ext cx="7620000" cy="7620000"/>
          </a:xfrm>
          <a:prstGeom prst="roundRect">
            <a:avLst>
              <a:gd name="adj" fmla="val 21333"/>
            </a:avLst>
          </a:prstGeom>
          <a:gradFill rotWithShape="1">
            <a:gsLst>
              <a:gs pos="0">
                <a:srgbClr val="A58BFF">
                  <a:alpha val="14000"/>
                </a:srgbClr>
              </a:gs>
              <a:gs pos="70000">
                <a:srgbClr val="A58BFF">
                  <a:alpha val="0"/>
                </a:srgbClr>
              </a:gs>
            </a:gsLst>
            <a:path path="circle">
              <a:fillToRect l="50000" t="50000" r="50000" b="50000"/>
            </a:path>
          </a:gradFill>
          <a:ln/>
        </p:spPr>
      </p:sp>
      <p:pic>
        <p:nvPicPr>
          <p:cNvPr id="4" name="Image 0" descr="rect"/>
          <p:cNvPicPr>
            <a:picLocks noChangeAspect="1"/>
          </p:cNvPicPr>
          <p:nvPr/>
        </p:nvPicPr>
        <p:blipFill>
          <a:blip r:embed="rId3"/>
          <a:srcRect/>
          <a:stretch/>
        </p:blipFill>
        <p:spPr>
          <a:xfrm rot="21360000">
            <a:off x="-1" y="3048001"/>
            <a:ext cx="15240000" cy="31750"/>
          </a:xfrm>
          <a:prstGeom prst="rect">
            <a:avLst/>
          </a:prstGeom>
        </p:spPr>
      </p:pic>
      <p:sp>
        <p:nvSpPr>
          <p:cNvPr id="5" name="Text 2"/>
          <p:cNvSpPr/>
          <p:nvPr/>
        </p:nvSpPr>
        <p:spPr>
          <a:xfrm>
            <a:off x="812800" y="2521700"/>
            <a:ext cx="10883392" cy="256521"/>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A58BFF"/>
                </a:solidFill>
                <a:latin typeface="Space Grotesk" pitchFamily="34" charset="0"/>
                <a:ea typeface="Space Grotesk" pitchFamily="34" charset="-122"/>
                <a:cs typeface="Space Grotesk" pitchFamily="34" charset="-120"/>
              </a:rPr>
              <a:t>PART ONE</a:t>
            </a:r>
            <a:endParaRPr lang="en-US" sz="1300" dirty="0"/>
          </a:p>
        </p:txBody>
      </p:sp>
      <p:sp>
        <p:nvSpPr>
          <p:cNvPr id="6" name="Text 3"/>
          <p:cNvSpPr/>
          <p:nvPr/>
        </p:nvSpPr>
        <p:spPr>
          <a:xfrm>
            <a:off x="812800" y="2752818"/>
            <a:ext cx="9810750" cy="1342091"/>
          </a:xfrm>
          <a:prstGeom prst="rect">
            <a:avLst/>
          </a:prstGeom>
          <a:noFill/>
          <a:ln/>
        </p:spPr>
        <p:txBody>
          <a:bodyPr wrap="square" lIns="0" tIns="0" rIns="0" bIns="0" rtlCol="0" anchor="t">
            <a:normAutofit/>
          </a:bodyPr>
          <a:lstStyle/>
          <a:p>
            <a:pPr marL="0" indent="0" algn="l">
              <a:lnSpc>
                <a:spcPts val="5184"/>
              </a:lnSpc>
              <a:buNone/>
            </a:pPr>
            <a:r>
              <a:rPr lang="en-US" sz="4800" b="1" dirty="0">
                <a:solidFill>
                  <a:srgbClr val="F2EFFA"/>
                </a:solidFill>
                <a:latin typeface="Fraunces" pitchFamily="34" charset="0"/>
                <a:ea typeface="Fraunces" pitchFamily="34" charset="-122"/>
                <a:cs typeface="Fraunces" pitchFamily="34" charset="-120"/>
              </a:rPr>
              <a:t>What the paper claimed —</a:t>
            </a:r>
            <a:endParaRPr lang="en-US" sz="4800" dirty="0"/>
          </a:p>
          <a:p>
            <a:pPr marL="0" indent="0" algn="l">
              <a:lnSpc>
                <a:spcPts val="5184"/>
              </a:lnSpc>
              <a:buNone/>
            </a:pPr>
            <a:r>
              <a:rPr lang="en-US" sz="4800" b="1" dirty="0">
                <a:solidFill>
                  <a:srgbClr val="F2EFFA"/>
                </a:solidFill>
                <a:latin typeface="Fraunces" pitchFamily="34" charset="0"/>
                <a:ea typeface="Fraunces" pitchFamily="34" charset="-122"/>
                <a:cs typeface="Fraunces" pitchFamily="34" charset="-120"/>
              </a:rPr>
              <a:t>and what we confirm</a:t>
            </a:r>
            <a:endParaRPr lang="en-US" sz="4800" dirty="0"/>
          </a:p>
        </p:txBody>
      </p:sp>
      <p:sp>
        <p:nvSpPr>
          <p:cNvPr id="7" name="Text 4"/>
          <p:cNvSpPr/>
          <p:nvPr/>
        </p:nvSpPr>
        <p:spPr>
          <a:xfrm>
            <a:off x="812800" y="4069513"/>
            <a:ext cx="719455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FB8DC"/>
                </a:solidFill>
                <a:latin typeface="Space Grotesk" pitchFamily="34" charset="0"/>
                <a:ea typeface="Space Grotesk" pitchFamily="34" charset="-122"/>
                <a:cs typeface="Space Grotesk" pitchFamily="34" charset="-120"/>
              </a:rPr>
              <a:t>Two claims, checked from scratch, on our own re-implementation.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6238317"/>
            <a:ext cx="6769514"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corr(Y, Y′): −0.32 (barrier), −0.26 (call), −0.74 (put) — the more negative, the bigger the win</a:t>
            </a:r>
            <a:endParaRPr lang="en-US" sz="1200" dirty="0"/>
          </a:p>
        </p:txBody>
      </p:sp>
      <p:sp>
        <p:nvSpPr>
          <p:cNvPr id="3" name="Text 1"/>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5 · CONFIRMING THE PAPER</a:t>
            </a:r>
            <a:endParaRPr lang="en-US" sz="1200" dirty="0"/>
          </a:p>
        </p:txBody>
      </p:sp>
      <p:sp>
        <p:nvSpPr>
          <p:cNvPr id="4" name="Text 2"/>
          <p:cNvSpPr/>
          <p:nvPr/>
        </p:nvSpPr>
        <p:spPr>
          <a:xfrm>
            <a:off x="812800" y="12573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Antithetic speedup: </a:t>
            </a:r>
            <a:r>
              <a:rPr lang="en-US" sz="3000" b="1" dirty="0">
                <a:solidFill>
                  <a:srgbClr val="3FD0E6"/>
                </a:solidFill>
                <a:latin typeface="Fraunces" pitchFamily="34" charset="0"/>
                <a:ea typeface="Fraunces" pitchFamily="34" charset="-122"/>
                <a:cs typeface="Fraunces" pitchFamily="34" charset="-120"/>
              </a:rPr>
              <a:t>confirmed</a:t>
            </a:r>
            <a:endParaRPr lang="en-US" sz="3000" dirty="0"/>
          </a:p>
        </p:txBody>
      </p:sp>
      <p:sp>
        <p:nvSpPr>
          <p:cNvPr id="5" name="Text 3"/>
          <p:cNvSpPr/>
          <p:nvPr/>
        </p:nvSpPr>
        <p:spPr>
          <a:xfrm>
            <a:off x="1362168" y="4399713"/>
            <a:ext cx="545820" cy="25652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FD0E6"/>
                </a:solidFill>
                <a:latin typeface="JetBrains Mono" pitchFamily="34" charset="0"/>
                <a:ea typeface="JetBrains Mono" pitchFamily="34" charset="-122"/>
                <a:cs typeface="JetBrains Mono" pitchFamily="34" charset="-120"/>
              </a:rPr>
              <a:t>1.47×</a:t>
            </a:r>
            <a:endParaRPr lang="en-US" sz="1300" dirty="0"/>
          </a:p>
        </p:txBody>
      </p:sp>
      <p:sp>
        <p:nvSpPr>
          <p:cNvPr id="6" name="Text 4"/>
          <p:cNvSpPr/>
          <p:nvPr/>
        </p:nvSpPr>
        <p:spPr>
          <a:xfrm>
            <a:off x="1223309" y="5513481"/>
            <a:ext cx="772739" cy="363071"/>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BFB8DC"/>
                </a:solidFill>
                <a:latin typeface="Space Grotesk" pitchFamily="34" charset="0"/>
                <a:ea typeface="Space Grotesk" pitchFamily="34" charset="-122"/>
                <a:cs typeface="Space Grotesk" pitchFamily="34" charset="-120"/>
              </a:rPr>
              <a:t>barrier call</a:t>
            </a:r>
            <a:endParaRPr lang="en-US" sz="950" dirty="0"/>
          </a:p>
          <a:p>
            <a:pPr marL="0" indent="0" algn="ctr">
              <a:lnSpc>
                <a:spcPts val="1330"/>
              </a:lnSpc>
              <a:buNone/>
            </a:pPr>
            <a:r>
              <a:rPr lang="en-US" sz="950" dirty="0">
                <a:solidFill>
                  <a:srgbClr val="BFB8DC"/>
                </a:solidFill>
                <a:latin typeface="Space Grotesk" pitchFamily="34" charset="0"/>
                <a:ea typeface="Space Grotesk" pitchFamily="34" charset="-122"/>
                <a:cs typeface="Space Grotesk" pitchFamily="34" charset="-120"/>
              </a:rPr>
              <a:t>(paper: 1.5×)</a:t>
            </a:r>
            <a:endParaRPr lang="en-US" sz="950" dirty="0"/>
          </a:p>
        </p:txBody>
      </p:sp>
      <p:sp>
        <p:nvSpPr>
          <p:cNvPr id="7" name="Text 5"/>
          <p:cNvSpPr/>
          <p:nvPr/>
        </p:nvSpPr>
        <p:spPr>
          <a:xfrm>
            <a:off x="3133818" y="4463213"/>
            <a:ext cx="545820" cy="25652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FD0E6"/>
                </a:solidFill>
                <a:latin typeface="JetBrains Mono" pitchFamily="34" charset="0"/>
                <a:ea typeface="JetBrains Mono" pitchFamily="34" charset="-122"/>
                <a:cs typeface="JetBrains Mono" pitchFamily="34" charset="-120"/>
              </a:rPr>
              <a:t>1.35×</a:t>
            </a:r>
            <a:endParaRPr lang="en-US" sz="1300" dirty="0"/>
          </a:p>
        </p:txBody>
      </p:sp>
      <p:sp>
        <p:nvSpPr>
          <p:cNvPr id="8" name="Text 6"/>
          <p:cNvSpPr/>
          <p:nvPr/>
        </p:nvSpPr>
        <p:spPr>
          <a:xfrm>
            <a:off x="2994679" y="5513481"/>
            <a:ext cx="773299" cy="363071"/>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BFB8DC"/>
                </a:solidFill>
                <a:latin typeface="Space Grotesk" pitchFamily="34" charset="0"/>
                <a:ea typeface="Space Grotesk" pitchFamily="34" charset="-122"/>
                <a:cs typeface="Space Grotesk" pitchFamily="34" charset="-120"/>
              </a:rPr>
              <a:t>Asian call</a:t>
            </a:r>
            <a:endParaRPr lang="en-US" sz="950" dirty="0"/>
          </a:p>
          <a:p>
            <a:pPr marL="0" indent="0" algn="ctr">
              <a:lnSpc>
                <a:spcPts val="1330"/>
              </a:lnSpc>
              <a:buNone/>
            </a:pPr>
            <a:r>
              <a:rPr lang="en-US" sz="950" dirty="0">
                <a:solidFill>
                  <a:srgbClr val="BFB8DC"/>
                </a:solidFill>
                <a:latin typeface="Space Grotesk" pitchFamily="34" charset="0"/>
                <a:ea typeface="Space Grotesk" pitchFamily="34" charset="-122"/>
                <a:cs typeface="Space Grotesk" pitchFamily="34" charset="-120"/>
              </a:rPr>
              <a:t>(paper: 1.3×)</a:t>
            </a:r>
            <a:endParaRPr lang="en-US" sz="950" dirty="0"/>
          </a:p>
        </p:txBody>
      </p:sp>
      <p:sp>
        <p:nvSpPr>
          <p:cNvPr id="9" name="Text 7"/>
          <p:cNvSpPr/>
          <p:nvPr/>
        </p:nvSpPr>
        <p:spPr>
          <a:xfrm>
            <a:off x="4905468" y="3097963"/>
            <a:ext cx="545820" cy="25652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7A45"/>
                </a:solidFill>
                <a:latin typeface="JetBrains Mono" pitchFamily="34" charset="0"/>
                <a:ea typeface="JetBrains Mono" pitchFamily="34" charset="-122"/>
                <a:cs typeface="JetBrains Mono" pitchFamily="34" charset="-120"/>
              </a:rPr>
              <a:t>3.91×</a:t>
            </a:r>
            <a:endParaRPr lang="en-US" sz="1300" dirty="0"/>
          </a:p>
        </p:txBody>
      </p:sp>
      <p:sp>
        <p:nvSpPr>
          <p:cNvPr id="10" name="Text 8"/>
          <p:cNvSpPr/>
          <p:nvPr/>
        </p:nvSpPr>
        <p:spPr>
          <a:xfrm>
            <a:off x="4679203" y="5513481"/>
            <a:ext cx="947644" cy="363071"/>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BFB8DC"/>
                </a:solidFill>
                <a:latin typeface="Space Grotesk" pitchFamily="34" charset="0"/>
                <a:ea typeface="Space Grotesk" pitchFamily="34" charset="-122"/>
                <a:cs typeface="Space Grotesk" pitchFamily="34" charset="-120"/>
              </a:rPr>
              <a:t>Asian put</a:t>
            </a:r>
            <a:endParaRPr lang="en-US" sz="950" dirty="0"/>
          </a:p>
          <a:p>
            <a:pPr marL="0" indent="0" algn="ctr">
              <a:lnSpc>
                <a:spcPts val="1330"/>
              </a:lnSpc>
              <a:buNone/>
            </a:pPr>
            <a:r>
              <a:rPr lang="en-US" sz="950" dirty="0">
                <a:solidFill>
                  <a:srgbClr val="BFB8DC"/>
                </a:solidFill>
                <a:latin typeface="Space Grotesk" pitchFamily="34" charset="0"/>
                <a:ea typeface="Space Grotesk" pitchFamily="34" charset="-122"/>
                <a:cs typeface="Space Grotesk" pitchFamily="34" charset="-120"/>
              </a:rPr>
              <a:t>(bonus finding)</a:t>
            </a:r>
            <a:endParaRPr lang="en-US" sz="950" dirty="0"/>
          </a:p>
        </p:txBody>
      </p:sp>
      <p:sp>
        <p:nvSpPr>
          <p:cNvPr id="11" name="Text 9"/>
          <p:cNvSpPr/>
          <p:nvPr/>
        </p:nvSpPr>
        <p:spPr>
          <a:xfrm>
            <a:off x="6677119" y="4562196"/>
            <a:ext cx="545820" cy="25652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FD0E6"/>
                </a:solidFill>
                <a:latin typeface="JetBrains Mono" pitchFamily="34" charset="0"/>
                <a:ea typeface="JetBrains Mono" pitchFamily="34" charset="-122"/>
                <a:cs typeface="JetBrains Mono" pitchFamily="34" charset="-120"/>
              </a:rPr>
              <a:t>1.48×</a:t>
            </a:r>
            <a:endParaRPr lang="en-US" sz="1300" dirty="0"/>
          </a:p>
        </p:txBody>
      </p:sp>
      <p:sp>
        <p:nvSpPr>
          <p:cNvPr id="12" name="Text 10"/>
          <p:cNvSpPr/>
          <p:nvPr/>
        </p:nvSpPr>
        <p:spPr>
          <a:xfrm>
            <a:off x="6516314" y="5682314"/>
            <a:ext cx="816629" cy="194235"/>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BFB8DC"/>
                </a:solidFill>
                <a:latin typeface="Space Grotesk" pitchFamily="34" charset="0"/>
                <a:ea typeface="Space Grotesk" pitchFamily="34" charset="-122"/>
                <a:cs typeface="Space Grotesk" pitchFamily="34" charset="-120"/>
              </a:rPr>
              <a:t>30-day Asian</a:t>
            </a:r>
            <a:endParaRPr lang="en-US" sz="950" dirty="0"/>
          </a:p>
        </p:txBody>
      </p:sp>
      <p:sp>
        <p:nvSpPr>
          <p:cNvPr id="13" name="Shape 11"/>
          <p:cNvSpPr/>
          <p:nvPr/>
        </p:nvSpPr>
        <p:spPr>
          <a:xfrm>
            <a:off x="812800" y="4120778"/>
            <a:ext cx="158750" cy="0"/>
          </a:xfrm>
          <a:prstGeom prst="line">
            <a:avLst/>
          </a:prstGeom>
          <a:noFill/>
          <a:ln w="19050">
            <a:solidFill>
              <a:srgbClr val="E8C547"/>
            </a:solidFill>
            <a:prstDash val="dash"/>
          </a:ln>
        </p:spPr>
      </p:sp>
      <p:sp>
        <p:nvSpPr>
          <p:cNvPr id="14" name="Shape 12"/>
          <p:cNvSpPr/>
          <p:nvPr/>
        </p:nvSpPr>
        <p:spPr>
          <a:xfrm>
            <a:off x="971550" y="4228728"/>
            <a:ext cx="158750" cy="0"/>
          </a:xfrm>
          <a:prstGeom prst="line">
            <a:avLst/>
          </a:prstGeom>
          <a:noFill/>
          <a:ln w="19050">
            <a:solidFill>
              <a:srgbClr val="E8C547"/>
            </a:solidFill>
            <a:prstDash val="dash"/>
          </a:ln>
        </p:spPr>
      </p:sp>
      <p:sp>
        <p:nvSpPr>
          <p:cNvPr id="15" name="Shape 13"/>
          <p:cNvSpPr/>
          <p:nvPr/>
        </p:nvSpPr>
        <p:spPr>
          <a:xfrm>
            <a:off x="8077200" y="3519953"/>
            <a:ext cx="3302000" cy="1208741"/>
          </a:xfrm>
          <a:prstGeom prst="roundRect">
            <a:avLst>
              <a:gd name="adj" fmla="val 10507"/>
            </a:avLst>
          </a:prstGeom>
          <a:solidFill>
            <a:srgbClr val="201A3D"/>
          </a:solidFill>
          <a:ln/>
        </p:spPr>
      </p:sp>
      <p:sp>
        <p:nvSpPr>
          <p:cNvPr id="16" name="Text 14"/>
          <p:cNvSpPr/>
          <p:nvPr/>
        </p:nvSpPr>
        <p:spPr>
          <a:xfrm>
            <a:off x="8255000" y="3697753"/>
            <a:ext cx="3034792" cy="8785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Read as a </a:t>
            </a:r>
            <a:r>
              <a:rPr lang="en-US" sz="1200" b="1" dirty="0">
                <a:solidFill>
                  <a:srgbClr val="F2EFFA"/>
                </a:solidFill>
                <a:latin typeface="Space Grotesk" pitchFamily="34" charset="0"/>
                <a:ea typeface="Space Grotesk" pitchFamily="34" charset="-122"/>
                <a:cs typeface="Space Grotesk" pitchFamily="34" charset="-120"/>
              </a:rPr>
              <a:t>variance ratio at equal path count</a:t>
            </a:r>
            <a:r>
              <a:rPr lang="en-US" sz="1200" dirty="0">
                <a:solidFill>
                  <a:srgbClr val="F2EFFA"/>
                </a:solidFill>
                <a:latin typeface="Space Grotesk" pitchFamily="34" charset="0"/>
                <a:ea typeface="Space Grotesk" pitchFamily="34" charset="-122"/>
                <a:cs typeface="Space Grotesk" pitchFamily="34" charset="-120"/>
              </a:rPr>
              <a:t>, our numbers land on the paper's 1.5× and 1.3× for both options it actually tested.</a:t>
            </a:r>
            <a:endParaRPr lang="en-US" sz="1200" dirty="0"/>
          </a:p>
        </p:txBody>
      </p:sp>
      <p:sp>
        <p:nvSpPr>
          <p:cNvPr id="17" name="Shape 15"/>
          <p:cNvSpPr/>
          <p:nvPr/>
        </p:nvSpPr>
        <p:spPr>
          <a:xfrm>
            <a:off x="8077200" y="4855697"/>
            <a:ext cx="3302000" cy="995456"/>
          </a:xfrm>
          <a:prstGeom prst="roundRect">
            <a:avLst>
              <a:gd name="adj" fmla="val 12758"/>
            </a:avLst>
          </a:prstGeom>
          <a:solidFill>
            <a:srgbClr val="201A3D"/>
          </a:solidFill>
          <a:ln/>
        </p:spPr>
      </p:sp>
      <p:sp>
        <p:nvSpPr>
          <p:cNvPr id="18" name="Text 16"/>
          <p:cNvSpPr/>
          <p:nvPr/>
        </p:nvSpPr>
        <p:spPr>
          <a:xfrm>
            <a:off x="8255000" y="5033497"/>
            <a:ext cx="3034792" cy="6652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Bonus:</a:t>
            </a:r>
            <a:r>
              <a:rPr lang="en-US" sz="1200" dirty="0">
                <a:solidFill>
                  <a:srgbClr val="F2EFFA"/>
                </a:solidFill>
                <a:latin typeface="Space Grotesk" pitchFamily="34" charset="0"/>
                <a:ea typeface="Space Grotesk" pitchFamily="34" charset="-122"/>
                <a:cs typeface="Space Grotesk" pitchFamily="34" charset="-120"/>
              </a:rPr>
              <a:t> the Asian put's 3.91× wasn't in the paper — its Fig. 8 (put) appears to reuse Fig. 6 (call).</a:t>
            </a:r>
            <a:endParaRPr lang="en-US" sz="1200" dirty="0"/>
          </a:p>
        </p:txBody>
      </p:sp>
      <p:sp>
        <p:nvSpPr>
          <p:cNvPr id="19" name="Text 17"/>
          <p:cNvSpPr/>
          <p:nvPr/>
        </p:nvSpPr>
        <p:spPr>
          <a:xfrm>
            <a:off x="812800" y="2209521"/>
            <a:ext cx="711606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variance reduction factor at N = 65,536, flat across all five 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6238317"/>
            <a:ext cx="5256253"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measured with common random numbers, 1,000,000 paths, dt = 1/252</a:t>
            </a:r>
            <a:endParaRPr lang="en-US" sz="1200" dirty="0"/>
          </a:p>
        </p:txBody>
      </p:sp>
      <p:sp>
        <p:nvSpPr>
          <p:cNvPr id="3" name="Text 1"/>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5 · CONFIRMING THE PAPER</a:t>
            </a:r>
            <a:endParaRPr lang="en-US" sz="1200" dirty="0"/>
          </a:p>
        </p:txBody>
      </p:sp>
      <p:sp>
        <p:nvSpPr>
          <p:cNvPr id="4" name="Text 2"/>
          <p:cNvSpPr/>
          <p:nvPr/>
        </p:nvSpPr>
        <p:spPr>
          <a:xfrm>
            <a:off x="812800" y="12573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Scheme choice: </a:t>
            </a:r>
            <a:r>
              <a:rPr lang="en-US" sz="3000" b="1" dirty="0">
                <a:solidFill>
                  <a:srgbClr val="3FD0E6"/>
                </a:solidFill>
                <a:latin typeface="Fraunces" pitchFamily="34" charset="0"/>
                <a:ea typeface="Fraunces" pitchFamily="34" charset="-122"/>
                <a:cs typeface="Fraunces" pitchFamily="34" charset="-120"/>
              </a:rPr>
              <a:t>negligible — confirmed</a:t>
            </a:r>
            <a:endParaRPr lang="en-US" sz="3000" dirty="0"/>
          </a:p>
        </p:txBody>
      </p:sp>
      <p:sp>
        <p:nvSpPr>
          <p:cNvPr id="5" name="Text 3"/>
          <p:cNvSpPr/>
          <p:nvPr/>
        </p:nvSpPr>
        <p:spPr>
          <a:xfrm>
            <a:off x="2438307" y="2945278"/>
            <a:ext cx="965293"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JetBrains Mono" pitchFamily="34" charset="0"/>
                <a:ea typeface="JetBrains Mono" pitchFamily="34" charset="-122"/>
                <a:cs typeface="JetBrains Mono" pitchFamily="34" charset="-120"/>
              </a:rPr>
              <a:t>SE = 0.049</a:t>
            </a:r>
            <a:endParaRPr lang="en-US" sz="1200" dirty="0"/>
          </a:p>
        </p:txBody>
      </p:sp>
      <p:sp>
        <p:nvSpPr>
          <p:cNvPr id="6" name="Shape 4"/>
          <p:cNvSpPr/>
          <p:nvPr/>
        </p:nvSpPr>
        <p:spPr>
          <a:xfrm>
            <a:off x="2387600" y="3209367"/>
            <a:ext cx="1016000" cy="2413000"/>
          </a:xfrm>
          <a:custGeom>
            <a:avLst/>
            <a:gdLst/>
            <a:ahLst/>
            <a:cxnLst/>
            <a:rect l="l" t="t" r="r" b="b"/>
            <a:pathLst>
              <a:path w="1016000" h="2413000">
                <a:moveTo>
                  <a:pt x="50800" y="0"/>
                </a:moveTo>
                <a:lnTo>
                  <a:pt x="965200" y="0"/>
                </a:lnTo>
                <a:arcTo wR="50800" hR="50800" stAng="16200000" swAng="5400000"/>
                <a:lnTo>
                  <a:pt x="1016000" y="2413000"/>
                </a:lnTo>
                <a:lnTo>
                  <a:pt x="0" y="2413000"/>
                </a:lnTo>
                <a:lnTo>
                  <a:pt x="0" y="50800"/>
                </a:lnTo>
                <a:arcTo wR="50800" hR="50800" stAng="10800000" swAng="5400000"/>
                <a:close/>
              </a:path>
            </a:pathLst>
          </a:custGeom>
          <a:solidFill>
            <a:srgbClr val="201A3D"/>
          </a:solidFill>
          <a:ln/>
        </p:spPr>
      </p:sp>
      <p:sp>
        <p:nvSpPr>
          <p:cNvPr id="7" name="Text 5"/>
          <p:cNvSpPr/>
          <p:nvPr/>
        </p:nvSpPr>
        <p:spPr>
          <a:xfrm>
            <a:off x="2174315" y="5673167"/>
            <a:ext cx="1493371" cy="194235"/>
          </a:xfrm>
          <a:prstGeom prst="rect">
            <a:avLst/>
          </a:prstGeom>
          <a:noFill/>
          <a:ln/>
        </p:spPr>
        <p:txBody>
          <a:bodyPr wrap="square" lIns="0" tIns="0" rIns="0" bIns="0" rtlCol="0" anchor="t">
            <a:normAutofit/>
          </a:bodyPr>
          <a:lstStyle/>
          <a:p>
            <a:pPr marL="0" indent="0" algn="l">
              <a:lnSpc>
                <a:spcPts val="1330"/>
              </a:lnSpc>
              <a:buNone/>
            </a:pPr>
            <a:r>
              <a:rPr lang="en-US" sz="950" dirty="0">
                <a:solidFill>
                  <a:srgbClr val="BFB8DC"/>
                </a:solidFill>
                <a:latin typeface="Space Grotesk" pitchFamily="34" charset="0"/>
                <a:ea typeface="Space Grotesk" pitchFamily="34" charset="-122"/>
                <a:cs typeface="Space Grotesk" pitchFamily="34" charset="-120"/>
              </a:rPr>
              <a:t>65,536-path plain-MC SE</a:t>
            </a:r>
            <a:endParaRPr lang="en-US" sz="950" dirty="0"/>
          </a:p>
        </p:txBody>
      </p:sp>
      <p:sp>
        <p:nvSpPr>
          <p:cNvPr id="8" name="Text 6"/>
          <p:cNvSpPr/>
          <p:nvPr/>
        </p:nvSpPr>
        <p:spPr>
          <a:xfrm>
            <a:off x="4145430" y="5175436"/>
            <a:ext cx="720912" cy="220943"/>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FF7A45"/>
                </a:solidFill>
                <a:latin typeface="JetBrains Mono" pitchFamily="34" charset="0"/>
                <a:ea typeface="JetBrains Mono" pitchFamily="34" charset="-122"/>
                <a:cs typeface="JetBrains Mono" pitchFamily="34" charset="-120"/>
              </a:rPr>
              <a:t>−0.00057</a:t>
            </a:r>
            <a:endParaRPr lang="en-US" sz="1100" dirty="0"/>
          </a:p>
        </p:txBody>
      </p:sp>
      <p:sp>
        <p:nvSpPr>
          <p:cNvPr id="9" name="Shape 7"/>
          <p:cNvSpPr/>
          <p:nvPr/>
        </p:nvSpPr>
        <p:spPr>
          <a:xfrm>
            <a:off x="3972485" y="5421778"/>
            <a:ext cx="1016000" cy="31750"/>
          </a:xfrm>
          <a:prstGeom prst="roundRect">
            <a:avLst>
              <a:gd name="adj" fmla="val 50000"/>
            </a:avLst>
          </a:prstGeom>
          <a:solidFill>
            <a:srgbClr val="FF7A45"/>
          </a:solidFill>
          <a:ln/>
        </p:spPr>
      </p:sp>
      <p:sp>
        <p:nvSpPr>
          <p:cNvPr id="10" name="Text 8"/>
          <p:cNvSpPr/>
          <p:nvPr/>
        </p:nvSpPr>
        <p:spPr>
          <a:xfrm>
            <a:off x="3996671" y="5504328"/>
            <a:ext cx="1018428" cy="363071"/>
          </a:xfrm>
          <a:prstGeom prst="rect">
            <a:avLst/>
          </a:prstGeom>
          <a:noFill/>
          <a:ln/>
        </p:spPr>
        <p:txBody>
          <a:bodyPr wrap="square" lIns="0" tIns="0" rIns="0" bIns="0" rtlCol="0" anchor="t">
            <a:normAutofit/>
          </a:bodyPr>
          <a:lstStyle/>
          <a:p>
            <a:pPr marL="0" indent="0" algn="l">
              <a:lnSpc>
                <a:spcPts val="1330"/>
              </a:lnSpc>
              <a:buNone/>
            </a:pPr>
            <a:r>
              <a:rPr lang="en-US" sz="950" dirty="0">
                <a:solidFill>
                  <a:srgbClr val="BFB8DC"/>
                </a:solidFill>
                <a:latin typeface="Space Grotesk" pitchFamily="34" charset="0"/>
                <a:ea typeface="Space Grotesk" pitchFamily="34" charset="-122"/>
                <a:cs typeface="Space Grotesk" pitchFamily="34" charset="-120"/>
              </a:rPr>
              <a:t>Euler–Maruyama</a:t>
            </a:r>
            <a:endParaRPr lang="en-US" sz="950" dirty="0"/>
          </a:p>
          <a:p>
            <a:pPr marL="0" indent="0" algn="l">
              <a:lnSpc>
                <a:spcPts val="1330"/>
              </a:lnSpc>
              <a:buNone/>
            </a:pPr>
            <a:r>
              <a:rPr lang="en-US" sz="950" dirty="0">
                <a:solidFill>
                  <a:srgbClr val="BFB8DC"/>
                </a:solidFill>
                <a:latin typeface="Space Grotesk" pitchFamily="34" charset="0"/>
                <a:ea typeface="Space Grotesk" pitchFamily="34" charset="-122"/>
                <a:cs typeface="Space Grotesk" pitchFamily="34" charset="-120"/>
              </a:rPr>
              <a:t>vs exact</a:t>
            </a:r>
            <a:endParaRPr lang="en-US" sz="950" dirty="0"/>
          </a:p>
        </p:txBody>
      </p:sp>
      <p:sp>
        <p:nvSpPr>
          <p:cNvPr id="11" name="Text 9"/>
          <p:cNvSpPr/>
          <p:nvPr/>
        </p:nvSpPr>
        <p:spPr>
          <a:xfrm>
            <a:off x="5517030" y="5150036"/>
            <a:ext cx="720912" cy="220943"/>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FF7A45"/>
                </a:solidFill>
                <a:latin typeface="JetBrains Mono" pitchFamily="34" charset="0"/>
                <a:ea typeface="JetBrains Mono" pitchFamily="34" charset="-122"/>
                <a:cs typeface="JetBrains Mono" pitchFamily="34" charset="-120"/>
              </a:rPr>
              <a:t>−0.00105</a:t>
            </a:r>
            <a:endParaRPr lang="en-US" sz="1100" dirty="0"/>
          </a:p>
        </p:txBody>
      </p:sp>
      <p:sp>
        <p:nvSpPr>
          <p:cNvPr id="12" name="Shape 10"/>
          <p:cNvSpPr/>
          <p:nvPr/>
        </p:nvSpPr>
        <p:spPr>
          <a:xfrm>
            <a:off x="5344085" y="5396378"/>
            <a:ext cx="1016000" cy="57150"/>
          </a:xfrm>
          <a:prstGeom prst="roundRect">
            <a:avLst>
              <a:gd name="adj" fmla="val 44444"/>
            </a:avLst>
          </a:prstGeom>
          <a:solidFill>
            <a:srgbClr val="FF7A45"/>
          </a:solidFill>
          <a:ln/>
        </p:spPr>
      </p:sp>
      <p:sp>
        <p:nvSpPr>
          <p:cNvPr id="13" name="Text 11"/>
          <p:cNvSpPr/>
          <p:nvPr/>
        </p:nvSpPr>
        <p:spPr>
          <a:xfrm>
            <a:off x="5607984" y="5504328"/>
            <a:ext cx="538910" cy="363071"/>
          </a:xfrm>
          <a:prstGeom prst="rect">
            <a:avLst/>
          </a:prstGeom>
          <a:noFill/>
          <a:ln/>
        </p:spPr>
        <p:txBody>
          <a:bodyPr wrap="square" lIns="0" tIns="0" rIns="0" bIns="0" rtlCol="0" anchor="t">
            <a:normAutofit/>
          </a:bodyPr>
          <a:lstStyle/>
          <a:p>
            <a:pPr marL="0" indent="0" algn="l">
              <a:lnSpc>
                <a:spcPts val="1330"/>
              </a:lnSpc>
              <a:buNone/>
            </a:pPr>
            <a:r>
              <a:rPr lang="en-US" sz="950" dirty="0">
                <a:solidFill>
                  <a:srgbClr val="BFB8DC"/>
                </a:solidFill>
                <a:latin typeface="Space Grotesk" pitchFamily="34" charset="0"/>
                <a:ea typeface="Space Grotesk" pitchFamily="34" charset="-122"/>
                <a:cs typeface="Space Grotesk" pitchFamily="34" charset="-120"/>
              </a:rPr>
              <a:t>Milstein</a:t>
            </a:r>
            <a:endParaRPr lang="en-US" sz="950" dirty="0"/>
          </a:p>
          <a:p>
            <a:pPr marL="0" indent="0" algn="l">
              <a:lnSpc>
                <a:spcPts val="1330"/>
              </a:lnSpc>
              <a:buNone/>
            </a:pPr>
            <a:r>
              <a:rPr lang="en-US" sz="950" dirty="0">
                <a:solidFill>
                  <a:srgbClr val="BFB8DC"/>
                </a:solidFill>
                <a:latin typeface="Space Grotesk" pitchFamily="34" charset="0"/>
                <a:ea typeface="Space Grotesk" pitchFamily="34" charset="-122"/>
                <a:cs typeface="Space Grotesk" pitchFamily="34" charset="-120"/>
              </a:rPr>
              <a:t>vs exact</a:t>
            </a:r>
            <a:endParaRPr lang="en-US" sz="950" dirty="0"/>
          </a:p>
        </p:txBody>
      </p:sp>
      <p:sp>
        <p:nvSpPr>
          <p:cNvPr id="14" name="Shape 12"/>
          <p:cNvSpPr/>
          <p:nvPr/>
        </p:nvSpPr>
        <p:spPr>
          <a:xfrm>
            <a:off x="8077200" y="3155206"/>
            <a:ext cx="3302000" cy="1422026"/>
          </a:xfrm>
          <a:prstGeom prst="roundRect">
            <a:avLst>
              <a:gd name="adj" fmla="val 8931"/>
            </a:avLst>
          </a:prstGeom>
          <a:solidFill>
            <a:srgbClr val="201A3D"/>
          </a:solidFill>
          <a:ln/>
        </p:spPr>
      </p:sp>
      <p:sp>
        <p:nvSpPr>
          <p:cNvPr id="15" name="Text 13"/>
          <p:cNvSpPr/>
          <p:nvPr/>
        </p:nvSpPr>
        <p:spPr>
          <a:xfrm>
            <a:off x="8255000" y="3333006"/>
            <a:ext cx="3034792" cy="10918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The scheme effect is </a:t>
            </a:r>
            <a:r>
              <a:rPr lang="en-US" sz="1200" b="1" dirty="0">
                <a:solidFill>
                  <a:srgbClr val="F2EFFA"/>
                </a:solidFill>
                <a:latin typeface="Space Grotesk" pitchFamily="34" charset="0"/>
                <a:ea typeface="Space Grotesk" pitchFamily="34" charset="-122"/>
                <a:cs typeface="Space Grotesk" pitchFamily="34" charset="-120"/>
              </a:rPr>
              <a:t>~50–90× smaller</a:t>
            </a:r>
            <a:r>
              <a:rPr lang="en-US" sz="1200" dirty="0">
                <a:solidFill>
                  <a:srgbClr val="F2EFFA"/>
                </a:solidFill>
                <a:latin typeface="Space Grotesk" pitchFamily="34" charset="0"/>
                <a:ea typeface="Space Grotesk" pitchFamily="34" charset="-122"/>
                <a:cs typeface="Space Grotesk" pitchFamily="34" charset="-120"/>
              </a:rPr>
              <a:t> than the noise of a single large run — detectable only because we used common random numbers to cancel that noise out.</a:t>
            </a:r>
            <a:endParaRPr lang="en-US" sz="1200" dirty="0"/>
          </a:p>
        </p:txBody>
      </p:sp>
      <p:sp>
        <p:nvSpPr>
          <p:cNvPr id="16" name="Shape 14"/>
          <p:cNvSpPr/>
          <p:nvPr/>
        </p:nvSpPr>
        <p:spPr>
          <a:xfrm>
            <a:off x="8077200" y="4704228"/>
            <a:ext cx="3302000" cy="1137771"/>
          </a:xfrm>
          <a:prstGeom prst="roundRect">
            <a:avLst>
              <a:gd name="adj" fmla="val 11162"/>
            </a:avLst>
          </a:prstGeom>
          <a:solidFill>
            <a:srgbClr val="201A3D"/>
          </a:solidFill>
          <a:ln/>
        </p:spPr>
      </p:sp>
      <p:sp>
        <p:nvSpPr>
          <p:cNvPr id="17" name="Text 15"/>
          <p:cNvSpPr/>
          <p:nvPr/>
        </p:nvSpPr>
        <p:spPr>
          <a:xfrm>
            <a:off x="8255000" y="4882028"/>
            <a:ext cx="3034792" cy="807571"/>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The paper's own Figs. 2–4 (its three schemes) plot </a:t>
            </a:r>
            <a:r>
              <a:rPr lang="en-US" sz="1100" b="1" dirty="0">
                <a:solidFill>
                  <a:srgbClr val="BFB8DC"/>
                </a:solidFill>
                <a:latin typeface="Space Grotesk" pitchFamily="34" charset="0"/>
                <a:ea typeface="Space Grotesk" pitchFamily="34" charset="-122"/>
                <a:cs typeface="Space Grotesk" pitchFamily="34" charset="-120"/>
              </a:rPr>
              <a:t>visually identical</a:t>
            </a:r>
            <a:r>
              <a:rPr lang="en-US" sz="1100" dirty="0">
                <a:solidFill>
                  <a:srgbClr val="BFB8DC"/>
                </a:solidFill>
                <a:latin typeface="Space Grotesk" pitchFamily="34" charset="0"/>
                <a:ea typeface="Space Grotesk" pitchFamily="34" charset="-122"/>
                <a:cs typeface="Space Grotesk" pitchFamily="34" charset="-120"/>
              </a:rPr>
              <a:t> sample points — consistent with sharing one set of random draws.</a:t>
            </a:r>
            <a:endParaRPr lang="en-US" sz="1100" dirty="0"/>
          </a:p>
        </p:txBody>
      </p:sp>
      <p:sp>
        <p:nvSpPr>
          <p:cNvPr id="18" name="Text 16"/>
          <p:cNvSpPr/>
          <p:nvPr/>
        </p:nvSpPr>
        <p:spPr>
          <a:xfrm>
            <a:off x="812800" y="1900988"/>
            <a:ext cx="711606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bias vs the exact scheme, drawn on the scale of a 65,536-path standard error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5 · CONFIRMING THE PAPER — OUR EXTENSION</a:t>
            </a:r>
            <a:endParaRPr lang="en-US" sz="1200" dirty="0"/>
          </a:p>
        </p:txBody>
      </p:sp>
      <p:sp>
        <p:nvSpPr>
          <p:cNvPr id="3" name="Text 1"/>
          <p:cNvSpPr/>
          <p:nvPr/>
        </p:nvSpPr>
        <p:spPr>
          <a:xfrm>
            <a:off x="812800" y="1229283"/>
            <a:ext cx="10883392" cy="416485"/>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2EFFA"/>
                </a:solidFill>
                <a:latin typeface="Fraunces" pitchFamily="34" charset="0"/>
                <a:ea typeface="Fraunces" pitchFamily="34" charset="-122"/>
                <a:cs typeface="Fraunces" pitchFamily="34" charset="-120"/>
              </a:rPr>
              <a:t>Milstein fixes the path, not the price</a:t>
            </a:r>
            <a:endParaRPr lang="en-US" sz="2800" dirty="0"/>
          </a:p>
        </p:txBody>
      </p:sp>
      <p:sp>
        <p:nvSpPr>
          <p:cNvPr id="4" name="Shape 2"/>
          <p:cNvSpPr/>
          <p:nvPr/>
        </p:nvSpPr>
        <p:spPr>
          <a:xfrm>
            <a:off x="812800" y="1823572"/>
            <a:ext cx="5207000" cy="2921000"/>
          </a:xfrm>
          <a:prstGeom prst="roundRect">
            <a:avLst>
              <a:gd name="adj" fmla="val 5217"/>
            </a:avLst>
          </a:prstGeom>
          <a:solidFill>
            <a:srgbClr val="201A3D"/>
          </a:solidFill>
          <a:ln/>
        </p:spPr>
      </p:sp>
      <p:pic>
        <p:nvPicPr>
          <p:cNvPr id="5" name="Image 0" descr="Log-log chart: Milstein's strong error falls much faster than Euler-Maruyama's as the number of steps increases"/>
          <p:cNvPicPr>
            <a:picLocks noChangeAspect="1"/>
          </p:cNvPicPr>
          <p:nvPr/>
        </p:nvPicPr>
        <p:blipFill>
          <a:blip r:embed="rId3"/>
          <a:srcRect l="-2500" r="-2500"/>
          <a:stretch/>
        </p:blipFill>
        <p:spPr>
          <a:xfrm>
            <a:off x="939800" y="1950572"/>
            <a:ext cx="5080000" cy="2540000"/>
          </a:xfrm>
          <a:prstGeom prst="rect">
            <a:avLst/>
          </a:prstGeom>
        </p:spPr>
      </p:pic>
      <p:sp>
        <p:nvSpPr>
          <p:cNvPr id="6" name="Text 3"/>
          <p:cNvSpPr/>
          <p:nvPr/>
        </p:nvSpPr>
        <p:spPr>
          <a:xfrm>
            <a:off x="1168400" y="1823572"/>
            <a:ext cx="1888377" cy="203200"/>
          </a:xfrm>
          <a:prstGeom prst="rect">
            <a:avLst/>
          </a:prstGeom>
          <a:noFill/>
          <a:ln/>
        </p:spPr>
        <p:txBody>
          <a:bodyPr wrap="square" lIns="0" tIns="0" rIns="0" bIns="0" rtlCol="0" anchor="t">
            <a:normAutofit/>
          </a:bodyPr>
          <a:lstStyle/>
          <a:p>
            <a:pPr marL="0" indent="0" algn="l">
              <a:lnSpc>
                <a:spcPts val="1400"/>
              </a:lnSpc>
              <a:buNone/>
            </a:pPr>
            <a:r>
              <a:rPr lang="en-US" sz="1000" b="1" dirty="0">
                <a:solidFill>
                  <a:srgbClr val="FF7A45"/>
                </a:solidFill>
                <a:latin typeface="Space Grotesk" pitchFamily="34" charset="0"/>
                <a:ea typeface="Space Grotesk" pitchFamily="34" charset="-122"/>
                <a:cs typeface="Space Grotesk" pitchFamily="34" charset="-120"/>
              </a:rPr>
              <a:t>Euler–Maruyama, slope ≈ 0.49</a:t>
            </a:r>
            <a:endParaRPr lang="en-US" sz="1000" dirty="0"/>
          </a:p>
        </p:txBody>
      </p:sp>
      <p:sp>
        <p:nvSpPr>
          <p:cNvPr id="7" name="Text 4"/>
          <p:cNvSpPr/>
          <p:nvPr/>
        </p:nvSpPr>
        <p:spPr>
          <a:xfrm>
            <a:off x="1168400" y="4388972"/>
            <a:ext cx="1331352" cy="203200"/>
          </a:xfrm>
          <a:prstGeom prst="rect">
            <a:avLst/>
          </a:prstGeom>
          <a:noFill/>
          <a:ln/>
        </p:spPr>
        <p:txBody>
          <a:bodyPr wrap="square" lIns="0" tIns="0" rIns="0" bIns="0" rtlCol="0" anchor="t">
            <a:normAutofit/>
          </a:bodyPr>
          <a:lstStyle/>
          <a:p>
            <a:pPr marL="0" indent="0" algn="l">
              <a:lnSpc>
                <a:spcPts val="1400"/>
              </a:lnSpc>
              <a:buNone/>
            </a:pPr>
            <a:r>
              <a:rPr lang="en-US" sz="1000" b="1" dirty="0">
                <a:solidFill>
                  <a:srgbClr val="3FD0E6"/>
                </a:solidFill>
                <a:latin typeface="Space Grotesk" pitchFamily="34" charset="0"/>
                <a:ea typeface="Space Grotesk" pitchFamily="34" charset="-122"/>
                <a:cs typeface="Space Grotesk" pitchFamily="34" charset="-120"/>
              </a:rPr>
              <a:t>Milstein, slope ≈ 0.97</a:t>
            </a:r>
            <a:endParaRPr lang="en-US" sz="1000" dirty="0"/>
          </a:p>
        </p:txBody>
      </p:sp>
      <p:sp>
        <p:nvSpPr>
          <p:cNvPr id="8" name="Text 5"/>
          <p:cNvSpPr/>
          <p:nvPr/>
        </p:nvSpPr>
        <p:spPr>
          <a:xfrm>
            <a:off x="1041400" y="4427072"/>
            <a:ext cx="462243"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4 steps</a:t>
            </a:r>
            <a:endParaRPr lang="en-US" sz="900" dirty="0"/>
          </a:p>
        </p:txBody>
      </p:sp>
      <p:sp>
        <p:nvSpPr>
          <p:cNvPr id="9" name="Text 6"/>
          <p:cNvSpPr/>
          <p:nvPr/>
        </p:nvSpPr>
        <p:spPr>
          <a:xfrm>
            <a:off x="5394699" y="4427072"/>
            <a:ext cx="574301"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512 steps</a:t>
            </a:r>
            <a:endParaRPr lang="en-US" sz="900" dirty="0"/>
          </a:p>
        </p:txBody>
      </p:sp>
      <p:sp>
        <p:nvSpPr>
          <p:cNvPr id="10" name="Text 7"/>
          <p:cNvSpPr/>
          <p:nvPr/>
        </p:nvSpPr>
        <p:spPr>
          <a:xfrm rot="16200000">
            <a:off x="800100" y="2954480"/>
            <a:ext cx="1320800" cy="184150"/>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8A83AB"/>
                </a:solidFill>
                <a:latin typeface="Space Grotesk" pitchFamily="34" charset="0"/>
                <a:ea typeface="Space Grotesk" pitchFamily="34" charset="-122"/>
                <a:cs typeface="Space Grotesk" pitchFamily="34" charset="-120"/>
              </a:rPr>
              <a:t>pathwise error (log)</a:t>
            </a:r>
            <a:endParaRPr lang="en-US" sz="900" dirty="0"/>
          </a:p>
        </p:txBody>
      </p:sp>
      <p:sp>
        <p:nvSpPr>
          <p:cNvPr id="11" name="Shape 8"/>
          <p:cNvSpPr/>
          <p:nvPr/>
        </p:nvSpPr>
        <p:spPr>
          <a:xfrm>
            <a:off x="6324600" y="2783917"/>
            <a:ext cx="5054600" cy="543485"/>
          </a:xfrm>
          <a:prstGeom prst="roundRect">
            <a:avLst>
              <a:gd name="adj" fmla="val 23368"/>
            </a:avLst>
          </a:prstGeom>
          <a:solidFill>
            <a:srgbClr val="201A3D"/>
          </a:solidFill>
          <a:ln/>
        </p:spPr>
      </p:sp>
      <p:sp>
        <p:nvSpPr>
          <p:cNvPr id="12" name="Text 9"/>
          <p:cNvSpPr/>
          <p:nvPr/>
        </p:nvSpPr>
        <p:spPr>
          <a:xfrm>
            <a:off x="6489700" y="2949017"/>
            <a:ext cx="4866132"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Strong order (pathwise): </a:t>
            </a:r>
            <a:r>
              <a:rPr lang="en-US" sz="1200" b="1" dirty="0">
                <a:solidFill>
                  <a:srgbClr val="F2EFFA"/>
                </a:solidFill>
                <a:latin typeface="Space Grotesk" pitchFamily="34" charset="0"/>
                <a:ea typeface="Space Grotesk" pitchFamily="34" charset="-122"/>
                <a:cs typeface="Space Grotesk" pitchFamily="34" charset="-120"/>
              </a:rPr>
              <a:t>Milstein 0.97</a:t>
            </a:r>
            <a:r>
              <a:rPr lang="en-US" sz="1200" dirty="0">
                <a:solidFill>
                  <a:srgbClr val="F2EFFA"/>
                </a:solidFill>
                <a:latin typeface="Space Grotesk" pitchFamily="34" charset="0"/>
                <a:ea typeface="Space Grotesk" pitchFamily="34" charset="-122"/>
                <a:cs typeface="Space Grotesk" pitchFamily="34" charset="-120"/>
              </a:rPr>
              <a:t> vs </a:t>
            </a:r>
            <a:r>
              <a:rPr lang="en-US" sz="1200" b="1" dirty="0">
                <a:solidFill>
                  <a:srgbClr val="F2EFFA"/>
                </a:solidFill>
                <a:latin typeface="Space Grotesk" pitchFamily="34" charset="0"/>
                <a:ea typeface="Space Grotesk" pitchFamily="34" charset="-122"/>
                <a:cs typeface="Space Grotesk" pitchFamily="34" charset="-120"/>
              </a:rPr>
              <a:t>Euler 0.49</a:t>
            </a:r>
            <a:endParaRPr lang="en-US" sz="1200" dirty="0"/>
          </a:p>
        </p:txBody>
      </p:sp>
      <p:sp>
        <p:nvSpPr>
          <p:cNvPr id="13" name="Shape 10"/>
          <p:cNvSpPr/>
          <p:nvPr/>
        </p:nvSpPr>
        <p:spPr>
          <a:xfrm>
            <a:off x="6324600" y="3441700"/>
            <a:ext cx="5054600" cy="543485"/>
          </a:xfrm>
          <a:prstGeom prst="roundRect">
            <a:avLst>
              <a:gd name="adj" fmla="val 23368"/>
            </a:avLst>
          </a:prstGeom>
          <a:solidFill>
            <a:srgbClr val="201A3D"/>
          </a:solidFill>
          <a:ln/>
        </p:spPr>
      </p:sp>
      <p:sp>
        <p:nvSpPr>
          <p:cNvPr id="14" name="Text 11"/>
          <p:cNvSpPr/>
          <p:nvPr/>
        </p:nvSpPr>
        <p:spPr>
          <a:xfrm>
            <a:off x="6489700" y="3606800"/>
            <a:ext cx="4866132"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Weak order (on the price): </a:t>
            </a:r>
            <a:r>
              <a:rPr lang="en-US" sz="1200" b="1" dirty="0">
                <a:solidFill>
                  <a:srgbClr val="F2EFFA"/>
                </a:solidFill>
                <a:latin typeface="Space Grotesk" pitchFamily="34" charset="0"/>
                <a:ea typeface="Space Grotesk" pitchFamily="34" charset="-122"/>
                <a:cs typeface="Space Grotesk" pitchFamily="34" charset="-120"/>
              </a:rPr>
              <a:t>both ≈ 1.0</a:t>
            </a:r>
            <a:endParaRPr lang="en-US" sz="1200" dirty="0"/>
          </a:p>
        </p:txBody>
      </p:sp>
      <p:sp>
        <p:nvSpPr>
          <p:cNvPr id="15" name="Text 12"/>
          <p:cNvSpPr/>
          <p:nvPr/>
        </p:nvSpPr>
        <p:spPr>
          <a:xfrm>
            <a:off x="6324600" y="4099483"/>
            <a:ext cx="5206238" cy="807571"/>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Milstein tracks each individual path 66× more precisely — but a European or barrier price only needs the </a:t>
            </a:r>
            <a:r>
              <a:rPr lang="en-US" sz="1100" i="1" dirty="0">
                <a:solidFill>
                  <a:srgbClr val="BFB8DC"/>
                </a:solidFill>
                <a:latin typeface="Space Grotesk" pitchFamily="34" charset="0"/>
                <a:ea typeface="Space Grotesk" pitchFamily="34" charset="-122"/>
                <a:cs typeface="Space Grotesk" pitchFamily="34" charset="-120"/>
              </a:rPr>
              <a:t>expectation</a:t>
            </a:r>
            <a:r>
              <a:rPr lang="en-US" sz="1100" dirty="0">
                <a:solidFill>
                  <a:srgbClr val="BFB8DC"/>
                </a:solidFill>
                <a:latin typeface="Space Grotesk" pitchFamily="34" charset="0"/>
                <a:ea typeface="Space Grotesk" pitchFamily="34" charset="-122"/>
                <a:cs typeface="Space Grotesk" pitchFamily="34" charset="-120"/>
              </a:rPr>
              <a:t> right, and there both schemes are equally first-order. That's why the price bias barely moves even though the paths themselves look very different.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22B"/>
        </a:solidFill>
        <a:effectLst/>
      </p:bgPr>
    </p:bg>
    <p:spTree>
      <p:nvGrpSpPr>
        <p:cNvPr id="1" name=""/>
        <p:cNvGrpSpPr/>
        <p:nvPr/>
      </p:nvGrpSpPr>
      <p:grpSpPr>
        <a:xfrm>
          <a:off x="0" y="0"/>
          <a:ext cx="0" cy="0"/>
          <a:chOff x="0" y="0"/>
          <a:chExt cx="0" cy="0"/>
        </a:xfrm>
      </p:grpSpPr>
      <p:sp>
        <p:nvSpPr>
          <p:cNvPr id="2" name="Shape 0"/>
          <p:cNvSpPr/>
          <p:nvPr/>
        </p:nvSpPr>
        <p:spPr>
          <a:xfrm>
            <a:off x="0" y="0"/>
            <a:ext cx="6985000" cy="6985000"/>
          </a:xfrm>
          <a:prstGeom prst="roundRect">
            <a:avLst>
              <a:gd name="adj" fmla="val 23273"/>
            </a:avLst>
          </a:prstGeom>
          <a:gradFill rotWithShape="1">
            <a:gsLst>
              <a:gs pos="0">
                <a:srgbClr val="FF7A45">
                  <a:alpha val="16000"/>
                </a:srgbClr>
              </a:gs>
              <a:gs pos="70000">
                <a:srgbClr val="FF7A45">
                  <a:alpha val="0"/>
                </a:srgbClr>
              </a:gs>
            </a:gsLst>
            <a:path path="circle">
              <a:fillToRect l="50000" t="50000" r="50000" b="50000"/>
            </a:path>
          </a:gradFill>
          <a:ln/>
        </p:spPr>
      </p:sp>
      <p:sp>
        <p:nvSpPr>
          <p:cNvPr id="3" name="Shape 1"/>
          <p:cNvSpPr/>
          <p:nvPr/>
        </p:nvSpPr>
        <p:spPr>
          <a:xfrm>
            <a:off x="4572000" y="-762000"/>
            <a:ext cx="7620000" cy="7620000"/>
          </a:xfrm>
          <a:prstGeom prst="roundRect">
            <a:avLst>
              <a:gd name="adj" fmla="val 21333"/>
            </a:avLst>
          </a:prstGeom>
          <a:gradFill rotWithShape="1">
            <a:gsLst>
              <a:gs pos="0">
                <a:srgbClr val="3FD0E6">
                  <a:alpha val="16000"/>
                </a:srgbClr>
              </a:gs>
              <a:gs pos="70000">
                <a:srgbClr val="3FD0E6">
                  <a:alpha val="0"/>
                </a:srgbClr>
              </a:gs>
            </a:gsLst>
            <a:path path="circle">
              <a:fillToRect l="50000" t="50000" r="50000" b="50000"/>
            </a:path>
          </a:gradFill>
          <a:ln/>
        </p:spPr>
      </p:sp>
      <p:pic>
        <p:nvPicPr>
          <p:cNvPr id="4" name="Image 0" descr="rect"/>
          <p:cNvPicPr>
            <a:picLocks noChangeAspect="1"/>
          </p:cNvPicPr>
          <p:nvPr/>
        </p:nvPicPr>
        <p:blipFill>
          <a:blip r:embed="rId3"/>
          <a:srcRect/>
          <a:stretch/>
        </p:blipFill>
        <p:spPr>
          <a:xfrm rot="21360000">
            <a:off x="-1" y="3048007"/>
            <a:ext cx="15240000" cy="31750"/>
          </a:xfrm>
          <a:prstGeom prst="rect">
            <a:avLst/>
          </a:prstGeom>
        </p:spPr>
      </p:pic>
      <p:sp>
        <p:nvSpPr>
          <p:cNvPr id="5" name="Text 2"/>
          <p:cNvSpPr/>
          <p:nvPr/>
        </p:nvSpPr>
        <p:spPr>
          <a:xfrm>
            <a:off x="812800" y="2717515"/>
            <a:ext cx="10883392" cy="256521"/>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7A45"/>
                </a:solidFill>
                <a:latin typeface="Space Grotesk" pitchFamily="34" charset="0"/>
                <a:ea typeface="Space Grotesk" pitchFamily="34" charset="-122"/>
                <a:cs typeface="Space Grotesk" pitchFamily="34" charset="-120"/>
              </a:rPr>
              <a:t>PART TWO</a:t>
            </a:r>
            <a:endParaRPr lang="en-US" sz="1300" dirty="0"/>
          </a:p>
        </p:txBody>
      </p:sp>
      <p:sp>
        <p:nvSpPr>
          <p:cNvPr id="6" name="Text 3"/>
          <p:cNvSpPr/>
          <p:nvPr/>
        </p:nvSpPr>
        <p:spPr>
          <a:xfrm>
            <a:off x="812800" y="2948645"/>
            <a:ext cx="10464800" cy="683746"/>
          </a:xfrm>
          <a:prstGeom prst="rect">
            <a:avLst/>
          </a:prstGeom>
          <a:noFill/>
          <a:ln/>
        </p:spPr>
        <p:txBody>
          <a:bodyPr wrap="square" lIns="0" tIns="0" rIns="0" bIns="0" rtlCol="0" anchor="t">
            <a:normAutofit/>
          </a:bodyPr>
          <a:lstStyle/>
          <a:p>
            <a:pPr marL="0" indent="0" algn="l">
              <a:lnSpc>
                <a:spcPts val="5184"/>
              </a:lnSpc>
              <a:buNone/>
            </a:pPr>
            <a:r>
              <a:rPr lang="en-US" sz="4800" b="1" dirty="0">
                <a:solidFill>
                  <a:srgbClr val="F2EFFA"/>
                </a:solidFill>
                <a:latin typeface="Fraunces" pitchFamily="34" charset="0"/>
                <a:ea typeface="Fraunces" pitchFamily="34" charset="-122"/>
                <a:cs typeface="Fraunces" pitchFamily="34" charset="-120"/>
              </a:rPr>
              <a:t>What we added</a:t>
            </a:r>
            <a:endParaRPr lang="en-US" sz="4800" dirty="0"/>
          </a:p>
        </p:txBody>
      </p:sp>
      <p:sp>
        <p:nvSpPr>
          <p:cNvPr id="7" name="Text 4"/>
          <p:cNvSpPr/>
          <p:nvPr/>
        </p:nvSpPr>
        <p:spPr>
          <a:xfrm>
            <a:off x="812800" y="3606986"/>
            <a:ext cx="784860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FB8DC"/>
                </a:solidFill>
                <a:latin typeface="Space Grotesk" pitchFamily="34" charset="0"/>
                <a:ea typeface="Space Grotesk" pitchFamily="34" charset="-122"/>
                <a:cs typeface="Space Grotesk" pitchFamily="34" charset="-120"/>
              </a:rPr>
              <a:t>Four variance-reduction techniques the paper never tried, benchmarked head to head on the same six scenarios.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100" b="1" kern="0" spc="150">
                <a:solidFill>
                  <a:srgbClr val="FF7043"/>
                </a:solidFill>
                <a:latin typeface="Aptos"/>
                <a:ea typeface="Space Grotesk" pitchFamily="34" charset="-122"/>
                <a:cs typeface="Space Grotesk" pitchFamily="34" charset="-120"/>
              </a:rPr>
              <a:t>6 / WHAT WE ADDED</a:t>
            </a:r>
            <a:endParaRPr lang="en-US" sz="1100" b="1" dirty="0">
              <a:solidFill>
                <a:srgbClr val="FF7043"/>
              </a:solidFill>
              <a:latin typeface="Aptos"/>
            </a:endParaRPr>
          </a:p>
        </p:txBody>
      </p:sp>
      <p:sp>
        <p:nvSpPr>
          <p:cNvPr id="3" name="Text 1"/>
          <p:cNvSpPr/>
          <p:nvPr/>
        </p:nvSpPr>
        <p:spPr>
          <a:xfrm>
            <a:off x="812800" y="1254683"/>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a:solidFill>
                  <a:srgbClr val="F2EFFA"/>
                </a:solidFill>
                <a:latin typeface="Aptos Display"/>
                <a:ea typeface="Fraunces" pitchFamily="34" charset="-122"/>
                <a:cs typeface="Fraunces" pitchFamily="34" charset="-120"/>
              </a:rPr>
              <a:t>How the control-variate experiment works</a:t>
            </a:r>
            <a:endParaRPr lang="en-US" sz="3000" b="1" dirty="0">
              <a:latin typeface="Aptos Display"/>
            </a:endParaRPr>
          </a:p>
        </p:txBody>
      </p:sp>
      <p:sp>
        <p:nvSpPr>
          <p:cNvPr id="4" name="Shape 2"/>
          <p:cNvSpPr/>
          <p:nvPr/>
        </p:nvSpPr>
        <p:spPr>
          <a:xfrm>
            <a:off x="812800" y="2650567"/>
            <a:ext cx="5716214" cy="2443256"/>
          </a:xfrm>
          <a:prstGeom prst="roundRect">
            <a:avLst>
              <a:gd name="adj" fmla="val 7277"/>
            </a:avLst>
          </a:prstGeom>
          <a:solidFill>
            <a:srgbClr val="201A3D"/>
          </a:solidFill>
          <a:ln/>
        </p:spPr>
      </p:sp>
      <p:sp>
        <p:nvSpPr>
          <p:cNvPr id="5" name="Text 3"/>
          <p:cNvSpPr/>
          <p:nvPr/>
        </p:nvSpPr>
        <p:spPr>
          <a:xfrm>
            <a:off x="2169046" y="2980767"/>
            <a:ext cx="3003628" cy="238685"/>
          </a:xfrm>
          <a:prstGeom prst="rect">
            <a:avLst/>
          </a:prstGeom>
          <a:noFill/>
          <a:ln/>
        </p:spPr>
        <p:txBody>
          <a:bodyPr wrap="square" lIns="0" tIns="0" rIns="0" bIns="0" rtlCol="0" anchor="t">
            <a:normAutofit/>
          </a:bodyPr>
          <a:lstStyle/>
          <a:p>
            <a:pPr marL="0" indent="0" algn="ctr">
              <a:lnSpc>
                <a:spcPts val="1680"/>
              </a:lnSpc>
              <a:buNone/>
            </a:pPr>
            <a:r>
              <a:rPr lang="en-US" sz="1100" kern="0" spc="50">
                <a:solidFill>
                  <a:srgbClr val="BFB8DC"/>
                </a:solidFill>
                <a:latin typeface="Aptos"/>
                <a:ea typeface="Space Grotesk" pitchFamily="34" charset="-122"/>
                <a:cs typeface="Space Grotesk" pitchFamily="34" charset="-120"/>
              </a:rPr>
              <a:t>CONTROL-VARIATE CORRECTION</a:t>
            </a:r>
            <a:endParaRPr lang="en-US" sz="1100" dirty="0">
              <a:latin typeface="Aptos"/>
            </a:endParaRPr>
          </a:p>
        </p:txBody>
      </p:sp>
      <p:sp>
        <p:nvSpPr>
          <p:cNvPr id="6" name="Text 4"/>
          <p:cNvSpPr/>
          <p:nvPr/>
        </p:nvSpPr>
        <p:spPr>
          <a:xfrm>
            <a:off x="1041400" y="3321050"/>
            <a:ext cx="5259014" cy="914400"/>
          </a:xfrm>
          <a:prstGeom prst="rect">
            <a:avLst/>
          </a:prstGeom>
          <a:noFill/>
          <a:ln/>
        </p:spPr>
        <p:txBody>
          <a:bodyPr wrap="square" lIns="0" tIns="0" rIns="0" bIns="0" rtlCol="0" anchor="t">
            <a:normAutofit/>
          </a:bodyPr>
          <a:lstStyle/>
          <a:p>
            <a:pPr marL="0" indent="0" algn="ctr">
              <a:lnSpc>
                <a:spcPts val="7000"/>
              </a:lnSpc>
              <a:buNone/>
            </a:pPr>
            <a:r>
              <a:rPr lang="es-ES" sz="2700" b="1">
                <a:solidFill>
                  <a:srgbClr val="FF7043"/>
                </a:solidFill>
                <a:latin typeface="Aptos Display"/>
                <a:ea typeface="JetBrains Mono" pitchFamily="34" charset="-122"/>
                <a:cs typeface="JetBrains Mono" pitchFamily="34" charset="-120"/>
              </a:rPr>
              <a:t>Ycv = Y - b(X - E[X])</a:t>
            </a:r>
            <a:endParaRPr lang="en-US" sz="2700" b="1" dirty="0">
              <a:solidFill>
                <a:srgbClr val="FF7043"/>
              </a:solidFill>
              <a:latin typeface="Aptos Display"/>
            </a:endParaRPr>
          </a:p>
        </p:txBody>
      </p:sp>
      <p:sp>
        <p:nvSpPr>
          <p:cNvPr id="7" name="Text 5"/>
          <p:cNvSpPr/>
          <p:nvPr/>
        </p:nvSpPr>
        <p:spPr>
          <a:xfrm>
            <a:off x="1067163" y="4337050"/>
            <a:ext cx="5207488" cy="451971"/>
          </a:xfrm>
          <a:prstGeom prst="rect">
            <a:avLst/>
          </a:prstGeom>
          <a:noFill/>
          <a:ln/>
        </p:spPr>
        <p:txBody>
          <a:bodyPr wrap="square" lIns="0" tIns="0" rIns="0" bIns="0" rtlCol="0" anchor="t">
            <a:normAutofit/>
          </a:bodyPr>
          <a:lstStyle/>
          <a:p>
            <a:pPr marL="0" indent="0" algn="ctr">
              <a:lnSpc>
                <a:spcPts val="1680"/>
              </a:lnSpc>
              <a:buNone/>
            </a:pPr>
            <a:r>
              <a:rPr lang="en-US" sz="1200">
                <a:solidFill>
                  <a:srgbClr val="F2EFFA"/>
                </a:solidFill>
                <a:latin typeface="Aptos"/>
                <a:ea typeface="Space Grotesk" pitchFamily="34" charset="-122"/>
                <a:cs typeface="Space Grotesk" pitchFamily="34" charset="-120"/>
              </a:rPr>
              <a:t>Y is the target payoff; X is a related payoff whose exact mean E[X] is known.</a:t>
            </a:r>
            <a:endParaRPr lang="en-US" sz="1200" dirty="0">
              <a:latin typeface="Aptos"/>
            </a:endParaRPr>
          </a:p>
        </p:txBody>
      </p:sp>
      <p:sp>
        <p:nvSpPr>
          <p:cNvPr id="8" name="Shape 6"/>
          <p:cNvSpPr/>
          <p:nvPr/>
        </p:nvSpPr>
        <p:spPr>
          <a:xfrm>
            <a:off x="6783014" y="2265735"/>
            <a:ext cx="4596186" cy="1051485"/>
          </a:xfrm>
          <a:prstGeom prst="roundRect">
            <a:avLst>
              <a:gd name="adj" fmla="val 12078"/>
            </a:avLst>
          </a:prstGeom>
          <a:solidFill>
            <a:srgbClr val="201A3D"/>
          </a:solidFill>
          <a:ln/>
        </p:spPr>
      </p:sp>
      <p:sp>
        <p:nvSpPr>
          <p:cNvPr id="9" name="Text 7"/>
          <p:cNvSpPr/>
          <p:nvPr/>
        </p:nvSpPr>
        <p:spPr>
          <a:xfrm>
            <a:off x="6960814" y="2443535"/>
            <a:ext cx="4367804" cy="292100"/>
          </a:xfrm>
          <a:prstGeom prst="rect">
            <a:avLst/>
          </a:prstGeom>
          <a:noFill/>
          <a:ln/>
        </p:spPr>
        <p:txBody>
          <a:bodyPr wrap="square" lIns="0" tIns="0" rIns="0" bIns="0" rtlCol="0" anchor="t">
            <a:normAutofit/>
          </a:bodyPr>
          <a:lstStyle/>
          <a:p>
            <a:pPr marL="0" indent="0" algn="l">
              <a:lnSpc>
                <a:spcPts val="2100"/>
              </a:lnSpc>
              <a:buNone/>
            </a:pPr>
            <a:r>
              <a:rPr lang="en-US" sz="1500" b="1">
                <a:solidFill>
                  <a:srgbClr val="32C5DD"/>
                </a:solidFill>
                <a:latin typeface="Aptos Display"/>
                <a:ea typeface="JetBrains Mono" pitchFamily="34" charset="-122"/>
                <a:cs typeface="JetBrains Mono" pitchFamily="34" charset="-120"/>
              </a:rPr>
              <a:t>1 / PILOT</a:t>
            </a:r>
            <a:endParaRPr lang="en-US" sz="1500" b="1" dirty="0">
              <a:solidFill>
                <a:srgbClr val="32C5DD"/>
              </a:solidFill>
              <a:latin typeface="Aptos Display"/>
            </a:endParaRPr>
          </a:p>
        </p:txBody>
      </p:sp>
      <p:sp>
        <p:nvSpPr>
          <p:cNvPr id="10" name="Text 8"/>
          <p:cNvSpPr/>
          <p:nvPr/>
        </p:nvSpPr>
        <p:spPr>
          <a:xfrm>
            <a:off x="6960814" y="2748335"/>
            <a:ext cx="4367804" cy="416485"/>
          </a:xfrm>
          <a:prstGeom prst="rect">
            <a:avLst/>
          </a:prstGeom>
          <a:noFill/>
          <a:ln/>
        </p:spPr>
        <p:txBody>
          <a:bodyPr wrap="square" lIns="0" tIns="0" rIns="0" bIns="0" rtlCol="0" anchor="t">
            <a:normAutofit/>
          </a:bodyPr>
          <a:lstStyle/>
          <a:p>
            <a:pPr marL="0" indent="0" algn="l">
              <a:lnSpc>
                <a:spcPts val="1540"/>
              </a:lnSpc>
              <a:buNone/>
            </a:pPr>
            <a:r>
              <a:rPr lang="en-US" sz="1000">
                <a:solidFill>
                  <a:srgbClr val="BFB8DC"/>
                </a:solidFill>
                <a:latin typeface="Aptos"/>
                <a:ea typeface="Space Grotesk" pitchFamily="34" charset="-122"/>
                <a:cs typeface="Space Grotesk" pitchFamily="34" charset="-120"/>
              </a:rPr>
              <a:t>A small independent run estimates b from paired target and control payoffs.</a:t>
            </a:r>
            <a:endParaRPr lang="en-US" sz="1000" dirty="0">
              <a:latin typeface="Aptos"/>
            </a:endParaRPr>
          </a:p>
        </p:txBody>
      </p:sp>
      <p:sp>
        <p:nvSpPr>
          <p:cNvPr id="11" name="Shape 9"/>
          <p:cNvSpPr/>
          <p:nvPr/>
        </p:nvSpPr>
        <p:spPr>
          <a:xfrm>
            <a:off x="6783014" y="3444218"/>
            <a:ext cx="4596186" cy="855943"/>
          </a:xfrm>
          <a:prstGeom prst="roundRect">
            <a:avLst>
              <a:gd name="adj" fmla="val 14837"/>
            </a:avLst>
          </a:prstGeom>
          <a:solidFill>
            <a:srgbClr val="201A3D"/>
          </a:solidFill>
          <a:ln/>
        </p:spPr>
      </p:sp>
      <p:sp>
        <p:nvSpPr>
          <p:cNvPr id="12" name="Text 10"/>
          <p:cNvSpPr/>
          <p:nvPr/>
        </p:nvSpPr>
        <p:spPr>
          <a:xfrm>
            <a:off x="6960814" y="3622018"/>
            <a:ext cx="4367804" cy="292100"/>
          </a:xfrm>
          <a:prstGeom prst="rect">
            <a:avLst/>
          </a:prstGeom>
          <a:noFill/>
          <a:ln/>
        </p:spPr>
        <p:txBody>
          <a:bodyPr wrap="square" lIns="0" tIns="0" rIns="0" bIns="0" rtlCol="0" anchor="t">
            <a:normAutofit/>
          </a:bodyPr>
          <a:lstStyle/>
          <a:p>
            <a:pPr marL="0" indent="0" algn="l">
              <a:lnSpc>
                <a:spcPts val="2100"/>
              </a:lnSpc>
              <a:buNone/>
            </a:pPr>
            <a:r>
              <a:rPr lang="en-US" sz="1500" b="1">
                <a:solidFill>
                  <a:srgbClr val="32C5DD"/>
                </a:solidFill>
                <a:latin typeface="Aptos Display"/>
                <a:ea typeface="JetBrains Mono" pitchFamily="34" charset="-122"/>
                <a:cs typeface="JetBrains Mono" pitchFamily="34" charset="-120"/>
              </a:rPr>
              <a:t>2 / PRODUCTION</a:t>
            </a:r>
            <a:endParaRPr lang="en-US" sz="1500" b="1" dirty="0">
              <a:solidFill>
                <a:srgbClr val="32C5DD"/>
              </a:solidFill>
              <a:latin typeface="Aptos Display"/>
            </a:endParaRPr>
          </a:p>
        </p:txBody>
      </p:sp>
      <p:sp>
        <p:nvSpPr>
          <p:cNvPr id="13" name="Text 11"/>
          <p:cNvSpPr/>
          <p:nvPr/>
        </p:nvSpPr>
        <p:spPr>
          <a:xfrm>
            <a:off x="6960814" y="3926818"/>
            <a:ext cx="4367804" cy="220943"/>
          </a:xfrm>
          <a:prstGeom prst="rect">
            <a:avLst/>
          </a:prstGeom>
          <a:noFill/>
          <a:ln/>
        </p:spPr>
        <p:txBody>
          <a:bodyPr wrap="square" lIns="0" tIns="0" rIns="0" bIns="0" rtlCol="0" anchor="t">
            <a:normAutofit/>
          </a:bodyPr>
          <a:lstStyle/>
          <a:p>
            <a:pPr marL="0" indent="0" algn="l">
              <a:lnSpc>
                <a:spcPts val="1540"/>
              </a:lnSpc>
              <a:buNone/>
            </a:pPr>
            <a:r>
              <a:rPr lang="en-US" sz="1000">
                <a:solidFill>
                  <a:srgbClr val="BFB8DC"/>
                </a:solidFill>
                <a:latin typeface="Aptos"/>
                <a:ea typeface="Space Grotesk" pitchFamily="34" charset="-122"/>
                <a:cs typeface="Space Grotesk" pitchFamily="34" charset="-120"/>
              </a:rPr>
              <a:t>Target and control payoffs are computed from the same simulated paths.</a:t>
            </a:r>
            <a:endParaRPr lang="en-US" sz="1000" dirty="0">
              <a:latin typeface="Aptos"/>
            </a:endParaRPr>
          </a:p>
        </p:txBody>
      </p:sp>
      <p:sp>
        <p:nvSpPr>
          <p:cNvPr id="14" name="Shape 12"/>
          <p:cNvSpPr/>
          <p:nvPr/>
        </p:nvSpPr>
        <p:spPr>
          <a:xfrm>
            <a:off x="6783014" y="4427165"/>
            <a:ext cx="4596186" cy="1051485"/>
          </a:xfrm>
          <a:prstGeom prst="roundRect">
            <a:avLst>
              <a:gd name="adj" fmla="val 12078"/>
            </a:avLst>
          </a:prstGeom>
          <a:solidFill>
            <a:srgbClr val="201A3D"/>
          </a:solidFill>
          <a:ln/>
        </p:spPr>
      </p:sp>
      <p:sp>
        <p:nvSpPr>
          <p:cNvPr id="15" name="Text 13"/>
          <p:cNvSpPr/>
          <p:nvPr/>
        </p:nvSpPr>
        <p:spPr>
          <a:xfrm>
            <a:off x="6960814" y="4604965"/>
            <a:ext cx="4367804" cy="292100"/>
          </a:xfrm>
          <a:prstGeom prst="rect">
            <a:avLst/>
          </a:prstGeom>
          <a:noFill/>
          <a:ln/>
        </p:spPr>
        <p:txBody>
          <a:bodyPr wrap="square" lIns="0" tIns="0" rIns="0" bIns="0" rtlCol="0" anchor="t">
            <a:normAutofit/>
          </a:bodyPr>
          <a:lstStyle/>
          <a:p>
            <a:pPr marL="0" indent="0" algn="l">
              <a:lnSpc>
                <a:spcPts val="2100"/>
              </a:lnSpc>
              <a:buNone/>
            </a:pPr>
            <a:r>
              <a:rPr lang="en-US" sz="1500" b="1">
                <a:solidFill>
                  <a:srgbClr val="32C5DD"/>
                </a:solidFill>
                <a:latin typeface="Aptos Display"/>
                <a:ea typeface="JetBrains Mono" pitchFamily="34" charset="-122"/>
                <a:cs typeface="JetBrains Mono" pitchFamily="34" charset="-120"/>
              </a:rPr>
              <a:t>3 / VERIFY</a:t>
            </a:r>
            <a:endParaRPr lang="en-US" sz="1500" b="1" dirty="0">
              <a:solidFill>
                <a:srgbClr val="32C5DD"/>
              </a:solidFill>
              <a:latin typeface="Aptos Display"/>
            </a:endParaRPr>
          </a:p>
        </p:txBody>
      </p:sp>
      <p:sp>
        <p:nvSpPr>
          <p:cNvPr id="16" name="Text 14"/>
          <p:cNvSpPr/>
          <p:nvPr/>
        </p:nvSpPr>
        <p:spPr>
          <a:xfrm>
            <a:off x="6960814" y="4909765"/>
            <a:ext cx="4367804" cy="416485"/>
          </a:xfrm>
          <a:prstGeom prst="rect">
            <a:avLst/>
          </a:prstGeom>
          <a:noFill/>
          <a:ln/>
        </p:spPr>
        <p:txBody>
          <a:bodyPr wrap="square" lIns="0" tIns="0" rIns="0" bIns="0" rtlCol="0" anchor="t">
            <a:normAutofit/>
          </a:bodyPr>
          <a:lstStyle/>
          <a:p>
            <a:pPr marL="0" indent="0" algn="l">
              <a:lnSpc>
                <a:spcPts val="1540"/>
              </a:lnSpc>
              <a:buNone/>
            </a:pPr>
            <a:r>
              <a:rPr lang="en-US" sz="1000">
                <a:solidFill>
                  <a:srgbClr val="BFB8DC"/>
                </a:solidFill>
                <a:latin typeface="Aptos"/>
                <a:ea typeface="Space Grotesk" pitchFamily="34" charset="-122"/>
                <a:cs typeface="Space Grotesk" pitchFamily="34" charset="-120"/>
              </a:rPr>
              <a:t>VRF = Var(Y) / Var(Ycv). A larger value means more Monte Carlo noise was removed.</a:t>
            </a:r>
            <a:endParaRPr lang="en-US" sz="1000" dirty="0">
              <a:latin typeface="Aptos"/>
            </a:endParaRPr>
          </a:p>
        </p:txBody>
      </p:sp>
      <p:sp>
        <p:nvSpPr>
          <p:cNvPr id="17" name="Text 15"/>
          <p:cNvSpPr/>
          <p:nvPr/>
        </p:nvSpPr>
        <p:spPr>
          <a:xfrm>
            <a:off x="812800" y="6238317"/>
            <a:ext cx="7209651" cy="238685"/>
          </a:xfrm>
          <a:prstGeom prst="rect">
            <a:avLst/>
          </a:prstGeom>
          <a:noFill/>
          <a:ln/>
        </p:spPr>
        <p:txBody>
          <a:bodyPr wrap="square" lIns="0" tIns="0" rIns="0" bIns="0" rtlCol="0" anchor="t">
            <a:normAutofit/>
          </a:bodyPr>
          <a:lstStyle/>
          <a:p>
            <a:pPr marL="0" indent="0" algn="l">
              <a:lnSpc>
                <a:spcPts val="1680"/>
              </a:lnSpc>
              <a:buNone/>
            </a:pPr>
            <a:r>
              <a:rPr lang="en-US" sz="1000">
                <a:solidFill>
                  <a:srgbClr val="8A83AB"/>
                </a:solidFill>
                <a:latin typeface="Aptos"/>
                <a:ea typeface="Space Grotesk" pitchFamily="34" charset="-122"/>
                <a:cs typeface="Space Grotesk" pitchFamily="34" charset="-120"/>
              </a:rPr>
              <a:t>Independent pilot and production seeds keep the estimate unbiased; pilot cost is included in runtime.</a:t>
            </a:r>
            <a:endParaRPr lang="en-US" sz="1000" dirty="0">
              <a:latin typeface="Aptos"/>
            </a:endParaRPr>
          </a:p>
        </p:txBody>
      </p:sp>
    </p:spTree>
    <p:extLst>
      <p:ext uri="{BB962C8B-B14F-4D97-AF65-F5344CB8AC3E}">
        <p14:creationId xmlns:p14="http://schemas.microsoft.com/office/powerpoint/2010/main" val="4240402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7A45"/>
                </a:solidFill>
                <a:latin typeface="Space Grotesk" pitchFamily="34" charset="0"/>
                <a:ea typeface="Space Grotesk" pitchFamily="34" charset="-122"/>
                <a:cs typeface="Space Grotesk" pitchFamily="34" charset="-120"/>
              </a:rPr>
              <a:t>6 · WHAT WE ADDED</a:t>
            </a:r>
            <a:endParaRPr lang="en-US" sz="1200" dirty="0"/>
          </a:p>
        </p:txBody>
      </p:sp>
      <p:sp>
        <p:nvSpPr>
          <p:cNvPr id="3" name="Text 1"/>
          <p:cNvSpPr/>
          <p:nvPr/>
        </p:nvSpPr>
        <p:spPr>
          <a:xfrm>
            <a:off x="812800" y="1254683"/>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The arithmetic Asian, solved almost exactly</a:t>
            </a:r>
            <a:endParaRPr lang="en-US" sz="3000" dirty="0"/>
          </a:p>
        </p:txBody>
      </p:sp>
      <p:sp>
        <p:nvSpPr>
          <p:cNvPr id="4" name="Shape 2"/>
          <p:cNvSpPr/>
          <p:nvPr/>
        </p:nvSpPr>
        <p:spPr>
          <a:xfrm>
            <a:off x="812800" y="2650567"/>
            <a:ext cx="5716214" cy="2443256"/>
          </a:xfrm>
          <a:prstGeom prst="roundRect">
            <a:avLst>
              <a:gd name="adj" fmla="val 7277"/>
            </a:avLst>
          </a:prstGeom>
          <a:solidFill>
            <a:srgbClr val="201A3D"/>
          </a:solidFill>
          <a:ln/>
        </p:spPr>
      </p:sp>
      <p:sp>
        <p:nvSpPr>
          <p:cNvPr id="5" name="Text 3"/>
          <p:cNvSpPr/>
          <p:nvPr/>
        </p:nvSpPr>
        <p:spPr>
          <a:xfrm>
            <a:off x="2169046" y="2980767"/>
            <a:ext cx="3003628" cy="238685"/>
          </a:xfrm>
          <a:prstGeom prst="rect">
            <a:avLst/>
          </a:prstGeom>
          <a:noFill/>
          <a:ln/>
        </p:spPr>
        <p:txBody>
          <a:bodyPr wrap="square" lIns="0" tIns="0" rIns="0" bIns="0" rtlCol="0" anchor="t">
            <a:normAutofit/>
          </a:bodyPr>
          <a:lstStyle/>
          <a:p>
            <a:pPr marL="0" indent="0" algn="ctr">
              <a:lnSpc>
                <a:spcPts val="1680"/>
              </a:lnSpc>
              <a:buNone/>
            </a:pPr>
            <a:r>
              <a:rPr lang="en-US" sz="1200" kern="0" spc="50" dirty="0">
                <a:solidFill>
                  <a:srgbClr val="BFB8DC"/>
                </a:solidFill>
                <a:latin typeface="Space Grotesk" pitchFamily="34" charset="0"/>
                <a:ea typeface="Space Grotesk" pitchFamily="34" charset="-122"/>
                <a:cs typeface="Space Grotesk" pitchFamily="34" charset="-120"/>
              </a:rPr>
              <a:t>within-run variance reduction factor</a:t>
            </a:r>
            <a:endParaRPr lang="en-US" sz="1200" dirty="0"/>
          </a:p>
        </p:txBody>
      </p:sp>
      <p:sp>
        <p:nvSpPr>
          <p:cNvPr id="6" name="Text 4"/>
          <p:cNvSpPr/>
          <p:nvPr/>
        </p:nvSpPr>
        <p:spPr>
          <a:xfrm>
            <a:off x="2572055" y="3321050"/>
            <a:ext cx="2197704" cy="914400"/>
          </a:xfrm>
          <a:prstGeom prst="rect">
            <a:avLst/>
          </a:prstGeom>
          <a:noFill/>
          <a:ln/>
        </p:spPr>
        <p:txBody>
          <a:bodyPr wrap="square" lIns="0" tIns="0" rIns="0" bIns="0" rtlCol="0" anchor="t">
            <a:normAutofit/>
          </a:bodyPr>
          <a:lstStyle/>
          <a:p>
            <a:pPr marL="0" indent="0" algn="ctr">
              <a:lnSpc>
                <a:spcPts val="7000"/>
              </a:lnSpc>
              <a:buNone/>
            </a:pPr>
            <a:r>
              <a:rPr lang="en-US" sz="7000" b="1" dirty="0">
                <a:solidFill>
                  <a:srgbClr val="FF7A45"/>
                </a:solidFill>
                <a:latin typeface="JetBrains Mono" pitchFamily="34" charset="0"/>
                <a:ea typeface="JetBrains Mono" pitchFamily="34" charset="-122"/>
                <a:cs typeface="JetBrains Mono" pitchFamily="34" charset="-120"/>
              </a:rPr>
              <a:t>976×</a:t>
            </a:r>
            <a:endParaRPr lang="en-US" sz="7000" dirty="0"/>
          </a:p>
        </p:txBody>
      </p:sp>
      <p:sp>
        <p:nvSpPr>
          <p:cNvPr id="7" name="Text 5"/>
          <p:cNvSpPr/>
          <p:nvPr/>
        </p:nvSpPr>
        <p:spPr>
          <a:xfrm>
            <a:off x="1067163" y="4337050"/>
            <a:ext cx="5207488" cy="45197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2EFFA"/>
                </a:solidFill>
                <a:latin typeface="Space Grotesk" pitchFamily="34" charset="0"/>
                <a:ea typeface="Space Grotesk" pitchFamily="34" charset="-122"/>
                <a:cs typeface="Space Grotesk" pitchFamily="34" charset="-120"/>
              </a:rPr>
              <a:t>using the geometric Asian — which we can price exactly — as the control</a:t>
            </a:r>
            <a:endParaRPr lang="en-US" sz="1200" dirty="0"/>
          </a:p>
        </p:txBody>
      </p:sp>
      <p:sp>
        <p:nvSpPr>
          <p:cNvPr id="8" name="Shape 6"/>
          <p:cNvSpPr/>
          <p:nvPr/>
        </p:nvSpPr>
        <p:spPr>
          <a:xfrm>
            <a:off x="6783014" y="2265735"/>
            <a:ext cx="4596186" cy="1051485"/>
          </a:xfrm>
          <a:prstGeom prst="roundRect">
            <a:avLst>
              <a:gd name="adj" fmla="val 12078"/>
            </a:avLst>
          </a:prstGeom>
          <a:solidFill>
            <a:srgbClr val="201A3D"/>
          </a:solidFill>
          <a:ln/>
        </p:spPr>
      </p:sp>
      <p:sp>
        <p:nvSpPr>
          <p:cNvPr id="9" name="Text 7"/>
          <p:cNvSpPr/>
          <p:nvPr/>
        </p:nvSpPr>
        <p:spPr>
          <a:xfrm>
            <a:off x="6960814" y="2443535"/>
            <a:ext cx="43678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FD0E6"/>
                </a:solidFill>
                <a:latin typeface="JetBrains Mono" pitchFamily="34" charset="0"/>
                <a:ea typeface="JetBrains Mono" pitchFamily="34" charset="-122"/>
                <a:cs typeface="JetBrains Mono" pitchFamily="34" charset="-120"/>
              </a:rPr>
              <a:t>ρ = 0.9995</a:t>
            </a:r>
            <a:endParaRPr lang="en-US" sz="1500" dirty="0"/>
          </a:p>
        </p:txBody>
      </p:sp>
      <p:sp>
        <p:nvSpPr>
          <p:cNvPr id="10" name="Text 8"/>
          <p:cNvSpPr/>
          <p:nvPr/>
        </p:nvSpPr>
        <p:spPr>
          <a:xfrm>
            <a:off x="6960814" y="2748335"/>
            <a:ext cx="4367804" cy="416485"/>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correlation between the arithmetic and geometric average — nearly a straight line</a:t>
            </a:r>
            <a:endParaRPr lang="en-US" sz="1100" dirty="0"/>
          </a:p>
        </p:txBody>
      </p:sp>
      <p:sp>
        <p:nvSpPr>
          <p:cNvPr id="11" name="Shape 9"/>
          <p:cNvSpPr/>
          <p:nvPr/>
        </p:nvSpPr>
        <p:spPr>
          <a:xfrm>
            <a:off x="6783014" y="3444218"/>
            <a:ext cx="4596186" cy="855943"/>
          </a:xfrm>
          <a:prstGeom prst="roundRect">
            <a:avLst>
              <a:gd name="adj" fmla="val 14837"/>
            </a:avLst>
          </a:prstGeom>
          <a:solidFill>
            <a:srgbClr val="201A3D"/>
          </a:solidFill>
          <a:ln/>
        </p:spPr>
      </p:sp>
      <p:sp>
        <p:nvSpPr>
          <p:cNvPr id="12" name="Text 10"/>
          <p:cNvSpPr/>
          <p:nvPr/>
        </p:nvSpPr>
        <p:spPr>
          <a:xfrm>
            <a:off x="6960814" y="3622018"/>
            <a:ext cx="43678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FD0E6"/>
                </a:solidFill>
                <a:latin typeface="JetBrains Mono" pitchFamily="34" charset="0"/>
                <a:ea typeface="JetBrains Mono" pitchFamily="34" charset="-122"/>
                <a:cs typeface="JetBrains Mono" pitchFamily="34" charset="-120"/>
              </a:rPr>
              <a:t>3.162776 ± 0.000361</a:t>
            </a:r>
            <a:endParaRPr lang="en-US" sz="1500" dirty="0"/>
          </a:p>
        </p:txBody>
      </p:sp>
      <p:sp>
        <p:nvSpPr>
          <p:cNvPr id="13" name="Text 11"/>
          <p:cNvSpPr/>
          <p:nvPr/>
        </p:nvSpPr>
        <p:spPr>
          <a:xfrm>
            <a:off x="6960814" y="3926818"/>
            <a:ext cx="436780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control-variate price at N=65,536, R=20</a:t>
            </a:r>
            <a:endParaRPr lang="en-US" sz="1100" dirty="0"/>
          </a:p>
        </p:txBody>
      </p:sp>
      <p:sp>
        <p:nvSpPr>
          <p:cNvPr id="14" name="Shape 12"/>
          <p:cNvSpPr/>
          <p:nvPr/>
        </p:nvSpPr>
        <p:spPr>
          <a:xfrm>
            <a:off x="6783014" y="4427165"/>
            <a:ext cx="4596186" cy="1051485"/>
          </a:xfrm>
          <a:prstGeom prst="roundRect">
            <a:avLst>
              <a:gd name="adj" fmla="val 12078"/>
            </a:avLst>
          </a:prstGeom>
          <a:solidFill>
            <a:srgbClr val="201A3D"/>
          </a:solidFill>
          <a:ln/>
        </p:spPr>
      </p:sp>
      <p:sp>
        <p:nvSpPr>
          <p:cNvPr id="15" name="Text 13"/>
          <p:cNvSpPr/>
          <p:nvPr/>
        </p:nvSpPr>
        <p:spPr>
          <a:xfrm>
            <a:off x="6960814" y="4604965"/>
            <a:ext cx="43678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FD0E6"/>
                </a:solidFill>
                <a:latin typeface="JetBrains Mono" pitchFamily="34" charset="0"/>
                <a:ea typeface="JetBrains Mono" pitchFamily="34" charset="-122"/>
                <a:cs typeface="JetBrains Mono" pitchFamily="34" charset="-120"/>
              </a:rPr>
              <a:t>0.06 SE</a:t>
            </a:r>
            <a:endParaRPr lang="en-US" sz="1500" dirty="0"/>
          </a:p>
        </p:txBody>
      </p:sp>
      <p:sp>
        <p:nvSpPr>
          <p:cNvPr id="16" name="Text 14"/>
          <p:cNvSpPr/>
          <p:nvPr/>
        </p:nvSpPr>
        <p:spPr>
          <a:xfrm>
            <a:off x="6960814" y="4909765"/>
            <a:ext cx="4367804" cy="416485"/>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from an independent 2,000,000-path plain-MC reference (3.162517 ± 0.008511)</a:t>
            </a:r>
            <a:endParaRPr lang="en-US" sz="1100" dirty="0"/>
          </a:p>
        </p:txBody>
      </p:sp>
      <p:sp>
        <p:nvSpPr>
          <p:cNvPr id="17" name="Text 15"/>
          <p:cNvSpPr/>
          <p:nvPr/>
        </p:nvSpPr>
        <p:spPr>
          <a:xfrm>
            <a:off x="812800" y="6238317"/>
            <a:ext cx="7209651"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There is no closed form for the arithmetic average — this is as close to one as Monte Carlo gets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100" b="1" kern="0" spc="150">
                <a:solidFill>
                  <a:srgbClr val="FF7043"/>
                </a:solidFill>
                <a:latin typeface="Aptos"/>
                <a:ea typeface="Space Grotesk" pitchFamily="34" charset="-122"/>
                <a:cs typeface="Space Grotesk" pitchFamily="34" charset="-120"/>
              </a:rPr>
              <a:t>6 / WHAT WE ADDED</a:t>
            </a:r>
            <a:endParaRPr lang="en-US" sz="1100" b="1" dirty="0">
              <a:solidFill>
                <a:srgbClr val="FF7043"/>
              </a:solidFill>
              <a:latin typeface="Aptos"/>
            </a:endParaRPr>
          </a:p>
        </p:txBody>
      </p:sp>
      <p:sp>
        <p:nvSpPr>
          <p:cNvPr id="3" name="Text 1"/>
          <p:cNvSpPr/>
          <p:nvPr/>
        </p:nvSpPr>
        <p:spPr>
          <a:xfrm>
            <a:off x="812800" y="1203883"/>
            <a:ext cx="10883392" cy="416485"/>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F2EFFA"/>
                </a:solidFill>
                <a:latin typeface="Aptos Display"/>
                <a:ea typeface="Fraunces" pitchFamily="34" charset="-122"/>
                <a:cs typeface="Fraunces" pitchFamily="34" charset="-120"/>
              </a:rPr>
              <a:t>Arithmetic Asian: theory and simulation agree</a:t>
            </a:r>
            <a:endParaRPr lang="en-US" sz="2800" b="1" dirty="0">
              <a:latin typeface="Aptos Display"/>
            </a:endParaRPr>
          </a:p>
        </p:txBody>
      </p:sp>
      <p:sp>
        <p:nvSpPr>
          <p:cNvPr id="4" name="Shape 2"/>
          <p:cNvSpPr/>
          <p:nvPr/>
        </p:nvSpPr>
        <p:spPr>
          <a:xfrm>
            <a:off x="812800" y="1772766"/>
            <a:ext cx="5207000" cy="2794000"/>
          </a:xfrm>
          <a:prstGeom prst="roundRect">
            <a:avLst>
              <a:gd name="adj" fmla="val 5455"/>
            </a:avLst>
          </a:prstGeom>
          <a:solidFill>
            <a:srgbClr val="201A3D"/>
          </a:solidFill>
          <a:ln/>
        </p:spPr>
      </p:sp>
      <p:pic>
        <p:nvPicPr>
          <p:cNvPr id="20" name="Picture 19">
            <a:extLst>
              <a:ext uri="{FF2B5EF4-FFF2-40B4-BE49-F238E27FC236}">
                <a16:creationId xmlns:a16="http://schemas.microsoft.com/office/drawing/2014/main" id="{3A28F869-6345-4425-B816-A6F0087C222D}"/>
              </a:ext>
            </a:extLst>
          </p:cNvPr>
          <p:cNvPicPr>
            <a:picLocks/>
          </p:cNvPicPr>
          <p:nvPr/>
        </p:nvPicPr>
        <p:blipFill>
          <a:blip r:embed="rId3"/>
          <a:stretch>
            <a:fillRect/>
          </a:stretch>
        </p:blipFill>
        <p:spPr>
          <a:xfrm>
            <a:off x="939800" y="1899766"/>
            <a:ext cx="5080000" cy="2387600"/>
          </a:xfrm>
          <a:prstGeom prst="rect">
            <a:avLst/>
          </a:prstGeom>
        </p:spPr>
      </p:pic>
      <p:sp>
        <p:nvSpPr>
          <p:cNvPr id="6" name="Text 3"/>
          <p:cNvSpPr/>
          <p:nvPr/>
        </p:nvSpPr>
        <p:spPr>
          <a:xfrm>
            <a:off x="1104900" y="1810866"/>
            <a:ext cx="1940990" cy="194235"/>
          </a:xfrm>
          <a:prstGeom prst="rect">
            <a:avLst/>
          </a:prstGeom>
          <a:noFill/>
          <a:ln/>
        </p:spPr>
        <p:txBody>
          <a:bodyPr wrap="square" lIns="0" tIns="0" rIns="0" bIns="0" rtlCol="0" anchor="t">
            <a:normAutofit/>
          </a:bodyPr>
          <a:lstStyle/>
          <a:p>
            <a:pPr marL="0" indent="0" algn="l">
              <a:lnSpc>
                <a:spcPts val="1330"/>
              </a:lnSpc>
              <a:buNone/>
            </a:pPr>
            <a:r>
              <a:rPr lang="en-US" sz="900">
                <a:solidFill>
                  <a:srgbClr val="32C5DD"/>
                </a:solidFill>
                <a:latin typeface="Aptos"/>
                <a:ea typeface="Space Grotesk" pitchFamily="34" charset="-122"/>
                <a:cs typeface="Space Grotesk" pitchFamily="34" charset="-120"/>
              </a:rPr>
              <a:t>observed within-run VRF</a:t>
            </a:r>
            <a:endParaRPr lang="en-US" sz="900" dirty="0">
              <a:solidFill>
                <a:srgbClr val="32C5DD"/>
              </a:solidFill>
              <a:latin typeface="Aptos"/>
            </a:endParaRPr>
          </a:p>
        </p:txBody>
      </p:sp>
      <p:sp>
        <p:nvSpPr>
          <p:cNvPr id="7" name="Text 4"/>
          <p:cNvSpPr/>
          <p:nvPr/>
        </p:nvSpPr>
        <p:spPr>
          <a:xfrm>
            <a:off x="1104900" y="1988666"/>
            <a:ext cx="2139417" cy="194235"/>
          </a:xfrm>
          <a:prstGeom prst="rect">
            <a:avLst/>
          </a:prstGeom>
          <a:noFill/>
          <a:ln/>
        </p:spPr>
        <p:txBody>
          <a:bodyPr wrap="square" lIns="0" tIns="0" rIns="0" bIns="0" rtlCol="0" anchor="t">
            <a:normAutofit/>
          </a:bodyPr>
          <a:lstStyle/>
          <a:p>
            <a:pPr marL="0" indent="0" algn="l">
              <a:lnSpc>
                <a:spcPts val="1330"/>
              </a:lnSpc>
              <a:buNone/>
            </a:pPr>
            <a:r>
              <a:rPr lang="en-US" sz="900">
                <a:solidFill>
                  <a:srgbClr val="FF7043"/>
                </a:solidFill>
                <a:latin typeface="Aptos"/>
                <a:ea typeface="Space Grotesk" pitchFamily="34" charset="-122"/>
                <a:cs typeface="Space Grotesk" pitchFamily="34" charset="-120"/>
              </a:rPr>
              <a:t>theory 1 / (1 - rho^2)</a:t>
            </a:r>
            <a:endParaRPr lang="en-US" sz="900" dirty="0">
              <a:solidFill>
                <a:srgbClr val="FF7043"/>
              </a:solidFill>
              <a:latin typeface="Aptos"/>
            </a:endParaRPr>
          </a:p>
        </p:txBody>
      </p:sp>
      <p:sp>
        <p:nvSpPr>
          <p:cNvPr id="8" name="Text 5"/>
          <p:cNvSpPr/>
          <p:nvPr/>
        </p:nvSpPr>
        <p:spPr>
          <a:xfrm>
            <a:off x="3352800" y="3360266"/>
            <a:ext cx="2131241" cy="194235"/>
          </a:xfrm>
          <a:prstGeom prst="rect">
            <a:avLst/>
          </a:prstGeom>
          <a:noFill/>
          <a:ln/>
        </p:spPr>
        <p:txBody>
          <a:bodyPr wrap="square" lIns="0" tIns="0" rIns="0" bIns="0" rtlCol="0" anchor="t">
            <a:normAutofit/>
          </a:bodyPr>
          <a:lstStyle/>
          <a:p>
            <a:pPr marL="0" indent="0" algn="l">
              <a:lnSpc>
                <a:spcPts val="1330"/>
              </a:lnSpc>
              <a:buNone/>
            </a:pPr>
            <a:r>
              <a:rPr lang="en-US" sz="900" b="1">
                <a:solidFill>
                  <a:srgbClr val="FF7043"/>
                </a:solidFill>
                <a:latin typeface="Aptos"/>
                <a:ea typeface="Space Grotesk" pitchFamily="34" charset="-122"/>
                <a:cs typeface="Space Grotesk" pitchFamily="34" charset="-120"/>
              </a:rPr>
              <a:t>theory 976.6x</a:t>
            </a:r>
            <a:endParaRPr lang="en-US" sz="900" b="1" dirty="0">
              <a:solidFill>
                <a:srgbClr val="FF7043"/>
              </a:solidFill>
              <a:latin typeface="Aptos"/>
            </a:endParaRPr>
          </a:p>
        </p:txBody>
      </p:sp>
      <p:sp>
        <p:nvSpPr>
          <p:cNvPr id="9" name="Text 6"/>
          <p:cNvSpPr/>
          <p:nvPr/>
        </p:nvSpPr>
        <p:spPr>
          <a:xfrm>
            <a:off x="3352800" y="3931766"/>
            <a:ext cx="2051409" cy="194235"/>
          </a:xfrm>
          <a:prstGeom prst="rect">
            <a:avLst/>
          </a:prstGeom>
          <a:noFill/>
          <a:ln/>
        </p:spPr>
        <p:txBody>
          <a:bodyPr wrap="square" lIns="0" tIns="0" rIns="0" bIns="0" rtlCol="0" anchor="t">
            <a:normAutofit/>
          </a:bodyPr>
          <a:lstStyle/>
          <a:p>
            <a:pPr marL="0" indent="0" algn="l">
              <a:lnSpc>
                <a:spcPts val="1330"/>
              </a:lnSpc>
              <a:buNone/>
            </a:pPr>
            <a:r>
              <a:rPr lang="en-US" sz="900" b="1">
                <a:solidFill>
                  <a:srgbClr val="32C5DD"/>
                </a:solidFill>
                <a:latin typeface="Aptos"/>
                <a:ea typeface="Space Grotesk" pitchFamily="34" charset="-122"/>
                <a:cs typeface="Space Grotesk" pitchFamily="34" charset="-120"/>
              </a:rPr>
              <a:t>observed 975.7x</a:t>
            </a:r>
            <a:endParaRPr lang="en-US" sz="900" b="1" dirty="0">
              <a:solidFill>
                <a:srgbClr val="32C5DD"/>
              </a:solidFill>
              <a:latin typeface="Aptos"/>
            </a:endParaRPr>
          </a:p>
        </p:txBody>
      </p:sp>
      <p:sp>
        <p:nvSpPr>
          <p:cNvPr id="10" name="Text 7"/>
          <p:cNvSpPr/>
          <p:nvPr/>
        </p:nvSpPr>
        <p:spPr>
          <a:xfrm>
            <a:off x="1003300" y="4287366"/>
            <a:ext cx="404626" cy="185364"/>
          </a:xfrm>
          <a:prstGeom prst="rect">
            <a:avLst/>
          </a:prstGeom>
          <a:noFill/>
          <a:ln/>
        </p:spPr>
        <p:txBody>
          <a:bodyPr wrap="square" lIns="0" tIns="0" rIns="0" bIns="0" rtlCol="0" anchor="t">
            <a:normAutofit/>
          </a:bodyPr>
          <a:lstStyle/>
          <a:p>
            <a:pPr marL="0" indent="0" algn="l">
              <a:lnSpc>
                <a:spcPts val="1260"/>
              </a:lnSpc>
              <a:buNone/>
            </a:pPr>
            <a:r>
              <a:rPr lang="en-US" sz="800">
                <a:solidFill>
                  <a:srgbClr val="8A83AB"/>
                </a:solidFill>
                <a:latin typeface="Aptos"/>
                <a:ea typeface="Space Grotesk" pitchFamily="34" charset="-122"/>
                <a:cs typeface="Space Grotesk" pitchFamily="34" charset="-120"/>
              </a:rPr>
              <a:t>N=256</a:t>
            </a:r>
            <a:endParaRPr lang="en-US" sz="800" dirty="0">
              <a:latin typeface="Aptos"/>
            </a:endParaRPr>
          </a:p>
        </p:txBody>
      </p:sp>
      <p:sp>
        <p:nvSpPr>
          <p:cNvPr id="11" name="Text 8"/>
          <p:cNvSpPr/>
          <p:nvPr/>
        </p:nvSpPr>
        <p:spPr>
          <a:xfrm>
            <a:off x="5397220" y="4287366"/>
            <a:ext cx="571780" cy="185364"/>
          </a:xfrm>
          <a:prstGeom prst="rect">
            <a:avLst/>
          </a:prstGeom>
          <a:noFill/>
          <a:ln/>
        </p:spPr>
        <p:txBody>
          <a:bodyPr wrap="square" lIns="0" tIns="0" rIns="0" bIns="0" rtlCol="0" anchor="t">
            <a:normAutofit/>
          </a:bodyPr>
          <a:lstStyle/>
          <a:p>
            <a:pPr marL="0" indent="0" algn="l">
              <a:lnSpc>
                <a:spcPts val="1260"/>
              </a:lnSpc>
              <a:buNone/>
            </a:pPr>
            <a:r>
              <a:rPr lang="en-US" sz="800">
                <a:solidFill>
                  <a:srgbClr val="8A83AB"/>
                </a:solidFill>
                <a:latin typeface="Aptos"/>
                <a:ea typeface="Space Grotesk" pitchFamily="34" charset="-122"/>
                <a:cs typeface="Space Grotesk" pitchFamily="34" charset="-120"/>
              </a:rPr>
              <a:t>N=65,536</a:t>
            </a:r>
            <a:endParaRPr lang="en-US" sz="800" dirty="0">
              <a:latin typeface="Aptos"/>
            </a:endParaRPr>
          </a:p>
        </p:txBody>
      </p:sp>
      <p:sp>
        <p:nvSpPr>
          <p:cNvPr id="12" name="Shape 9"/>
          <p:cNvSpPr/>
          <p:nvPr/>
        </p:nvSpPr>
        <p:spPr>
          <a:xfrm>
            <a:off x="6299200" y="2661952"/>
            <a:ext cx="5080000" cy="835585"/>
          </a:xfrm>
          <a:prstGeom prst="roundRect">
            <a:avLst>
              <a:gd name="adj" fmla="val 15199"/>
            </a:avLst>
          </a:prstGeom>
          <a:solidFill>
            <a:srgbClr val="201A3D"/>
          </a:solidFill>
          <a:ln/>
        </p:spPr>
      </p:sp>
      <p:sp>
        <p:nvSpPr>
          <p:cNvPr id="13" name="Text 10"/>
          <p:cNvSpPr/>
          <p:nvPr/>
        </p:nvSpPr>
        <p:spPr>
          <a:xfrm>
            <a:off x="6464300" y="2827052"/>
            <a:ext cx="4892294" cy="309843"/>
          </a:xfrm>
          <a:prstGeom prst="rect">
            <a:avLst/>
          </a:prstGeom>
          <a:noFill/>
          <a:ln/>
        </p:spPr>
        <p:txBody>
          <a:bodyPr wrap="square" lIns="0" tIns="0" rIns="0" bIns="0" rtlCol="0" anchor="t">
            <a:normAutofit/>
          </a:bodyPr>
          <a:lstStyle/>
          <a:p>
            <a:pPr marL="0" indent="0" algn="l">
              <a:lnSpc>
                <a:spcPts val="2240"/>
              </a:lnSpc>
              <a:buNone/>
            </a:pPr>
            <a:r>
              <a:rPr lang="en-US" b="1">
                <a:solidFill>
                  <a:srgbClr val="32C5DD"/>
                </a:solidFill>
                <a:latin typeface="Aptos Display"/>
                <a:ea typeface="JetBrains Mono" pitchFamily="34" charset="-122"/>
                <a:cs typeface="JetBrains Mono" pitchFamily="34" charset="-120"/>
              </a:rPr>
              <a:t>976x</a:t>
            </a:r>
            <a:endParaRPr lang="en-US" b="1" dirty="0">
              <a:solidFill>
                <a:srgbClr val="32C5DD"/>
              </a:solidFill>
              <a:latin typeface="Aptos Display"/>
            </a:endParaRPr>
          </a:p>
        </p:txBody>
      </p:sp>
      <p:sp>
        <p:nvSpPr>
          <p:cNvPr id="14" name="Text 11"/>
          <p:cNvSpPr/>
          <p:nvPr/>
        </p:nvSpPr>
        <p:spPr>
          <a:xfrm>
            <a:off x="6464300" y="3136900"/>
            <a:ext cx="4892294" cy="220943"/>
          </a:xfrm>
          <a:prstGeom prst="rect">
            <a:avLst/>
          </a:prstGeom>
          <a:noFill/>
          <a:ln/>
        </p:spPr>
        <p:txBody>
          <a:bodyPr wrap="square" lIns="0" tIns="0" rIns="0" bIns="0" rtlCol="0" anchor="t">
            <a:normAutofit/>
          </a:bodyPr>
          <a:lstStyle/>
          <a:p>
            <a:pPr marL="0" indent="0" algn="l">
              <a:lnSpc>
                <a:spcPts val="1540"/>
              </a:lnSpc>
              <a:buNone/>
            </a:pPr>
            <a:r>
              <a:rPr lang="en-US" sz="1000">
                <a:solidFill>
                  <a:srgbClr val="BFB8DC"/>
                </a:solidFill>
                <a:latin typeface="Aptos"/>
                <a:ea typeface="Space Grotesk" pitchFamily="34" charset="-122"/>
                <a:cs typeface="Space Grotesk" pitchFamily="34" charset="-120"/>
              </a:rPr>
              <a:t>variance reduction at full scale</a:t>
            </a:r>
            <a:endParaRPr lang="en-US" sz="1000" dirty="0">
              <a:latin typeface="Aptos"/>
            </a:endParaRPr>
          </a:p>
        </p:txBody>
      </p:sp>
      <p:sp>
        <p:nvSpPr>
          <p:cNvPr id="15" name="Shape 12"/>
          <p:cNvSpPr/>
          <p:nvPr/>
        </p:nvSpPr>
        <p:spPr>
          <a:xfrm>
            <a:off x="6299200" y="3611848"/>
            <a:ext cx="5080000" cy="835585"/>
          </a:xfrm>
          <a:prstGeom prst="roundRect">
            <a:avLst>
              <a:gd name="adj" fmla="val 15199"/>
            </a:avLst>
          </a:prstGeom>
          <a:solidFill>
            <a:srgbClr val="201A3D"/>
          </a:solidFill>
          <a:ln/>
        </p:spPr>
      </p:sp>
      <p:sp>
        <p:nvSpPr>
          <p:cNvPr id="16" name="Text 13"/>
          <p:cNvSpPr/>
          <p:nvPr/>
        </p:nvSpPr>
        <p:spPr>
          <a:xfrm>
            <a:off x="6464300" y="3776948"/>
            <a:ext cx="4892294" cy="309843"/>
          </a:xfrm>
          <a:prstGeom prst="rect">
            <a:avLst/>
          </a:prstGeom>
          <a:noFill/>
          <a:ln/>
        </p:spPr>
        <p:txBody>
          <a:bodyPr wrap="square" lIns="0" tIns="0" rIns="0" bIns="0" rtlCol="0" anchor="t">
            <a:normAutofit/>
          </a:bodyPr>
          <a:lstStyle/>
          <a:p>
            <a:pPr marL="0" indent="0" algn="l">
              <a:lnSpc>
                <a:spcPts val="2240"/>
              </a:lnSpc>
              <a:buNone/>
            </a:pPr>
            <a:r>
              <a:rPr lang="en-US" b="1">
                <a:solidFill>
                  <a:srgbClr val="32C5DD"/>
                </a:solidFill>
                <a:latin typeface="Aptos Display"/>
                <a:ea typeface="JetBrains Mono" pitchFamily="34" charset="-122"/>
                <a:cs typeface="JetBrains Mono" pitchFamily="34" charset="-120"/>
              </a:rPr>
              <a:t>rho = 0.9995</a:t>
            </a:r>
            <a:endParaRPr lang="en-US" b="1" dirty="0">
              <a:solidFill>
                <a:srgbClr val="32C5DD"/>
              </a:solidFill>
              <a:latin typeface="Aptos Display"/>
            </a:endParaRPr>
          </a:p>
        </p:txBody>
      </p:sp>
      <p:sp>
        <p:nvSpPr>
          <p:cNvPr id="17" name="Text 14"/>
          <p:cNvSpPr/>
          <p:nvPr/>
        </p:nvSpPr>
        <p:spPr>
          <a:xfrm>
            <a:off x="6464300" y="4086783"/>
            <a:ext cx="4892294" cy="220943"/>
          </a:xfrm>
          <a:prstGeom prst="rect">
            <a:avLst/>
          </a:prstGeom>
          <a:noFill/>
          <a:ln/>
        </p:spPr>
        <p:txBody>
          <a:bodyPr wrap="square" lIns="0" tIns="0" rIns="0" bIns="0" rtlCol="0" anchor="t">
            <a:normAutofit/>
          </a:bodyPr>
          <a:lstStyle/>
          <a:p>
            <a:pPr marL="0" indent="0" algn="l">
              <a:lnSpc>
                <a:spcPts val="1540"/>
              </a:lnSpc>
              <a:buNone/>
            </a:pPr>
            <a:r>
              <a:rPr lang="en-US" sz="1000">
                <a:solidFill>
                  <a:srgbClr val="BFB8DC"/>
                </a:solidFill>
                <a:latin typeface="Aptos"/>
                <a:ea typeface="Space Grotesk" pitchFamily="34" charset="-122"/>
                <a:cs typeface="Space Grotesk" pitchFamily="34" charset="-120"/>
              </a:rPr>
              <a:t>arithmetic and geometric payoffs move almost together</a:t>
            </a:r>
            <a:endParaRPr lang="en-US" sz="1000" dirty="0">
              <a:latin typeface="Aptos"/>
            </a:endParaRPr>
          </a:p>
        </p:txBody>
      </p:sp>
      <p:sp>
        <p:nvSpPr>
          <p:cNvPr id="18" name="Text 15"/>
          <p:cNvSpPr/>
          <p:nvPr/>
        </p:nvSpPr>
        <p:spPr>
          <a:xfrm>
            <a:off x="6299200" y="4561731"/>
            <a:ext cx="5232400" cy="416485"/>
          </a:xfrm>
          <a:prstGeom prst="rect">
            <a:avLst/>
          </a:prstGeom>
          <a:noFill/>
          <a:ln/>
        </p:spPr>
        <p:txBody>
          <a:bodyPr wrap="square" lIns="0" tIns="0" rIns="0" bIns="0" rtlCol="0" anchor="t">
            <a:normAutofit/>
          </a:bodyPr>
          <a:lstStyle/>
          <a:p>
            <a:pPr marL="0" indent="0" algn="l">
              <a:lnSpc>
                <a:spcPts val="1540"/>
              </a:lnSpc>
              <a:buNone/>
            </a:pPr>
            <a:r>
              <a:rPr lang="en-US" sz="1000">
                <a:solidFill>
                  <a:srgbClr val="8A83AB"/>
                </a:solidFill>
                <a:latin typeface="Aptos"/>
                <a:ea typeface="Space Grotesk" pitchFamily="34" charset="-122"/>
                <a:cs typeface="Space Grotesk" pitchFamily="34" charset="-120"/>
              </a:rPr>
              <a:t>Measured and theoretical reduction agree across every N: the geometric control removes about 99.90% of payoff variance.</a:t>
            </a:r>
            <a:endParaRPr lang="en-US" sz="1000" dirty="0">
              <a:latin typeface="Aptos"/>
            </a:endParaRPr>
          </a:p>
        </p:txBody>
      </p:sp>
    </p:spTree>
    <p:extLst>
      <p:ext uri="{BB962C8B-B14F-4D97-AF65-F5344CB8AC3E}">
        <p14:creationId xmlns:p14="http://schemas.microsoft.com/office/powerpoint/2010/main" val="3717058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7A45"/>
                </a:solidFill>
                <a:latin typeface="Space Grotesk" pitchFamily="34" charset="0"/>
                <a:ea typeface="Space Grotesk" pitchFamily="34" charset="-122"/>
                <a:cs typeface="Space Grotesk" pitchFamily="34" charset="-120"/>
              </a:rPr>
              <a:t>6 · WHAT WE ADDED</a:t>
            </a:r>
            <a:endParaRPr lang="en-US" sz="1200" dirty="0"/>
          </a:p>
        </p:txBody>
      </p:sp>
      <p:sp>
        <p:nvSpPr>
          <p:cNvPr id="3" name="Text 1"/>
          <p:cNvSpPr/>
          <p:nvPr/>
        </p:nvSpPr>
        <p:spPr>
          <a:xfrm>
            <a:off x="812800" y="1203883"/>
            <a:ext cx="10883392" cy="416485"/>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2EFFA"/>
                </a:solidFill>
                <a:latin typeface="Fraunces" pitchFamily="34" charset="0"/>
                <a:ea typeface="Fraunces" pitchFamily="34" charset="-122"/>
                <a:cs typeface="Fraunces" pitchFamily="34" charset="-120"/>
              </a:rPr>
              <a:t>A control variate lives or dies on correlation</a:t>
            </a:r>
            <a:endParaRPr lang="en-US" sz="2800" dirty="0"/>
          </a:p>
        </p:txBody>
      </p:sp>
      <p:sp>
        <p:nvSpPr>
          <p:cNvPr id="4" name="Shape 2"/>
          <p:cNvSpPr/>
          <p:nvPr/>
        </p:nvSpPr>
        <p:spPr>
          <a:xfrm>
            <a:off x="812800" y="1772766"/>
            <a:ext cx="5207000" cy="2794000"/>
          </a:xfrm>
          <a:prstGeom prst="roundRect">
            <a:avLst>
              <a:gd name="adj" fmla="val 5455"/>
            </a:avLst>
          </a:prstGeom>
          <a:solidFill>
            <a:srgbClr val="201A3D"/>
          </a:solidFill>
          <a:ln/>
        </p:spPr>
      </p:sp>
      <p:pic>
        <p:nvPicPr>
          <p:cNvPr id="5" name="Image 0" descr="VRF equals one over one minus rho squared, a curve that stays low until rho approaches 1, then rises sharply"/>
          <p:cNvPicPr>
            <a:picLocks noChangeAspect="1"/>
          </p:cNvPicPr>
          <p:nvPr/>
        </p:nvPicPr>
        <p:blipFill>
          <a:blip r:embed="rId3"/>
          <a:srcRect l="-5851" r="-5851"/>
          <a:stretch/>
        </p:blipFill>
        <p:spPr>
          <a:xfrm>
            <a:off x="939800" y="1899766"/>
            <a:ext cx="5080000" cy="2387600"/>
          </a:xfrm>
          <a:prstGeom prst="rect">
            <a:avLst/>
          </a:prstGeom>
        </p:spPr>
      </p:pic>
      <p:sp>
        <p:nvSpPr>
          <p:cNvPr id="6" name="Text 3"/>
          <p:cNvSpPr/>
          <p:nvPr/>
        </p:nvSpPr>
        <p:spPr>
          <a:xfrm>
            <a:off x="863600" y="3436466"/>
            <a:ext cx="447021"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VRF=10</a:t>
            </a:r>
            <a:endParaRPr lang="en-US" sz="900" dirty="0"/>
          </a:p>
        </p:txBody>
      </p:sp>
      <p:sp>
        <p:nvSpPr>
          <p:cNvPr id="7" name="Text 4"/>
          <p:cNvSpPr/>
          <p:nvPr/>
        </p:nvSpPr>
        <p:spPr>
          <a:xfrm>
            <a:off x="863600" y="2731616"/>
            <a:ext cx="520233"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VRF=100</a:t>
            </a:r>
            <a:endParaRPr lang="en-US" sz="900" dirty="0"/>
          </a:p>
        </p:txBody>
      </p:sp>
      <p:sp>
        <p:nvSpPr>
          <p:cNvPr id="8" name="Text 5"/>
          <p:cNvSpPr/>
          <p:nvPr/>
        </p:nvSpPr>
        <p:spPr>
          <a:xfrm>
            <a:off x="863600" y="2014066"/>
            <a:ext cx="620339"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VRF=1,000</a:t>
            </a:r>
            <a:endParaRPr lang="en-US" sz="900" dirty="0"/>
          </a:p>
        </p:txBody>
      </p:sp>
      <p:sp>
        <p:nvSpPr>
          <p:cNvPr id="9" name="Text 6"/>
          <p:cNvSpPr/>
          <p:nvPr/>
        </p:nvSpPr>
        <p:spPr>
          <a:xfrm>
            <a:off x="1041400" y="4287366"/>
            <a:ext cx="262404"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ρ=0</a:t>
            </a:r>
            <a:endParaRPr lang="en-US" sz="900" dirty="0"/>
          </a:p>
        </p:txBody>
      </p:sp>
      <p:sp>
        <p:nvSpPr>
          <p:cNvPr id="10" name="Text 7"/>
          <p:cNvSpPr/>
          <p:nvPr/>
        </p:nvSpPr>
        <p:spPr>
          <a:xfrm>
            <a:off x="5701366" y="4287366"/>
            <a:ext cx="280334"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ρ→1</a:t>
            </a:r>
            <a:endParaRPr lang="en-US" sz="900" dirty="0"/>
          </a:p>
        </p:txBody>
      </p:sp>
      <p:sp>
        <p:nvSpPr>
          <p:cNvPr id="11" name="Text 8"/>
          <p:cNvSpPr/>
          <p:nvPr/>
        </p:nvSpPr>
        <p:spPr>
          <a:xfrm>
            <a:off x="3987800" y="3817466"/>
            <a:ext cx="1831340" cy="194235"/>
          </a:xfrm>
          <a:prstGeom prst="rect">
            <a:avLst/>
          </a:prstGeom>
          <a:noFill/>
          <a:ln/>
        </p:spPr>
        <p:txBody>
          <a:bodyPr wrap="square" lIns="0" tIns="0" rIns="0" bIns="0" rtlCol="0" anchor="t">
            <a:normAutofit/>
          </a:bodyPr>
          <a:lstStyle/>
          <a:p>
            <a:pPr marL="0" indent="0" algn="l">
              <a:lnSpc>
                <a:spcPts val="1330"/>
              </a:lnSpc>
              <a:buNone/>
            </a:pPr>
            <a:r>
              <a:rPr lang="en-US" sz="950" b="1" dirty="0">
                <a:solidFill>
                  <a:srgbClr val="FF7A45"/>
                </a:solidFill>
                <a:latin typeface="Space Grotesk" pitchFamily="34" charset="0"/>
                <a:ea typeface="Space Grotesk" pitchFamily="34" charset="-122"/>
                <a:cs typeface="Space Grotesk" pitchFamily="34" charset="-120"/>
              </a:rPr>
              <a:t>deep barrier, ρ=0.83 → 3.2×</a:t>
            </a:r>
            <a:endParaRPr lang="en-US" sz="950" dirty="0"/>
          </a:p>
        </p:txBody>
      </p:sp>
      <p:sp>
        <p:nvSpPr>
          <p:cNvPr id="12" name="Text 9"/>
          <p:cNvSpPr/>
          <p:nvPr/>
        </p:nvSpPr>
        <p:spPr>
          <a:xfrm>
            <a:off x="1765300" y="3220566"/>
            <a:ext cx="2092960" cy="194235"/>
          </a:xfrm>
          <a:prstGeom prst="rect">
            <a:avLst/>
          </a:prstGeom>
          <a:noFill/>
          <a:ln/>
        </p:spPr>
        <p:txBody>
          <a:bodyPr wrap="square" lIns="0" tIns="0" rIns="0" bIns="0" rtlCol="0" anchor="t">
            <a:normAutofit/>
          </a:bodyPr>
          <a:lstStyle/>
          <a:p>
            <a:pPr marL="0" indent="0" algn="l">
              <a:lnSpc>
                <a:spcPts val="1330"/>
              </a:lnSpc>
              <a:buNone/>
            </a:pPr>
            <a:r>
              <a:rPr lang="en-US" sz="950" b="1" dirty="0">
                <a:solidFill>
                  <a:srgbClr val="3FD0E6"/>
                </a:solidFill>
                <a:latin typeface="Space Grotesk" pitchFamily="34" charset="0"/>
                <a:ea typeface="Space Grotesk" pitchFamily="34" charset="-122"/>
                <a:cs typeface="Space Grotesk" pitchFamily="34" charset="-120"/>
              </a:rPr>
              <a:t>arithmetic Asian ρ=0.9995 → 976×</a:t>
            </a:r>
            <a:endParaRPr lang="en-US" sz="950" dirty="0"/>
          </a:p>
        </p:txBody>
      </p:sp>
      <p:sp>
        <p:nvSpPr>
          <p:cNvPr id="13" name="Text 10"/>
          <p:cNvSpPr/>
          <p:nvPr/>
        </p:nvSpPr>
        <p:spPr>
          <a:xfrm>
            <a:off x="1765300" y="3411066"/>
            <a:ext cx="2092960" cy="194235"/>
          </a:xfrm>
          <a:prstGeom prst="rect">
            <a:avLst/>
          </a:prstGeom>
          <a:noFill/>
          <a:ln/>
        </p:spPr>
        <p:txBody>
          <a:bodyPr wrap="square" lIns="0" tIns="0" rIns="0" bIns="0" rtlCol="0" anchor="t">
            <a:normAutofit/>
          </a:bodyPr>
          <a:lstStyle/>
          <a:p>
            <a:pPr marL="0" indent="0" algn="l">
              <a:lnSpc>
                <a:spcPts val="1330"/>
              </a:lnSpc>
              <a:buNone/>
            </a:pPr>
            <a:r>
              <a:rPr lang="en-US" sz="950" b="1" dirty="0">
                <a:solidFill>
                  <a:srgbClr val="3FD0E6"/>
                </a:solidFill>
                <a:latin typeface="Space Grotesk" pitchFamily="34" charset="0"/>
                <a:ea typeface="Space Grotesk" pitchFamily="34" charset="-122"/>
                <a:cs typeface="Space Grotesk" pitchFamily="34" charset="-120"/>
              </a:rPr>
              <a:t>paper barrier ρ=0.9997 → 1,542×</a:t>
            </a:r>
            <a:endParaRPr lang="en-US" sz="950" dirty="0"/>
          </a:p>
        </p:txBody>
      </p:sp>
      <p:sp>
        <p:nvSpPr>
          <p:cNvPr id="14" name="Text 11"/>
          <p:cNvSpPr/>
          <p:nvPr/>
        </p:nvSpPr>
        <p:spPr>
          <a:xfrm>
            <a:off x="6299200" y="3188258"/>
            <a:ext cx="5232400" cy="12636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BFB8DC"/>
                </a:solidFill>
                <a:latin typeface="Space Grotesk" pitchFamily="34" charset="0"/>
                <a:ea typeface="Space Grotesk" pitchFamily="34" charset="-122"/>
                <a:cs typeface="Space Grotesk" pitchFamily="34" charset="-120"/>
              </a:rPr>
              <a:t>VRF = 1 ⁄ (1 − ρ²) is exact — a control variate is only as good as how tightly it tracks the target. The paper barrier's payoff is </a:t>
            </a:r>
            <a:r>
              <a:rPr lang="en-US" sz="1300" b="1" dirty="0">
                <a:solidFill>
                  <a:srgbClr val="BFB8DC"/>
                </a:solidFill>
                <a:latin typeface="Space Grotesk" pitchFamily="34" charset="0"/>
                <a:ea typeface="Space Grotesk" pitchFamily="34" charset="-122"/>
                <a:cs typeface="Space Grotesk" pitchFamily="34" charset="-120"/>
              </a:rPr>
              <a:t>almost the vanilla call itself</a:t>
            </a:r>
            <a:r>
              <a:rPr lang="en-US" sz="1300" dirty="0">
                <a:solidFill>
                  <a:srgbClr val="BFB8DC"/>
                </a:solidFill>
                <a:latin typeface="Space Grotesk" pitchFamily="34" charset="0"/>
                <a:ea typeface="Space Grotesk" pitchFamily="34" charset="-122"/>
                <a:cs typeface="Space Grotesk" pitchFamily="34" charset="-120"/>
              </a:rPr>
              <a:t>, so its control nearly cancels all the noise. The deep barrier's knock-in is a much weaker echo of the vanilla payoff, so the same recipe barely helps.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100" b="1" kern="0" spc="150">
                <a:solidFill>
                  <a:srgbClr val="FF7043"/>
                </a:solidFill>
                <a:latin typeface="Aptos"/>
                <a:ea typeface="Space Grotesk" pitchFamily="34" charset="-122"/>
                <a:cs typeface="Space Grotesk" pitchFamily="34" charset="-120"/>
              </a:rPr>
              <a:t>6 / WHAT WE ADDED</a:t>
            </a:r>
            <a:endParaRPr lang="en-US" sz="1100" b="1" dirty="0">
              <a:solidFill>
                <a:srgbClr val="FF7043"/>
              </a:solidFill>
              <a:latin typeface="Aptos"/>
            </a:endParaRPr>
          </a:p>
        </p:txBody>
      </p:sp>
      <p:sp>
        <p:nvSpPr>
          <p:cNvPr id="3" name="Text 1"/>
          <p:cNvSpPr/>
          <p:nvPr/>
        </p:nvSpPr>
        <p:spPr>
          <a:xfrm>
            <a:off x="812800" y="1203883"/>
            <a:ext cx="10883392" cy="416485"/>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F2EFFA"/>
                </a:solidFill>
                <a:latin typeface="Aptos Display"/>
                <a:ea typeface="Fraunces" pitchFamily="34" charset="-122"/>
                <a:cs typeface="Fraunces" pitchFamily="34" charset="-120"/>
              </a:rPr>
              <a:t>Raising the barrier breaks the control</a:t>
            </a:r>
            <a:endParaRPr lang="en-US" sz="2800" b="1" dirty="0">
              <a:latin typeface="Aptos Display"/>
            </a:endParaRPr>
          </a:p>
        </p:txBody>
      </p:sp>
      <p:sp>
        <p:nvSpPr>
          <p:cNvPr id="4" name="Shape 2"/>
          <p:cNvSpPr/>
          <p:nvPr/>
        </p:nvSpPr>
        <p:spPr>
          <a:xfrm>
            <a:off x="812800" y="1772766"/>
            <a:ext cx="5207000" cy="2794000"/>
          </a:xfrm>
          <a:prstGeom prst="roundRect">
            <a:avLst>
              <a:gd name="adj" fmla="val 5455"/>
            </a:avLst>
          </a:prstGeom>
          <a:solidFill>
            <a:srgbClr val="201A3D"/>
          </a:solidFill>
          <a:ln/>
        </p:spPr>
      </p:sp>
      <p:pic>
        <p:nvPicPr>
          <p:cNvPr id="20" name="Picture 19">
            <a:extLst>
              <a:ext uri="{FF2B5EF4-FFF2-40B4-BE49-F238E27FC236}">
                <a16:creationId xmlns:a16="http://schemas.microsoft.com/office/drawing/2014/main" id="{8E2CD74E-3812-44D3-B6E2-4666DE29B8D4}"/>
              </a:ext>
            </a:extLst>
          </p:cNvPr>
          <p:cNvPicPr>
            <a:picLocks/>
          </p:cNvPicPr>
          <p:nvPr/>
        </p:nvPicPr>
        <p:blipFill>
          <a:blip r:embed="rId3"/>
          <a:stretch>
            <a:fillRect/>
          </a:stretch>
        </p:blipFill>
        <p:spPr>
          <a:xfrm>
            <a:off x="939800" y="1899766"/>
            <a:ext cx="5080000" cy="2387600"/>
          </a:xfrm>
          <a:prstGeom prst="rect">
            <a:avLst/>
          </a:prstGeom>
        </p:spPr>
      </p:pic>
      <p:sp>
        <p:nvSpPr>
          <p:cNvPr id="6" name="Text 3"/>
          <p:cNvSpPr/>
          <p:nvPr/>
        </p:nvSpPr>
        <p:spPr>
          <a:xfrm>
            <a:off x="1104900" y="1810866"/>
            <a:ext cx="1940990" cy="194235"/>
          </a:xfrm>
          <a:prstGeom prst="rect">
            <a:avLst/>
          </a:prstGeom>
          <a:noFill/>
          <a:ln/>
        </p:spPr>
        <p:txBody>
          <a:bodyPr wrap="square" lIns="0" tIns="0" rIns="0" bIns="0" rtlCol="0" anchor="t">
            <a:normAutofit/>
          </a:bodyPr>
          <a:lstStyle/>
          <a:p>
            <a:pPr marL="0" indent="0" algn="l">
              <a:lnSpc>
                <a:spcPts val="1330"/>
              </a:lnSpc>
              <a:buNone/>
            </a:pPr>
            <a:r>
              <a:rPr lang="en-US" sz="900">
                <a:solidFill>
                  <a:srgbClr val="32C5DD"/>
                </a:solidFill>
                <a:latin typeface="Aptos"/>
                <a:ea typeface="Space Grotesk" pitchFamily="34" charset="-122"/>
                <a:cs typeface="Space Grotesk" pitchFamily="34" charset="-120"/>
              </a:rPr>
              <a:t>near barrier B=110.68</a:t>
            </a:r>
            <a:endParaRPr lang="en-US" sz="900" dirty="0">
              <a:solidFill>
                <a:srgbClr val="32C5DD"/>
              </a:solidFill>
              <a:latin typeface="Aptos"/>
            </a:endParaRPr>
          </a:p>
        </p:txBody>
      </p:sp>
      <p:sp>
        <p:nvSpPr>
          <p:cNvPr id="7" name="Text 4"/>
          <p:cNvSpPr/>
          <p:nvPr/>
        </p:nvSpPr>
        <p:spPr>
          <a:xfrm>
            <a:off x="1104900" y="1988666"/>
            <a:ext cx="2139417" cy="194235"/>
          </a:xfrm>
          <a:prstGeom prst="rect">
            <a:avLst/>
          </a:prstGeom>
          <a:noFill/>
          <a:ln/>
        </p:spPr>
        <p:txBody>
          <a:bodyPr wrap="square" lIns="0" tIns="0" rIns="0" bIns="0" rtlCol="0" anchor="t">
            <a:normAutofit/>
          </a:bodyPr>
          <a:lstStyle/>
          <a:p>
            <a:pPr marL="0" indent="0" algn="l">
              <a:lnSpc>
                <a:spcPts val="1330"/>
              </a:lnSpc>
              <a:buNone/>
            </a:pPr>
            <a:r>
              <a:rPr lang="en-US" sz="900">
                <a:solidFill>
                  <a:srgbClr val="FF7043"/>
                </a:solidFill>
                <a:latin typeface="Aptos"/>
                <a:ea typeface="Space Grotesk" pitchFamily="34" charset="-122"/>
                <a:cs typeface="Space Grotesk" pitchFamily="34" charset="-120"/>
              </a:rPr>
              <a:t>deep barrier B=140</a:t>
            </a:r>
            <a:endParaRPr lang="en-US" sz="900" dirty="0">
              <a:solidFill>
                <a:srgbClr val="FF7043"/>
              </a:solidFill>
              <a:latin typeface="Aptos"/>
            </a:endParaRPr>
          </a:p>
        </p:txBody>
      </p:sp>
      <p:sp>
        <p:nvSpPr>
          <p:cNvPr id="8" name="Text 5"/>
          <p:cNvSpPr/>
          <p:nvPr/>
        </p:nvSpPr>
        <p:spPr>
          <a:xfrm>
            <a:off x="3352800" y="3360266"/>
            <a:ext cx="2131241" cy="194235"/>
          </a:xfrm>
          <a:prstGeom prst="rect">
            <a:avLst/>
          </a:prstGeom>
          <a:noFill/>
          <a:ln/>
        </p:spPr>
        <p:txBody>
          <a:bodyPr wrap="square" lIns="0" tIns="0" rIns="0" bIns="0" rtlCol="0" anchor="t">
            <a:normAutofit/>
          </a:bodyPr>
          <a:lstStyle/>
          <a:p>
            <a:pPr marL="0" indent="0" algn="l">
              <a:lnSpc>
                <a:spcPts val="1330"/>
              </a:lnSpc>
              <a:buNone/>
            </a:pPr>
            <a:r>
              <a:rPr lang="en-US" sz="900" b="1">
                <a:solidFill>
                  <a:srgbClr val="32C5DD"/>
                </a:solidFill>
                <a:latin typeface="Aptos"/>
                <a:ea typeface="Space Grotesk" pitchFamily="34" charset="-122"/>
                <a:cs typeface="Space Grotesk" pitchFamily="34" charset="-120"/>
              </a:rPr>
              <a:t>near: 1,542x</a:t>
            </a:r>
            <a:endParaRPr lang="en-US" sz="900" b="1" dirty="0">
              <a:solidFill>
                <a:srgbClr val="32C5DD"/>
              </a:solidFill>
              <a:latin typeface="Aptos"/>
            </a:endParaRPr>
          </a:p>
        </p:txBody>
      </p:sp>
      <p:sp>
        <p:nvSpPr>
          <p:cNvPr id="9" name="Text 6"/>
          <p:cNvSpPr/>
          <p:nvPr/>
        </p:nvSpPr>
        <p:spPr>
          <a:xfrm>
            <a:off x="3352800" y="3931766"/>
            <a:ext cx="2051409" cy="194235"/>
          </a:xfrm>
          <a:prstGeom prst="rect">
            <a:avLst/>
          </a:prstGeom>
          <a:noFill/>
          <a:ln/>
        </p:spPr>
        <p:txBody>
          <a:bodyPr wrap="square" lIns="0" tIns="0" rIns="0" bIns="0" rtlCol="0" anchor="t">
            <a:normAutofit/>
          </a:bodyPr>
          <a:lstStyle/>
          <a:p>
            <a:pPr marL="0" indent="0" algn="l">
              <a:lnSpc>
                <a:spcPts val="1330"/>
              </a:lnSpc>
              <a:buNone/>
            </a:pPr>
            <a:r>
              <a:rPr lang="en-US" sz="900" b="1">
                <a:solidFill>
                  <a:srgbClr val="FF7043"/>
                </a:solidFill>
                <a:latin typeface="Aptos"/>
                <a:ea typeface="Space Grotesk" pitchFamily="34" charset="-122"/>
                <a:cs typeface="Space Grotesk" pitchFamily="34" charset="-120"/>
              </a:rPr>
              <a:t>deep: 3.2x</a:t>
            </a:r>
            <a:endParaRPr lang="en-US" sz="900" b="1" dirty="0">
              <a:solidFill>
                <a:srgbClr val="FF7043"/>
              </a:solidFill>
              <a:latin typeface="Aptos"/>
            </a:endParaRPr>
          </a:p>
        </p:txBody>
      </p:sp>
      <p:sp>
        <p:nvSpPr>
          <p:cNvPr id="10" name="Text 7"/>
          <p:cNvSpPr/>
          <p:nvPr/>
        </p:nvSpPr>
        <p:spPr>
          <a:xfrm>
            <a:off x="1003300" y="4287366"/>
            <a:ext cx="404626" cy="185364"/>
          </a:xfrm>
          <a:prstGeom prst="rect">
            <a:avLst/>
          </a:prstGeom>
          <a:noFill/>
          <a:ln/>
        </p:spPr>
        <p:txBody>
          <a:bodyPr wrap="square" lIns="0" tIns="0" rIns="0" bIns="0" rtlCol="0" anchor="t">
            <a:normAutofit/>
          </a:bodyPr>
          <a:lstStyle/>
          <a:p>
            <a:pPr marL="0" indent="0" algn="l">
              <a:lnSpc>
                <a:spcPts val="1260"/>
              </a:lnSpc>
              <a:buNone/>
            </a:pPr>
            <a:r>
              <a:rPr lang="en-US" sz="800">
                <a:solidFill>
                  <a:srgbClr val="8A83AB"/>
                </a:solidFill>
                <a:latin typeface="Aptos"/>
                <a:ea typeface="Space Grotesk" pitchFamily="34" charset="-122"/>
                <a:cs typeface="Space Grotesk" pitchFamily="34" charset="-120"/>
              </a:rPr>
              <a:t>N=256</a:t>
            </a:r>
            <a:endParaRPr lang="en-US" sz="800" dirty="0">
              <a:latin typeface="Aptos"/>
            </a:endParaRPr>
          </a:p>
        </p:txBody>
      </p:sp>
      <p:sp>
        <p:nvSpPr>
          <p:cNvPr id="11" name="Text 8"/>
          <p:cNvSpPr/>
          <p:nvPr/>
        </p:nvSpPr>
        <p:spPr>
          <a:xfrm>
            <a:off x="5397220" y="4287366"/>
            <a:ext cx="571780" cy="185364"/>
          </a:xfrm>
          <a:prstGeom prst="rect">
            <a:avLst/>
          </a:prstGeom>
          <a:noFill/>
          <a:ln/>
        </p:spPr>
        <p:txBody>
          <a:bodyPr wrap="square" lIns="0" tIns="0" rIns="0" bIns="0" rtlCol="0" anchor="t">
            <a:normAutofit/>
          </a:bodyPr>
          <a:lstStyle/>
          <a:p>
            <a:pPr marL="0" indent="0" algn="l">
              <a:lnSpc>
                <a:spcPts val="1260"/>
              </a:lnSpc>
              <a:buNone/>
            </a:pPr>
            <a:r>
              <a:rPr lang="en-US" sz="800">
                <a:solidFill>
                  <a:srgbClr val="8A83AB"/>
                </a:solidFill>
                <a:latin typeface="Aptos"/>
                <a:ea typeface="Space Grotesk" pitchFamily="34" charset="-122"/>
                <a:cs typeface="Space Grotesk" pitchFamily="34" charset="-120"/>
              </a:rPr>
              <a:t>N=65,536</a:t>
            </a:r>
            <a:endParaRPr lang="en-US" sz="800" dirty="0">
              <a:latin typeface="Aptos"/>
            </a:endParaRPr>
          </a:p>
        </p:txBody>
      </p:sp>
      <p:sp>
        <p:nvSpPr>
          <p:cNvPr id="12" name="Shape 9"/>
          <p:cNvSpPr/>
          <p:nvPr/>
        </p:nvSpPr>
        <p:spPr>
          <a:xfrm>
            <a:off x="6299200" y="2661952"/>
            <a:ext cx="5080000" cy="835585"/>
          </a:xfrm>
          <a:prstGeom prst="roundRect">
            <a:avLst>
              <a:gd name="adj" fmla="val 15199"/>
            </a:avLst>
          </a:prstGeom>
          <a:solidFill>
            <a:srgbClr val="201A3D"/>
          </a:solidFill>
          <a:ln/>
        </p:spPr>
      </p:sp>
      <p:sp>
        <p:nvSpPr>
          <p:cNvPr id="13" name="Text 10"/>
          <p:cNvSpPr/>
          <p:nvPr/>
        </p:nvSpPr>
        <p:spPr>
          <a:xfrm>
            <a:off x="6464300" y="2827052"/>
            <a:ext cx="4892294" cy="309843"/>
          </a:xfrm>
          <a:prstGeom prst="rect">
            <a:avLst/>
          </a:prstGeom>
          <a:noFill/>
          <a:ln/>
        </p:spPr>
        <p:txBody>
          <a:bodyPr wrap="square" lIns="0" tIns="0" rIns="0" bIns="0" rtlCol="0" anchor="t">
            <a:normAutofit/>
          </a:bodyPr>
          <a:lstStyle/>
          <a:p>
            <a:pPr marL="0" indent="0" algn="l">
              <a:lnSpc>
                <a:spcPts val="2240"/>
              </a:lnSpc>
              <a:buNone/>
            </a:pPr>
            <a:r>
              <a:rPr lang="en-US" b="1">
                <a:solidFill>
                  <a:srgbClr val="32C5DD"/>
                </a:solidFill>
                <a:latin typeface="Aptos Display"/>
                <a:ea typeface="JetBrains Mono" pitchFamily="34" charset="-122"/>
                <a:cs typeface="JetBrains Mono" pitchFamily="34" charset="-120"/>
              </a:rPr>
              <a:t>1,542x</a:t>
            </a:r>
            <a:endParaRPr lang="en-US" b="1" dirty="0">
              <a:solidFill>
                <a:srgbClr val="32C5DD"/>
              </a:solidFill>
              <a:latin typeface="Aptos Display"/>
            </a:endParaRPr>
          </a:p>
        </p:txBody>
      </p:sp>
      <p:sp>
        <p:nvSpPr>
          <p:cNvPr id="14" name="Text 11"/>
          <p:cNvSpPr/>
          <p:nvPr/>
        </p:nvSpPr>
        <p:spPr>
          <a:xfrm>
            <a:off x="6464300" y="3136900"/>
            <a:ext cx="4892294" cy="220943"/>
          </a:xfrm>
          <a:prstGeom prst="rect">
            <a:avLst/>
          </a:prstGeom>
          <a:noFill/>
          <a:ln/>
        </p:spPr>
        <p:txBody>
          <a:bodyPr wrap="square" lIns="0" tIns="0" rIns="0" bIns="0" rtlCol="0" anchor="t">
            <a:normAutofit/>
          </a:bodyPr>
          <a:lstStyle/>
          <a:p>
            <a:pPr marL="0" indent="0" algn="l">
              <a:lnSpc>
                <a:spcPts val="1540"/>
              </a:lnSpc>
              <a:buNone/>
            </a:pPr>
            <a:r>
              <a:rPr lang="en-US" sz="1000">
                <a:solidFill>
                  <a:srgbClr val="BFB8DC"/>
                </a:solidFill>
                <a:latin typeface="Aptos"/>
                <a:ea typeface="Space Grotesk" pitchFamily="34" charset="-122"/>
                <a:cs typeface="Space Grotesk" pitchFamily="34" charset="-120"/>
              </a:rPr>
              <a:t>near barrier: payoff almost equals the vanilla call</a:t>
            </a:r>
            <a:endParaRPr lang="en-US" sz="1000" dirty="0">
              <a:latin typeface="Aptos"/>
            </a:endParaRPr>
          </a:p>
        </p:txBody>
      </p:sp>
      <p:sp>
        <p:nvSpPr>
          <p:cNvPr id="15" name="Shape 12"/>
          <p:cNvSpPr/>
          <p:nvPr/>
        </p:nvSpPr>
        <p:spPr>
          <a:xfrm>
            <a:off x="6299200" y="3611848"/>
            <a:ext cx="5080000" cy="835585"/>
          </a:xfrm>
          <a:prstGeom prst="roundRect">
            <a:avLst>
              <a:gd name="adj" fmla="val 15199"/>
            </a:avLst>
          </a:prstGeom>
          <a:solidFill>
            <a:srgbClr val="201A3D"/>
          </a:solidFill>
          <a:ln/>
        </p:spPr>
      </p:sp>
      <p:sp>
        <p:nvSpPr>
          <p:cNvPr id="16" name="Text 13"/>
          <p:cNvSpPr/>
          <p:nvPr/>
        </p:nvSpPr>
        <p:spPr>
          <a:xfrm>
            <a:off x="6464300" y="3776948"/>
            <a:ext cx="4892294" cy="309843"/>
          </a:xfrm>
          <a:prstGeom prst="rect">
            <a:avLst/>
          </a:prstGeom>
          <a:noFill/>
          <a:ln/>
        </p:spPr>
        <p:txBody>
          <a:bodyPr wrap="square" lIns="0" tIns="0" rIns="0" bIns="0" rtlCol="0" anchor="t">
            <a:normAutofit/>
          </a:bodyPr>
          <a:lstStyle/>
          <a:p>
            <a:pPr marL="0" indent="0" algn="l">
              <a:lnSpc>
                <a:spcPts val="2240"/>
              </a:lnSpc>
              <a:buNone/>
            </a:pPr>
            <a:r>
              <a:rPr lang="en-US" b="1">
                <a:solidFill>
                  <a:srgbClr val="32C5DD"/>
                </a:solidFill>
                <a:latin typeface="Aptos Display"/>
                <a:ea typeface="JetBrains Mono" pitchFamily="34" charset="-122"/>
                <a:cs typeface="JetBrains Mono" pitchFamily="34" charset="-120"/>
              </a:rPr>
              <a:t>3.2x</a:t>
            </a:r>
            <a:endParaRPr lang="en-US" b="1" dirty="0">
              <a:solidFill>
                <a:srgbClr val="32C5DD"/>
              </a:solidFill>
              <a:latin typeface="Aptos Display"/>
            </a:endParaRPr>
          </a:p>
        </p:txBody>
      </p:sp>
      <p:sp>
        <p:nvSpPr>
          <p:cNvPr id="17" name="Text 14"/>
          <p:cNvSpPr/>
          <p:nvPr/>
        </p:nvSpPr>
        <p:spPr>
          <a:xfrm>
            <a:off x="6464300" y="4086783"/>
            <a:ext cx="4892294" cy="220943"/>
          </a:xfrm>
          <a:prstGeom prst="rect">
            <a:avLst/>
          </a:prstGeom>
          <a:noFill/>
          <a:ln/>
        </p:spPr>
        <p:txBody>
          <a:bodyPr wrap="square" lIns="0" tIns="0" rIns="0" bIns="0" rtlCol="0" anchor="t">
            <a:normAutofit/>
          </a:bodyPr>
          <a:lstStyle/>
          <a:p>
            <a:pPr marL="0" indent="0" algn="l">
              <a:lnSpc>
                <a:spcPts val="1540"/>
              </a:lnSpc>
              <a:buNone/>
            </a:pPr>
            <a:r>
              <a:rPr lang="en-US" sz="1000">
                <a:solidFill>
                  <a:srgbClr val="BFB8DC"/>
                </a:solidFill>
                <a:latin typeface="Aptos"/>
                <a:ea typeface="Space Grotesk" pitchFamily="34" charset="-122"/>
                <a:cs typeface="Space Grotesk" pitchFamily="34" charset="-120"/>
              </a:rPr>
              <a:t>deep barrier: many positive calls never knock in</a:t>
            </a:r>
            <a:endParaRPr lang="en-US" sz="1000" dirty="0">
              <a:latin typeface="Aptos"/>
            </a:endParaRPr>
          </a:p>
        </p:txBody>
      </p:sp>
      <p:sp>
        <p:nvSpPr>
          <p:cNvPr id="18" name="Text 15"/>
          <p:cNvSpPr/>
          <p:nvPr/>
        </p:nvSpPr>
        <p:spPr>
          <a:xfrm>
            <a:off x="6299200" y="4561731"/>
            <a:ext cx="5232400" cy="416485"/>
          </a:xfrm>
          <a:prstGeom prst="rect">
            <a:avLst/>
          </a:prstGeom>
          <a:noFill/>
          <a:ln/>
        </p:spPr>
        <p:txBody>
          <a:bodyPr wrap="square" lIns="0" tIns="0" rIns="0" bIns="0" rtlCol="0" anchor="t">
            <a:normAutofit/>
          </a:bodyPr>
          <a:lstStyle/>
          <a:p>
            <a:pPr marL="0" indent="0" algn="l">
              <a:lnSpc>
                <a:spcPts val="1540"/>
              </a:lnSpc>
              <a:buNone/>
            </a:pPr>
            <a:r>
              <a:rPr lang="en-US" sz="1000">
                <a:solidFill>
                  <a:srgbClr val="8A83AB"/>
                </a:solidFill>
                <a:latin typeface="Aptos"/>
                <a:ea typeface="Space Grotesk" pitchFamily="34" charset="-122"/>
                <a:cs typeface="Space Grotesk" pitchFamily="34" charset="-120"/>
              </a:rPr>
              <a:t>The control did not change; only B changed. A high barrier weakens correlation, so the control advantage collapses.</a:t>
            </a:r>
            <a:endParaRPr lang="en-US" sz="1000" dirty="0">
              <a:latin typeface="Aptos"/>
            </a:endParaRPr>
          </a:p>
        </p:txBody>
      </p:sp>
    </p:spTree>
    <p:extLst>
      <p:ext uri="{BB962C8B-B14F-4D97-AF65-F5344CB8AC3E}">
        <p14:creationId xmlns:p14="http://schemas.microsoft.com/office/powerpoint/2010/main" val="2693391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7A45"/>
                </a:solidFill>
                <a:latin typeface="Space Grotesk" pitchFamily="34" charset="0"/>
                <a:ea typeface="Space Grotesk" pitchFamily="34" charset="-122"/>
                <a:cs typeface="Space Grotesk" pitchFamily="34" charset="-120"/>
              </a:rPr>
              <a:t>6 · WHAT WE ADDED</a:t>
            </a:r>
            <a:endParaRPr lang="en-US" sz="1200" dirty="0"/>
          </a:p>
        </p:txBody>
      </p:sp>
      <p:sp>
        <p:nvSpPr>
          <p:cNvPr id="3" name="Text 1"/>
          <p:cNvSpPr/>
          <p:nvPr/>
        </p:nvSpPr>
        <p:spPr>
          <a:xfrm>
            <a:off x="812800" y="1203883"/>
            <a:ext cx="10883392" cy="416485"/>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2EFFA"/>
                </a:solidFill>
                <a:latin typeface="Fraunces" pitchFamily="34" charset="0"/>
                <a:ea typeface="Fraunces" pitchFamily="34" charset="-122"/>
                <a:cs typeface="Fraunces" pitchFamily="34" charset="-120"/>
              </a:rPr>
              <a:t>RQMC beats the √N wall outright</a:t>
            </a:r>
            <a:endParaRPr lang="en-US" sz="2800" dirty="0"/>
          </a:p>
        </p:txBody>
      </p:sp>
      <p:sp>
        <p:nvSpPr>
          <p:cNvPr id="4" name="Shape 2"/>
          <p:cNvSpPr/>
          <p:nvPr/>
        </p:nvSpPr>
        <p:spPr>
          <a:xfrm>
            <a:off x="812800" y="1772766"/>
            <a:ext cx="5207000" cy="2794000"/>
          </a:xfrm>
          <a:prstGeom prst="roundRect">
            <a:avLst>
              <a:gd name="adj" fmla="val 5455"/>
            </a:avLst>
          </a:prstGeom>
          <a:solidFill>
            <a:srgbClr val="201A3D"/>
          </a:solidFill>
          <a:ln/>
        </p:spPr>
      </p:sp>
      <p:pic>
        <p:nvPicPr>
          <p:cNvPr id="5" name="Image 0" descr="Log-log RMSE vs path count: plain Monte Carlo lines fall gently, the RQMC lines fall much more steeply"/>
          <p:cNvPicPr>
            <a:picLocks noChangeAspect="1"/>
          </p:cNvPicPr>
          <p:nvPr/>
        </p:nvPicPr>
        <p:blipFill>
          <a:blip r:embed="rId3"/>
          <a:srcRect l="-5851" r="-5851"/>
          <a:stretch/>
        </p:blipFill>
        <p:spPr>
          <a:xfrm>
            <a:off x="939800" y="1899766"/>
            <a:ext cx="5080000" cy="2387600"/>
          </a:xfrm>
          <a:prstGeom prst="rect">
            <a:avLst/>
          </a:prstGeom>
        </p:spPr>
      </p:pic>
      <p:sp>
        <p:nvSpPr>
          <p:cNvPr id="6" name="Text 3"/>
          <p:cNvSpPr/>
          <p:nvPr/>
        </p:nvSpPr>
        <p:spPr>
          <a:xfrm>
            <a:off x="1104900" y="1810866"/>
            <a:ext cx="1940990" cy="194235"/>
          </a:xfrm>
          <a:prstGeom prst="rect">
            <a:avLst/>
          </a:prstGeom>
          <a:noFill/>
          <a:ln/>
        </p:spPr>
        <p:txBody>
          <a:bodyPr wrap="square" lIns="0" tIns="0" rIns="0" bIns="0" rtlCol="0" anchor="t">
            <a:normAutofit/>
          </a:bodyPr>
          <a:lstStyle/>
          <a:p>
            <a:pPr marL="0" indent="0" algn="l">
              <a:lnSpc>
                <a:spcPts val="1330"/>
              </a:lnSpc>
              <a:buNone/>
            </a:pPr>
            <a:r>
              <a:rPr lang="en-US" sz="950" dirty="0">
                <a:solidFill>
                  <a:srgbClr val="FF7A45"/>
                </a:solidFill>
                <a:latin typeface="Space Grotesk" pitchFamily="34" charset="0"/>
                <a:ea typeface="Space Grotesk" pitchFamily="34" charset="-122"/>
                <a:cs typeface="Space Grotesk" pitchFamily="34" charset="-120"/>
              </a:rPr>
              <a:t>paper barrier, plain (slope −0.50)</a:t>
            </a:r>
            <a:endParaRPr lang="en-US" sz="950" dirty="0"/>
          </a:p>
        </p:txBody>
      </p:sp>
      <p:sp>
        <p:nvSpPr>
          <p:cNvPr id="7" name="Text 4"/>
          <p:cNvSpPr/>
          <p:nvPr/>
        </p:nvSpPr>
        <p:spPr>
          <a:xfrm>
            <a:off x="1104900" y="1988666"/>
            <a:ext cx="2139417" cy="194235"/>
          </a:xfrm>
          <a:prstGeom prst="rect">
            <a:avLst/>
          </a:prstGeom>
          <a:noFill/>
          <a:ln/>
        </p:spPr>
        <p:txBody>
          <a:bodyPr wrap="square" lIns="0" tIns="0" rIns="0" bIns="0" rtlCol="0" anchor="t">
            <a:normAutofit/>
          </a:bodyPr>
          <a:lstStyle/>
          <a:p>
            <a:pPr marL="0" indent="0" algn="l">
              <a:lnSpc>
                <a:spcPts val="1330"/>
              </a:lnSpc>
              <a:buNone/>
            </a:pPr>
            <a:r>
              <a:rPr lang="en-US" sz="950" dirty="0">
                <a:solidFill>
                  <a:srgbClr val="3FD0E6"/>
                </a:solidFill>
                <a:latin typeface="Space Grotesk" pitchFamily="34" charset="0"/>
                <a:ea typeface="Space Grotesk" pitchFamily="34" charset="-122"/>
                <a:cs typeface="Space Grotesk" pitchFamily="34" charset="-120"/>
              </a:rPr>
              <a:t>arithmetic Asian, plain (slope −0.56)</a:t>
            </a:r>
            <a:endParaRPr lang="en-US" sz="950" dirty="0"/>
          </a:p>
        </p:txBody>
      </p:sp>
      <p:sp>
        <p:nvSpPr>
          <p:cNvPr id="8" name="Text 5"/>
          <p:cNvSpPr/>
          <p:nvPr/>
        </p:nvSpPr>
        <p:spPr>
          <a:xfrm>
            <a:off x="3352800" y="3360266"/>
            <a:ext cx="2131241" cy="194235"/>
          </a:xfrm>
          <a:prstGeom prst="rect">
            <a:avLst/>
          </a:prstGeom>
          <a:noFill/>
          <a:ln/>
        </p:spPr>
        <p:txBody>
          <a:bodyPr wrap="square" lIns="0" tIns="0" rIns="0" bIns="0" rtlCol="0" anchor="t">
            <a:normAutofit/>
          </a:bodyPr>
          <a:lstStyle/>
          <a:p>
            <a:pPr marL="0" indent="0" algn="l">
              <a:lnSpc>
                <a:spcPts val="1330"/>
              </a:lnSpc>
              <a:buNone/>
            </a:pPr>
            <a:r>
              <a:rPr lang="en-US" sz="950" b="1" dirty="0">
                <a:solidFill>
                  <a:srgbClr val="FF7A45"/>
                </a:solidFill>
                <a:latin typeface="Space Grotesk" pitchFamily="34" charset="0"/>
                <a:ea typeface="Space Grotesk" pitchFamily="34" charset="-122"/>
                <a:cs typeface="Space Grotesk" pitchFamily="34" charset="-120"/>
              </a:rPr>
              <a:t>barrier + RQMC bridge (slope −0.79)</a:t>
            </a:r>
            <a:endParaRPr lang="en-US" sz="950" dirty="0"/>
          </a:p>
        </p:txBody>
      </p:sp>
      <p:sp>
        <p:nvSpPr>
          <p:cNvPr id="9" name="Text 6"/>
          <p:cNvSpPr/>
          <p:nvPr/>
        </p:nvSpPr>
        <p:spPr>
          <a:xfrm>
            <a:off x="3352800" y="3931766"/>
            <a:ext cx="2051409" cy="194235"/>
          </a:xfrm>
          <a:prstGeom prst="rect">
            <a:avLst/>
          </a:prstGeom>
          <a:noFill/>
          <a:ln/>
        </p:spPr>
        <p:txBody>
          <a:bodyPr wrap="square" lIns="0" tIns="0" rIns="0" bIns="0" rtlCol="0" anchor="t">
            <a:normAutofit/>
          </a:bodyPr>
          <a:lstStyle/>
          <a:p>
            <a:pPr marL="0" indent="0" algn="l">
              <a:lnSpc>
                <a:spcPts val="1330"/>
              </a:lnSpc>
              <a:buNone/>
            </a:pPr>
            <a:r>
              <a:rPr lang="en-US" sz="950" b="1" dirty="0">
                <a:solidFill>
                  <a:srgbClr val="3FD0E6"/>
                </a:solidFill>
                <a:latin typeface="Space Grotesk" pitchFamily="34" charset="0"/>
                <a:ea typeface="Space Grotesk" pitchFamily="34" charset="-122"/>
                <a:cs typeface="Space Grotesk" pitchFamily="34" charset="-120"/>
              </a:rPr>
              <a:t>Asian + RQMC bridge (slope −0.74)</a:t>
            </a:r>
            <a:endParaRPr lang="en-US" sz="950" dirty="0"/>
          </a:p>
        </p:txBody>
      </p:sp>
      <p:sp>
        <p:nvSpPr>
          <p:cNvPr id="10" name="Text 7"/>
          <p:cNvSpPr/>
          <p:nvPr/>
        </p:nvSpPr>
        <p:spPr>
          <a:xfrm>
            <a:off x="1003300" y="4287366"/>
            <a:ext cx="404626"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N=256</a:t>
            </a:r>
            <a:endParaRPr lang="en-US" sz="900" dirty="0"/>
          </a:p>
        </p:txBody>
      </p:sp>
      <p:sp>
        <p:nvSpPr>
          <p:cNvPr id="11" name="Text 8"/>
          <p:cNvSpPr/>
          <p:nvPr/>
        </p:nvSpPr>
        <p:spPr>
          <a:xfrm>
            <a:off x="5397220" y="4287366"/>
            <a:ext cx="571780"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N=65,536</a:t>
            </a:r>
            <a:endParaRPr lang="en-US" sz="900" dirty="0"/>
          </a:p>
        </p:txBody>
      </p:sp>
      <p:sp>
        <p:nvSpPr>
          <p:cNvPr id="12" name="Shape 9"/>
          <p:cNvSpPr/>
          <p:nvPr/>
        </p:nvSpPr>
        <p:spPr>
          <a:xfrm>
            <a:off x="6299200" y="2661952"/>
            <a:ext cx="5080000" cy="835585"/>
          </a:xfrm>
          <a:prstGeom prst="roundRect">
            <a:avLst>
              <a:gd name="adj" fmla="val 15199"/>
            </a:avLst>
          </a:prstGeom>
          <a:solidFill>
            <a:srgbClr val="201A3D"/>
          </a:solidFill>
          <a:ln/>
        </p:spPr>
      </p:sp>
      <p:sp>
        <p:nvSpPr>
          <p:cNvPr id="13" name="Text 10"/>
          <p:cNvSpPr/>
          <p:nvPr/>
        </p:nvSpPr>
        <p:spPr>
          <a:xfrm>
            <a:off x="6464300" y="2827052"/>
            <a:ext cx="4892294" cy="309843"/>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D0E6"/>
                </a:solidFill>
                <a:latin typeface="JetBrains Mono" pitchFamily="34" charset="0"/>
                <a:ea typeface="JetBrains Mono" pitchFamily="34" charset="-122"/>
                <a:cs typeface="JetBrains Mono" pitchFamily="34" charset="-120"/>
              </a:rPr>
              <a:t>2,260×</a:t>
            </a:r>
            <a:endParaRPr lang="en-US" sz="1600" dirty="0"/>
          </a:p>
        </p:txBody>
      </p:sp>
      <p:sp>
        <p:nvSpPr>
          <p:cNvPr id="14" name="Text 11"/>
          <p:cNvSpPr/>
          <p:nvPr/>
        </p:nvSpPr>
        <p:spPr>
          <a:xfrm>
            <a:off x="6464300" y="3136900"/>
            <a:ext cx="489229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efficiency vs plain, paper barrier, N=65,536</a:t>
            </a:r>
            <a:endParaRPr lang="en-US" sz="1100" dirty="0"/>
          </a:p>
        </p:txBody>
      </p:sp>
      <p:sp>
        <p:nvSpPr>
          <p:cNvPr id="15" name="Shape 12"/>
          <p:cNvSpPr/>
          <p:nvPr/>
        </p:nvSpPr>
        <p:spPr>
          <a:xfrm>
            <a:off x="6299200" y="3611848"/>
            <a:ext cx="5080000" cy="835585"/>
          </a:xfrm>
          <a:prstGeom prst="roundRect">
            <a:avLst>
              <a:gd name="adj" fmla="val 15199"/>
            </a:avLst>
          </a:prstGeom>
          <a:solidFill>
            <a:srgbClr val="201A3D"/>
          </a:solidFill>
          <a:ln/>
        </p:spPr>
      </p:sp>
      <p:sp>
        <p:nvSpPr>
          <p:cNvPr id="16" name="Text 13"/>
          <p:cNvSpPr/>
          <p:nvPr/>
        </p:nvSpPr>
        <p:spPr>
          <a:xfrm>
            <a:off x="6464300" y="3776948"/>
            <a:ext cx="4892294" cy="309843"/>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D0E6"/>
                </a:solidFill>
                <a:latin typeface="JetBrains Mono" pitchFamily="34" charset="0"/>
                <a:ea typeface="JetBrains Mono" pitchFamily="34" charset="-122"/>
                <a:cs typeface="JetBrains Mono" pitchFamily="34" charset="-120"/>
              </a:rPr>
              <a:t>794×</a:t>
            </a:r>
            <a:endParaRPr lang="en-US" sz="1600" dirty="0"/>
          </a:p>
        </p:txBody>
      </p:sp>
      <p:sp>
        <p:nvSpPr>
          <p:cNvPr id="17" name="Text 14"/>
          <p:cNvSpPr/>
          <p:nvPr/>
        </p:nvSpPr>
        <p:spPr>
          <a:xfrm>
            <a:off x="6464300" y="4086783"/>
            <a:ext cx="489229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efficiency vs plain, arithmetic Asian</a:t>
            </a:r>
            <a:endParaRPr lang="en-US" sz="1100" dirty="0"/>
          </a:p>
        </p:txBody>
      </p:sp>
      <p:sp>
        <p:nvSpPr>
          <p:cNvPr id="18" name="Text 15"/>
          <p:cNvSpPr/>
          <p:nvPr/>
        </p:nvSpPr>
        <p:spPr>
          <a:xfrm>
            <a:off x="6299200" y="4561731"/>
            <a:ext cx="5232400" cy="416485"/>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8A83AB"/>
                </a:solidFill>
                <a:latin typeface="Space Grotesk" pitchFamily="34" charset="0"/>
                <a:ea typeface="Space Grotesk" pitchFamily="34" charset="-122"/>
                <a:cs typeface="Space Grotesk" pitchFamily="34" charset="-120"/>
              </a:rPr>
              <a:t>A steeper log-log slope means the error genuinely converges faster — not just a smaller constant, a different rate.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7A45"/>
                </a:solidFill>
                <a:latin typeface="Space Grotesk" pitchFamily="34" charset="0"/>
                <a:ea typeface="Space Grotesk" pitchFamily="34" charset="-122"/>
                <a:cs typeface="Space Grotesk" pitchFamily="34" charset="-120"/>
              </a:rPr>
              <a:t>6 · WHAT WE ADDED</a:t>
            </a:r>
            <a:endParaRPr lang="en-US" sz="1200" dirty="0"/>
          </a:p>
        </p:txBody>
      </p:sp>
      <p:sp>
        <p:nvSpPr>
          <p:cNvPr id="3" name="Text 1"/>
          <p:cNvSpPr/>
          <p:nvPr/>
        </p:nvSpPr>
        <p:spPr>
          <a:xfrm>
            <a:off x="812800" y="1231900"/>
            <a:ext cx="10883392" cy="416485"/>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2EFFA"/>
                </a:solidFill>
                <a:latin typeface="Fraunces" pitchFamily="34" charset="0"/>
                <a:ea typeface="Fraunces" pitchFamily="34" charset="-122"/>
                <a:cs typeface="Fraunces" pitchFamily="34" charset="-120"/>
              </a:rPr>
              <a:t>A Brownian bridge front-loads the variance</a:t>
            </a:r>
            <a:endParaRPr lang="en-US" sz="2800" dirty="0"/>
          </a:p>
        </p:txBody>
      </p:sp>
      <p:sp>
        <p:nvSpPr>
          <p:cNvPr id="4" name="Text 2"/>
          <p:cNvSpPr/>
          <p:nvPr/>
        </p:nvSpPr>
        <p:spPr>
          <a:xfrm>
            <a:off x="812800" y="1822450"/>
            <a:ext cx="743000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share of Var(log average price) held by the first k Sobol dimensions</a:t>
            </a:r>
            <a:endParaRPr lang="en-US" sz="1100" dirty="0"/>
          </a:p>
        </p:txBody>
      </p:sp>
      <p:sp>
        <p:nvSpPr>
          <p:cNvPr id="5" name="Shape 3"/>
          <p:cNvSpPr/>
          <p:nvPr/>
        </p:nvSpPr>
        <p:spPr>
          <a:xfrm>
            <a:off x="1564154" y="2056098"/>
            <a:ext cx="355600" cy="1803400"/>
          </a:xfrm>
          <a:custGeom>
            <a:avLst/>
            <a:gdLst/>
            <a:ahLst/>
            <a:cxnLst/>
            <a:rect l="l" t="t" r="r" b="b"/>
            <a:pathLst>
              <a:path w="355600" h="1803400">
                <a:moveTo>
                  <a:pt x="50800" y="0"/>
                </a:moveTo>
                <a:lnTo>
                  <a:pt x="304800" y="0"/>
                </a:lnTo>
                <a:arcTo wR="50800" hR="50800" stAng="16200000" swAng="5400000"/>
                <a:lnTo>
                  <a:pt x="355600" y="1803400"/>
                </a:lnTo>
                <a:lnTo>
                  <a:pt x="0" y="1803400"/>
                </a:lnTo>
                <a:lnTo>
                  <a:pt x="0" y="50800"/>
                </a:lnTo>
                <a:arcTo wR="50800" hR="50800" stAng="10800000" swAng="5400000"/>
                <a:close/>
              </a:path>
            </a:pathLst>
          </a:custGeom>
          <a:solidFill>
            <a:srgbClr val="3FD0E6"/>
          </a:solidFill>
          <a:ln/>
        </p:spPr>
      </p:sp>
      <p:sp>
        <p:nvSpPr>
          <p:cNvPr id="6" name="Text 4"/>
          <p:cNvSpPr/>
          <p:nvPr/>
        </p:nvSpPr>
        <p:spPr>
          <a:xfrm>
            <a:off x="1538754" y="2056098"/>
            <a:ext cx="508000" cy="185364"/>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3FD0E6"/>
                </a:solidFill>
                <a:latin typeface="JetBrains Mono" pitchFamily="34" charset="0"/>
                <a:ea typeface="JetBrains Mono" pitchFamily="34" charset="-122"/>
                <a:cs typeface="JetBrains Mono" pitchFamily="34" charset="-120"/>
              </a:rPr>
              <a:t>75%</a:t>
            </a:r>
            <a:endParaRPr lang="en-US" sz="900" dirty="0"/>
          </a:p>
        </p:txBody>
      </p:sp>
      <p:sp>
        <p:nvSpPr>
          <p:cNvPr id="7" name="Shape 5"/>
          <p:cNvSpPr/>
          <p:nvPr/>
        </p:nvSpPr>
        <p:spPr>
          <a:xfrm>
            <a:off x="1957854" y="2056098"/>
            <a:ext cx="355600" cy="31750"/>
          </a:xfrm>
          <a:custGeom>
            <a:avLst/>
            <a:gdLst/>
            <a:ahLst/>
            <a:cxnLst/>
            <a:rect l="l" t="t" r="r" b="b"/>
            <a:pathLst>
              <a:path w="355600" h="31750">
                <a:moveTo>
                  <a:pt x="25400" y="0"/>
                </a:moveTo>
                <a:lnTo>
                  <a:pt x="330200" y="0"/>
                </a:lnTo>
                <a:arcTo wR="25400" hR="25400" stAng="16200000" swAng="5400000"/>
                <a:lnTo>
                  <a:pt x="355600" y="31750"/>
                </a:lnTo>
                <a:lnTo>
                  <a:pt x="0" y="31750"/>
                </a:lnTo>
                <a:lnTo>
                  <a:pt x="0" y="25400"/>
                </a:lnTo>
                <a:arcTo wR="25400" hR="25400" stAng="10800000" swAng="5400000"/>
                <a:close/>
              </a:path>
            </a:pathLst>
          </a:custGeom>
          <a:solidFill>
            <a:srgbClr val="FF7A45"/>
          </a:solidFill>
          <a:ln/>
        </p:spPr>
      </p:sp>
      <p:sp>
        <p:nvSpPr>
          <p:cNvPr id="8" name="Text 6"/>
          <p:cNvSpPr/>
          <p:nvPr/>
        </p:nvSpPr>
        <p:spPr>
          <a:xfrm>
            <a:off x="1932454" y="2056098"/>
            <a:ext cx="508000" cy="185364"/>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FF7A45"/>
                </a:solidFill>
                <a:latin typeface="JetBrains Mono" pitchFamily="34" charset="0"/>
                <a:ea typeface="JetBrains Mono" pitchFamily="34" charset="-122"/>
                <a:cs typeface="JetBrains Mono" pitchFamily="34" charset="-120"/>
              </a:rPr>
              <a:t>1.2%</a:t>
            </a:r>
            <a:endParaRPr lang="en-US" sz="900" dirty="0"/>
          </a:p>
        </p:txBody>
      </p:sp>
      <p:sp>
        <p:nvSpPr>
          <p:cNvPr id="9" name="Text 7"/>
          <p:cNvSpPr/>
          <p:nvPr/>
        </p:nvSpPr>
        <p:spPr>
          <a:xfrm>
            <a:off x="1806108" y="4354798"/>
            <a:ext cx="316286"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k = 1</a:t>
            </a:r>
            <a:endParaRPr lang="en-US" sz="1000" dirty="0"/>
          </a:p>
        </p:txBody>
      </p:sp>
      <p:sp>
        <p:nvSpPr>
          <p:cNvPr id="10" name="Text 8"/>
          <p:cNvSpPr/>
          <p:nvPr/>
        </p:nvSpPr>
        <p:spPr>
          <a:xfrm>
            <a:off x="4257115" y="1832632"/>
            <a:ext cx="324971" cy="185364"/>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FF7A45"/>
                </a:solidFill>
                <a:latin typeface="JetBrains Mono" pitchFamily="34" charset="0"/>
                <a:ea typeface="JetBrains Mono" pitchFamily="34" charset="-122"/>
                <a:cs typeface="JetBrains Mono" pitchFamily="34" charset="-120"/>
              </a:rPr>
              <a:t>4.7%</a:t>
            </a:r>
            <a:endParaRPr lang="en-US" sz="900" dirty="0"/>
          </a:p>
        </p:txBody>
      </p:sp>
      <p:sp>
        <p:nvSpPr>
          <p:cNvPr id="11" name="Shape 9"/>
          <p:cNvSpPr/>
          <p:nvPr/>
        </p:nvSpPr>
        <p:spPr>
          <a:xfrm>
            <a:off x="4044950" y="2056098"/>
            <a:ext cx="355600" cy="2362200"/>
          </a:xfrm>
          <a:custGeom>
            <a:avLst/>
            <a:gdLst/>
            <a:ahLst/>
            <a:cxnLst/>
            <a:rect l="l" t="t" r="r" b="b"/>
            <a:pathLst>
              <a:path w="355600" h="2362200">
                <a:moveTo>
                  <a:pt x="50800" y="0"/>
                </a:moveTo>
                <a:lnTo>
                  <a:pt x="304800" y="0"/>
                </a:lnTo>
                <a:arcTo wR="50800" hR="50800" stAng="16200000" swAng="5400000"/>
                <a:lnTo>
                  <a:pt x="355600" y="2362200"/>
                </a:lnTo>
                <a:lnTo>
                  <a:pt x="0" y="2362200"/>
                </a:lnTo>
                <a:lnTo>
                  <a:pt x="0" y="50800"/>
                </a:lnTo>
                <a:arcTo wR="50800" hR="50800" stAng="10800000" swAng="5400000"/>
                <a:close/>
              </a:path>
            </a:pathLst>
          </a:custGeom>
          <a:solidFill>
            <a:srgbClr val="3FD0E6"/>
          </a:solidFill>
          <a:ln/>
        </p:spPr>
      </p:sp>
      <p:sp>
        <p:nvSpPr>
          <p:cNvPr id="12" name="Text 10"/>
          <p:cNvSpPr/>
          <p:nvPr/>
        </p:nvSpPr>
        <p:spPr>
          <a:xfrm>
            <a:off x="4019550" y="2056098"/>
            <a:ext cx="508000" cy="185364"/>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3FD0E6"/>
                </a:solidFill>
                <a:latin typeface="JetBrains Mono" pitchFamily="34" charset="0"/>
                <a:ea typeface="JetBrains Mono" pitchFamily="34" charset="-122"/>
                <a:cs typeface="JetBrains Mono" pitchFamily="34" charset="-120"/>
              </a:rPr>
              <a:t>98.4%</a:t>
            </a:r>
            <a:endParaRPr lang="en-US" sz="900" dirty="0"/>
          </a:p>
        </p:txBody>
      </p:sp>
      <p:sp>
        <p:nvSpPr>
          <p:cNvPr id="13" name="Shape 11"/>
          <p:cNvSpPr/>
          <p:nvPr/>
        </p:nvSpPr>
        <p:spPr>
          <a:xfrm>
            <a:off x="4438650" y="2056098"/>
            <a:ext cx="355600" cy="114300"/>
          </a:xfrm>
          <a:custGeom>
            <a:avLst/>
            <a:gdLst/>
            <a:ahLst/>
            <a:cxnLst/>
            <a:rect l="l" t="t" r="r" b="b"/>
            <a:pathLst>
              <a:path w="355600" h="114300">
                <a:moveTo>
                  <a:pt x="25400" y="0"/>
                </a:moveTo>
                <a:lnTo>
                  <a:pt x="330200" y="0"/>
                </a:lnTo>
                <a:arcTo wR="25400" hR="25400" stAng="16200000" swAng="5400000"/>
                <a:lnTo>
                  <a:pt x="355600" y="114300"/>
                </a:lnTo>
                <a:lnTo>
                  <a:pt x="0" y="114300"/>
                </a:lnTo>
                <a:lnTo>
                  <a:pt x="0" y="25400"/>
                </a:lnTo>
                <a:arcTo wR="25400" hR="25400" stAng="10800000" swAng="5400000"/>
                <a:close/>
              </a:path>
            </a:pathLst>
          </a:custGeom>
          <a:solidFill>
            <a:srgbClr val="FF7A45"/>
          </a:solidFill>
          <a:ln/>
        </p:spPr>
      </p:sp>
      <p:sp>
        <p:nvSpPr>
          <p:cNvPr id="14" name="Text 12"/>
          <p:cNvSpPr/>
          <p:nvPr/>
        </p:nvSpPr>
        <p:spPr>
          <a:xfrm>
            <a:off x="4273737" y="4354798"/>
            <a:ext cx="342526"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k = 4</a:t>
            </a:r>
            <a:endParaRPr lang="en-US" sz="1000" dirty="0"/>
          </a:p>
        </p:txBody>
      </p:sp>
      <p:sp>
        <p:nvSpPr>
          <p:cNvPr id="15" name="Shape 13"/>
          <p:cNvSpPr/>
          <p:nvPr/>
        </p:nvSpPr>
        <p:spPr>
          <a:xfrm>
            <a:off x="6525652" y="2056098"/>
            <a:ext cx="355600" cy="2400300"/>
          </a:xfrm>
          <a:custGeom>
            <a:avLst/>
            <a:gdLst/>
            <a:ahLst/>
            <a:cxnLst/>
            <a:rect l="l" t="t" r="r" b="b"/>
            <a:pathLst>
              <a:path w="355600" h="2400300">
                <a:moveTo>
                  <a:pt x="50800" y="0"/>
                </a:moveTo>
                <a:lnTo>
                  <a:pt x="304800" y="0"/>
                </a:lnTo>
                <a:arcTo wR="50800" hR="50800" stAng="16200000" swAng="5400000"/>
                <a:lnTo>
                  <a:pt x="355600" y="2400300"/>
                </a:lnTo>
                <a:lnTo>
                  <a:pt x="0" y="2400300"/>
                </a:lnTo>
                <a:lnTo>
                  <a:pt x="0" y="50800"/>
                </a:lnTo>
                <a:arcTo wR="50800" hR="50800" stAng="10800000" swAng="5400000"/>
                <a:close/>
              </a:path>
            </a:pathLst>
          </a:custGeom>
          <a:solidFill>
            <a:srgbClr val="3FD0E6"/>
          </a:solidFill>
          <a:ln/>
        </p:spPr>
      </p:sp>
      <p:sp>
        <p:nvSpPr>
          <p:cNvPr id="16" name="Text 14"/>
          <p:cNvSpPr/>
          <p:nvPr/>
        </p:nvSpPr>
        <p:spPr>
          <a:xfrm>
            <a:off x="6500252" y="2056098"/>
            <a:ext cx="508000" cy="185364"/>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3FD0E6"/>
                </a:solidFill>
                <a:latin typeface="JetBrains Mono" pitchFamily="34" charset="0"/>
                <a:ea typeface="JetBrains Mono" pitchFamily="34" charset="-122"/>
                <a:cs typeface="JetBrains Mono" pitchFamily="34" charset="-120"/>
              </a:rPr>
              <a:t>99.9%</a:t>
            </a:r>
            <a:endParaRPr lang="en-US" sz="900" dirty="0"/>
          </a:p>
        </p:txBody>
      </p:sp>
      <p:sp>
        <p:nvSpPr>
          <p:cNvPr id="17" name="Shape 15"/>
          <p:cNvSpPr/>
          <p:nvPr/>
        </p:nvSpPr>
        <p:spPr>
          <a:xfrm>
            <a:off x="6919352" y="2056098"/>
            <a:ext cx="355600" cy="425450"/>
          </a:xfrm>
          <a:custGeom>
            <a:avLst/>
            <a:gdLst/>
            <a:ahLst/>
            <a:cxnLst/>
            <a:rect l="l" t="t" r="r" b="b"/>
            <a:pathLst>
              <a:path w="355600" h="425450">
                <a:moveTo>
                  <a:pt x="25400" y="0"/>
                </a:moveTo>
                <a:lnTo>
                  <a:pt x="330200" y="0"/>
                </a:lnTo>
                <a:arcTo wR="25400" hR="25400" stAng="16200000" swAng="5400000"/>
                <a:lnTo>
                  <a:pt x="355600" y="425450"/>
                </a:lnTo>
                <a:lnTo>
                  <a:pt x="0" y="425450"/>
                </a:lnTo>
                <a:lnTo>
                  <a:pt x="0" y="25400"/>
                </a:lnTo>
                <a:arcTo wR="25400" hR="25400" stAng="10800000" swAng="5400000"/>
                <a:close/>
              </a:path>
            </a:pathLst>
          </a:custGeom>
          <a:solidFill>
            <a:srgbClr val="FF7A45"/>
          </a:solidFill>
          <a:ln/>
        </p:spPr>
      </p:sp>
      <p:sp>
        <p:nvSpPr>
          <p:cNvPr id="18" name="Text 16"/>
          <p:cNvSpPr/>
          <p:nvPr/>
        </p:nvSpPr>
        <p:spPr>
          <a:xfrm>
            <a:off x="6893952" y="2056098"/>
            <a:ext cx="508000" cy="185364"/>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FF7A45"/>
                </a:solidFill>
                <a:latin typeface="JetBrains Mono" pitchFamily="34" charset="0"/>
                <a:ea typeface="JetBrains Mono" pitchFamily="34" charset="-122"/>
                <a:cs typeface="JetBrains Mono" pitchFamily="34" charset="-120"/>
              </a:rPr>
              <a:t>17.8%</a:t>
            </a:r>
            <a:endParaRPr lang="en-US" sz="900" dirty="0"/>
          </a:p>
        </p:txBody>
      </p:sp>
      <p:sp>
        <p:nvSpPr>
          <p:cNvPr id="19" name="Text 17"/>
          <p:cNvSpPr/>
          <p:nvPr/>
        </p:nvSpPr>
        <p:spPr>
          <a:xfrm>
            <a:off x="6728759" y="4354798"/>
            <a:ext cx="393980"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k = 16</a:t>
            </a:r>
            <a:endParaRPr lang="en-US" sz="1000" dirty="0"/>
          </a:p>
        </p:txBody>
      </p:sp>
      <p:sp>
        <p:nvSpPr>
          <p:cNvPr id="20" name="Shape 18"/>
          <p:cNvSpPr/>
          <p:nvPr/>
        </p:nvSpPr>
        <p:spPr>
          <a:xfrm>
            <a:off x="812800" y="4672298"/>
            <a:ext cx="101600" cy="101600"/>
          </a:xfrm>
          <a:prstGeom prst="roundRect">
            <a:avLst>
              <a:gd name="adj" fmla="val 25000"/>
            </a:avLst>
          </a:prstGeom>
          <a:solidFill>
            <a:srgbClr val="3FD0E6"/>
          </a:solidFill>
          <a:ln/>
        </p:spPr>
      </p:sp>
      <p:sp>
        <p:nvSpPr>
          <p:cNvPr id="21" name="Text 19"/>
          <p:cNvSpPr/>
          <p:nvPr/>
        </p:nvSpPr>
        <p:spPr>
          <a:xfrm>
            <a:off x="965200" y="4634198"/>
            <a:ext cx="1283914"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bridge construction</a:t>
            </a:r>
            <a:endParaRPr lang="en-US" sz="1000" dirty="0"/>
          </a:p>
        </p:txBody>
      </p:sp>
      <p:sp>
        <p:nvSpPr>
          <p:cNvPr id="22" name="Shape 20"/>
          <p:cNvSpPr/>
          <p:nvPr/>
        </p:nvSpPr>
        <p:spPr>
          <a:xfrm>
            <a:off x="2325314" y="4672298"/>
            <a:ext cx="101600" cy="101600"/>
          </a:xfrm>
          <a:prstGeom prst="roundRect">
            <a:avLst>
              <a:gd name="adj" fmla="val 25000"/>
            </a:avLst>
          </a:prstGeom>
          <a:solidFill>
            <a:srgbClr val="FF7A45"/>
          </a:solidFill>
          <a:ln/>
        </p:spPr>
      </p:sp>
      <p:sp>
        <p:nvSpPr>
          <p:cNvPr id="23" name="Text 21"/>
          <p:cNvSpPr/>
          <p:nvPr/>
        </p:nvSpPr>
        <p:spPr>
          <a:xfrm>
            <a:off x="2477714" y="4634198"/>
            <a:ext cx="1612993"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incremental construction</a:t>
            </a:r>
            <a:endParaRPr lang="en-US" sz="1000" dirty="0"/>
          </a:p>
        </p:txBody>
      </p:sp>
      <p:sp>
        <p:nvSpPr>
          <p:cNvPr id="24" name="Shape 22"/>
          <p:cNvSpPr/>
          <p:nvPr/>
        </p:nvSpPr>
        <p:spPr>
          <a:xfrm>
            <a:off x="8331200" y="2014451"/>
            <a:ext cx="3048000" cy="1422026"/>
          </a:xfrm>
          <a:prstGeom prst="roundRect">
            <a:avLst>
              <a:gd name="adj" fmla="val 8931"/>
            </a:avLst>
          </a:prstGeom>
          <a:solidFill>
            <a:srgbClr val="201A3D"/>
          </a:solidFill>
          <a:ln/>
        </p:spPr>
      </p:sp>
      <p:sp>
        <p:nvSpPr>
          <p:cNvPr id="25" name="Text 23"/>
          <p:cNvSpPr/>
          <p:nvPr/>
        </p:nvSpPr>
        <p:spPr>
          <a:xfrm>
            <a:off x="8509000" y="2192251"/>
            <a:ext cx="2773172" cy="10918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The bridge maps Sobol dimension </a:t>
            </a:r>
            <a:r>
              <a:rPr lang="en-US" sz="1200" b="1" dirty="0">
                <a:solidFill>
                  <a:srgbClr val="F2EFFA"/>
                </a:solidFill>
                <a:latin typeface="Space Grotesk" pitchFamily="34" charset="0"/>
                <a:ea typeface="Space Grotesk" pitchFamily="34" charset="-122"/>
                <a:cs typeface="Space Grotesk" pitchFamily="34" charset="-120"/>
              </a:rPr>
              <a:t>0 straight to the terminal price</a:t>
            </a:r>
            <a:r>
              <a:rPr lang="en-US" sz="1200" dirty="0">
                <a:solidFill>
                  <a:srgbClr val="F2EFFA"/>
                </a:solidFill>
                <a:latin typeface="Space Grotesk" pitchFamily="34" charset="0"/>
                <a:ea typeface="Space Grotesk" pitchFamily="34" charset="-122"/>
                <a:cs typeface="Space Grotesk" pitchFamily="34" charset="-120"/>
              </a:rPr>
              <a:t>, so nearly all the low-discrepancy structure lands where the payoff actually looks.</a:t>
            </a:r>
            <a:endParaRPr lang="en-US" sz="1200" dirty="0"/>
          </a:p>
        </p:txBody>
      </p:sp>
      <p:sp>
        <p:nvSpPr>
          <p:cNvPr id="26" name="Shape 24"/>
          <p:cNvSpPr/>
          <p:nvPr/>
        </p:nvSpPr>
        <p:spPr>
          <a:xfrm>
            <a:off x="8331200" y="3550766"/>
            <a:ext cx="3048000" cy="1069228"/>
          </a:xfrm>
          <a:prstGeom prst="roundRect">
            <a:avLst>
              <a:gd name="adj" fmla="val 11878"/>
            </a:avLst>
          </a:prstGeom>
          <a:solidFill>
            <a:srgbClr val="201A3D"/>
          </a:solidFill>
          <a:ln/>
        </p:spPr>
      </p:sp>
      <p:sp>
        <p:nvSpPr>
          <p:cNvPr id="27" name="Text 25"/>
          <p:cNvSpPr/>
          <p:nvPr/>
        </p:nvSpPr>
        <p:spPr>
          <a:xfrm>
            <a:off x="8509000" y="3728566"/>
            <a:ext cx="2773172" cy="309843"/>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D0E6"/>
                </a:solidFill>
                <a:latin typeface="JetBrains Mono" pitchFamily="34" charset="0"/>
                <a:ea typeface="JetBrains Mono" pitchFamily="34" charset="-122"/>
                <a:cs typeface="JetBrains Mono" pitchFamily="34" charset="-120"/>
              </a:rPr>
              <a:t>27–536×</a:t>
            </a:r>
            <a:endParaRPr lang="en-US" sz="1600" dirty="0"/>
          </a:p>
        </p:txBody>
      </p:sp>
      <p:sp>
        <p:nvSpPr>
          <p:cNvPr id="28" name="Text 26"/>
          <p:cNvSpPr/>
          <p:nvPr/>
        </p:nvSpPr>
        <p:spPr>
          <a:xfrm>
            <a:off x="8509000" y="4051114"/>
            <a:ext cx="2773172" cy="416485"/>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lower variance, bridge vs incremental, across 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7A45"/>
                </a:solidFill>
                <a:latin typeface="Space Grotesk" pitchFamily="34" charset="0"/>
                <a:ea typeface="Space Grotesk" pitchFamily="34" charset="-122"/>
                <a:cs typeface="Space Grotesk" pitchFamily="34" charset="-120"/>
              </a:rPr>
              <a:t>6 · WHAT WE ADDED</a:t>
            </a:r>
            <a:endParaRPr lang="en-US" sz="1200" dirty="0"/>
          </a:p>
        </p:txBody>
      </p:sp>
      <p:sp>
        <p:nvSpPr>
          <p:cNvPr id="3" name="Text 1"/>
          <p:cNvSpPr/>
          <p:nvPr/>
        </p:nvSpPr>
        <p:spPr>
          <a:xfrm>
            <a:off x="812800" y="1254683"/>
            <a:ext cx="10883392" cy="416485"/>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2EFFA"/>
                </a:solidFill>
                <a:latin typeface="Fraunces" pitchFamily="34" charset="0"/>
                <a:ea typeface="Fraunces" pitchFamily="34" charset="-122"/>
                <a:cs typeface="Fraunces" pitchFamily="34" charset="-120"/>
              </a:rPr>
              <a:t>Steering paths toward the rare event</a:t>
            </a:r>
            <a:endParaRPr lang="en-US" sz="2800" dirty="0"/>
          </a:p>
        </p:txBody>
      </p:sp>
      <p:pic>
        <p:nvPicPr>
          <p:cNvPr id="4" name="Image 0" descr="A pattern of arrows steered from every direction into a small central target, representing importance sampling"/>
          <p:cNvPicPr>
            <a:picLocks noChangeAspect="1"/>
          </p:cNvPicPr>
          <p:nvPr/>
        </p:nvPicPr>
        <p:blipFill>
          <a:blip r:embed="rId3"/>
          <a:srcRect/>
          <a:stretch/>
        </p:blipFill>
        <p:spPr>
          <a:xfrm>
            <a:off x="876300" y="2842183"/>
            <a:ext cx="2032000" cy="2032000"/>
          </a:xfrm>
          <a:prstGeom prst="rect">
            <a:avLst/>
          </a:prstGeom>
        </p:spPr>
      </p:pic>
      <p:sp>
        <p:nvSpPr>
          <p:cNvPr id="5" name="Shape 2"/>
          <p:cNvSpPr/>
          <p:nvPr/>
        </p:nvSpPr>
        <p:spPr>
          <a:xfrm>
            <a:off x="3251200" y="2607332"/>
            <a:ext cx="3987800" cy="1272428"/>
          </a:xfrm>
          <a:prstGeom prst="roundRect">
            <a:avLst>
              <a:gd name="adj" fmla="val 9981"/>
            </a:avLst>
          </a:prstGeom>
          <a:solidFill>
            <a:srgbClr val="201A3D"/>
          </a:solidFill>
          <a:ln/>
        </p:spPr>
      </p:sp>
      <p:sp>
        <p:nvSpPr>
          <p:cNvPr id="6" name="Text 3"/>
          <p:cNvSpPr/>
          <p:nvPr/>
        </p:nvSpPr>
        <p:spPr>
          <a:xfrm>
            <a:off x="3441700" y="2797832"/>
            <a:ext cx="3715004" cy="487643"/>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3FD0E6"/>
                </a:solidFill>
                <a:latin typeface="JetBrains Mono" pitchFamily="34" charset="0"/>
                <a:ea typeface="JetBrains Mono" pitchFamily="34" charset="-122"/>
                <a:cs typeface="JetBrains Mono" pitchFamily="34" charset="-120"/>
              </a:rPr>
              <a:t>48.6×</a:t>
            </a:r>
            <a:endParaRPr lang="en-US" sz="2600" dirty="0"/>
          </a:p>
        </p:txBody>
      </p:sp>
      <p:sp>
        <p:nvSpPr>
          <p:cNvPr id="7" name="Text 4"/>
          <p:cNvSpPr/>
          <p:nvPr/>
        </p:nvSpPr>
        <p:spPr>
          <a:xfrm>
            <a:off x="3441700" y="3298168"/>
            <a:ext cx="3715004" cy="416485"/>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efficiency, rare barrier B=160 (1.9% knock-in), N=65,536</a:t>
            </a:r>
            <a:endParaRPr lang="en-US" sz="1100" dirty="0"/>
          </a:p>
        </p:txBody>
      </p:sp>
      <p:sp>
        <p:nvSpPr>
          <p:cNvPr id="8" name="Shape 5"/>
          <p:cNvSpPr/>
          <p:nvPr/>
        </p:nvSpPr>
        <p:spPr>
          <a:xfrm>
            <a:off x="7391400" y="2607332"/>
            <a:ext cx="3987800" cy="1272428"/>
          </a:xfrm>
          <a:prstGeom prst="roundRect">
            <a:avLst>
              <a:gd name="adj" fmla="val 9981"/>
            </a:avLst>
          </a:prstGeom>
          <a:solidFill>
            <a:srgbClr val="201A3D"/>
          </a:solidFill>
          <a:ln/>
        </p:spPr>
      </p:sp>
      <p:sp>
        <p:nvSpPr>
          <p:cNvPr id="9" name="Text 6"/>
          <p:cNvSpPr/>
          <p:nvPr/>
        </p:nvSpPr>
        <p:spPr>
          <a:xfrm>
            <a:off x="7581900" y="2797832"/>
            <a:ext cx="3715004" cy="487643"/>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3FD0E6"/>
                </a:solidFill>
                <a:latin typeface="JetBrains Mono" pitchFamily="34" charset="0"/>
                <a:ea typeface="JetBrains Mono" pitchFamily="34" charset="-122"/>
                <a:cs typeface="JetBrains Mono" pitchFamily="34" charset="-120"/>
              </a:rPr>
              <a:t>8.8×</a:t>
            </a:r>
            <a:endParaRPr lang="en-US" sz="2600" dirty="0"/>
          </a:p>
        </p:txBody>
      </p:sp>
      <p:sp>
        <p:nvSpPr>
          <p:cNvPr id="10" name="Text 7"/>
          <p:cNvSpPr/>
          <p:nvPr/>
        </p:nvSpPr>
        <p:spPr>
          <a:xfrm>
            <a:off x="7581900" y="3298168"/>
            <a:ext cx="371500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efficiency, deep barrier B=140 (9.3% knock-in)</a:t>
            </a:r>
            <a:endParaRPr lang="en-US" sz="1100" dirty="0"/>
          </a:p>
        </p:txBody>
      </p:sp>
      <p:sp>
        <p:nvSpPr>
          <p:cNvPr id="11" name="Shape 8"/>
          <p:cNvSpPr/>
          <p:nvPr/>
        </p:nvSpPr>
        <p:spPr>
          <a:xfrm>
            <a:off x="3251200" y="4032163"/>
            <a:ext cx="3987800" cy="1076885"/>
          </a:xfrm>
          <a:prstGeom prst="roundRect">
            <a:avLst>
              <a:gd name="adj" fmla="val 11793"/>
            </a:avLst>
          </a:prstGeom>
          <a:solidFill>
            <a:srgbClr val="201A3D"/>
          </a:solidFill>
          <a:ln/>
        </p:spPr>
      </p:sp>
      <p:sp>
        <p:nvSpPr>
          <p:cNvPr id="12" name="Text 9"/>
          <p:cNvSpPr/>
          <p:nvPr/>
        </p:nvSpPr>
        <p:spPr>
          <a:xfrm>
            <a:off x="3441700" y="4222663"/>
            <a:ext cx="37150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58BFF"/>
                </a:solidFill>
                <a:latin typeface="JetBrains Mono" pitchFamily="34" charset="0"/>
                <a:ea typeface="JetBrains Mono" pitchFamily="34" charset="-122"/>
                <a:cs typeface="JetBrains Mono" pitchFamily="34" charset="-120"/>
              </a:rPr>
              <a:t>1.9% → 57%</a:t>
            </a:r>
            <a:endParaRPr lang="en-US" sz="1500" dirty="0"/>
          </a:p>
        </p:txBody>
      </p:sp>
      <p:sp>
        <p:nvSpPr>
          <p:cNvPr id="13" name="Text 10"/>
          <p:cNvSpPr/>
          <p:nvPr/>
        </p:nvSpPr>
        <p:spPr>
          <a:xfrm>
            <a:off x="3441700" y="4527463"/>
            <a:ext cx="3715004" cy="416485"/>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rare barrier: knock-in rate under plain sampling → under the tilted proposal</a:t>
            </a:r>
            <a:endParaRPr lang="en-US" sz="1100" dirty="0"/>
          </a:p>
        </p:txBody>
      </p:sp>
      <p:sp>
        <p:nvSpPr>
          <p:cNvPr id="14" name="Shape 11"/>
          <p:cNvSpPr/>
          <p:nvPr/>
        </p:nvSpPr>
        <p:spPr>
          <a:xfrm>
            <a:off x="7391400" y="4032163"/>
            <a:ext cx="3987800" cy="1076885"/>
          </a:xfrm>
          <a:prstGeom prst="roundRect">
            <a:avLst>
              <a:gd name="adj" fmla="val 11793"/>
            </a:avLst>
          </a:prstGeom>
          <a:solidFill>
            <a:srgbClr val="201A3D"/>
          </a:solidFill>
          <a:ln/>
        </p:spPr>
      </p:sp>
      <p:sp>
        <p:nvSpPr>
          <p:cNvPr id="15" name="Text 12"/>
          <p:cNvSpPr/>
          <p:nvPr/>
        </p:nvSpPr>
        <p:spPr>
          <a:xfrm>
            <a:off x="7581900" y="4222663"/>
            <a:ext cx="37150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58BFF"/>
                </a:solidFill>
                <a:latin typeface="JetBrains Mono" pitchFamily="34" charset="0"/>
                <a:ea typeface="JetBrains Mono" pitchFamily="34" charset="-122"/>
                <a:cs typeface="JetBrains Mono" pitchFamily="34" charset="-120"/>
              </a:rPr>
              <a:t>9.3% → 60%</a:t>
            </a:r>
            <a:endParaRPr lang="en-US" sz="1500" dirty="0"/>
          </a:p>
        </p:txBody>
      </p:sp>
      <p:sp>
        <p:nvSpPr>
          <p:cNvPr id="16" name="Text 13"/>
          <p:cNvSpPr/>
          <p:nvPr/>
        </p:nvSpPr>
        <p:spPr>
          <a:xfrm>
            <a:off x="7581900" y="4527463"/>
            <a:ext cx="371500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deep barrier: same shift under its own tuned tilt</a:t>
            </a:r>
            <a:endParaRPr lang="en-US" sz="1100" dirty="0"/>
          </a:p>
        </p:txBody>
      </p:sp>
      <p:sp>
        <p:nvSpPr>
          <p:cNvPr id="17" name="Text 14"/>
          <p:cNvSpPr/>
          <p:nvPr/>
        </p:nvSpPr>
        <p:spPr>
          <a:xfrm>
            <a:off x="812800" y="6238317"/>
            <a:ext cx="8233143"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drift-shift the simulation toward the barrier, then reweight every path by its likelihood ratio to stay unbiased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7A45"/>
                </a:solidFill>
                <a:latin typeface="Space Grotesk" pitchFamily="34" charset="0"/>
                <a:ea typeface="Space Grotesk" pitchFamily="34" charset="-122"/>
                <a:cs typeface="Space Grotesk" pitchFamily="34" charset="-120"/>
              </a:rPr>
              <a:t>6 · WHAT WE ADDED</a:t>
            </a:r>
            <a:endParaRPr lang="en-US" sz="1200" dirty="0"/>
          </a:p>
        </p:txBody>
      </p:sp>
      <p:sp>
        <p:nvSpPr>
          <p:cNvPr id="3" name="Text 1"/>
          <p:cNvSpPr/>
          <p:nvPr/>
        </p:nvSpPr>
        <p:spPr>
          <a:xfrm>
            <a:off x="812800" y="1229283"/>
            <a:ext cx="10883392" cy="416485"/>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2EFFA"/>
                </a:solidFill>
                <a:latin typeface="Fraunces" pitchFamily="34" charset="0"/>
                <a:ea typeface="Fraunces" pitchFamily="34" charset="-122"/>
                <a:cs typeface="Fraunces" pitchFamily="34" charset="-120"/>
              </a:rPr>
              <a:t>Importance sampling has fine print</a:t>
            </a:r>
            <a:endParaRPr lang="en-US" sz="2800" dirty="0"/>
          </a:p>
        </p:txBody>
      </p:sp>
      <p:sp>
        <p:nvSpPr>
          <p:cNvPr id="4" name="Shape 2"/>
          <p:cNvSpPr/>
          <p:nvPr/>
        </p:nvSpPr>
        <p:spPr>
          <a:xfrm>
            <a:off x="812800" y="1823566"/>
            <a:ext cx="5080000" cy="2540000"/>
          </a:xfrm>
          <a:prstGeom prst="roundRect">
            <a:avLst>
              <a:gd name="adj" fmla="val 6000"/>
            </a:avLst>
          </a:prstGeom>
          <a:solidFill>
            <a:srgbClr val="201A3D"/>
          </a:solidFill>
          <a:ln/>
        </p:spPr>
      </p:sp>
      <p:pic>
        <p:nvPicPr>
          <p:cNvPr id="5" name="Image 0" descr="Efficiency of importance sampling versus plain Monte Carlo, deep barrier, crossing from below one to well above one as N grows"/>
          <p:cNvPicPr>
            <a:picLocks noChangeAspect="1"/>
          </p:cNvPicPr>
          <p:nvPr/>
        </p:nvPicPr>
        <p:blipFill>
          <a:blip r:embed="rId3"/>
          <a:srcRect/>
          <a:stretch/>
        </p:blipFill>
        <p:spPr>
          <a:xfrm>
            <a:off x="939800" y="1950566"/>
            <a:ext cx="4826000" cy="2159000"/>
          </a:xfrm>
          <a:prstGeom prst="rect">
            <a:avLst/>
          </a:prstGeom>
        </p:spPr>
      </p:pic>
      <p:sp>
        <p:nvSpPr>
          <p:cNvPr id="6" name="Text 3"/>
          <p:cNvSpPr/>
          <p:nvPr/>
        </p:nvSpPr>
        <p:spPr>
          <a:xfrm>
            <a:off x="4368800" y="2522066"/>
            <a:ext cx="1574800" cy="363071"/>
          </a:xfrm>
          <a:prstGeom prst="rect">
            <a:avLst/>
          </a:prstGeom>
          <a:noFill/>
          <a:ln/>
        </p:spPr>
        <p:txBody>
          <a:bodyPr wrap="square" lIns="0" tIns="0" rIns="0" bIns="0" rtlCol="0" anchor="t">
            <a:normAutofit/>
          </a:bodyPr>
          <a:lstStyle/>
          <a:p>
            <a:pPr marL="0" indent="0" algn="l">
              <a:lnSpc>
                <a:spcPts val="1330"/>
              </a:lnSpc>
              <a:buNone/>
            </a:pPr>
            <a:r>
              <a:rPr lang="en-US" sz="950" dirty="0">
                <a:solidFill>
                  <a:srgbClr val="FF7A45"/>
                </a:solidFill>
                <a:latin typeface="Space Grotesk" pitchFamily="34" charset="0"/>
                <a:ea typeface="Space Grotesk" pitchFamily="34" charset="-122"/>
                <a:cs typeface="Space Grotesk" pitchFamily="34" charset="-120"/>
              </a:rPr>
              <a:t>efficiency = 1 (break-even)</a:t>
            </a:r>
            <a:endParaRPr lang="en-US" sz="950" dirty="0"/>
          </a:p>
        </p:txBody>
      </p:sp>
      <p:sp>
        <p:nvSpPr>
          <p:cNvPr id="7" name="Text 4"/>
          <p:cNvSpPr/>
          <p:nvPr/>
        </p:nvSpPr>
        <p:spPr>
          <a:xfrm>
            <a:off x="1003300" y="3830166"/>
            <a:ext cx="404626"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N=256</a:t>
            </a:r>
            <a:endParaRPr lang="en-US" sz="900" dirty="0"/>
          </a:p>
        </p:txBody>
      </p:sp>
      <p:sp>
        <p:nvSpPr>
          <p:cNvPr id="8" name="Text 5"/>
          <p:cNvSpPr/>
          <p:nvPr/>
        </p:nvSpPr>
        <p:spPr>
          <a:xfrm>
            <a:off x="5270220" y="3830166"/>
            <a:ext cx="571780" cy="185364"/>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A83AB"/>
                </a:solidFill>
                <a:latin typeface="Space Grotesk" pitchFamily="34" charset="0"/>
                <a:ea typeface="Space Grotesk" pitchFamily="34" charset="-122"/>
                <a:cs typeface="Space Grotesk" pitchFamily="34" charset="-120"/>
              </a:rPr>
              <a:t>N=65,536</a:t>
            </a:r>
            <a:endParaRPr lang="en-US" sz="900" dirty="0"/>
          </a:p>
        </p:txBody>
      </p:sp>
      <p:sp>
        <p:nvSpPr>
          <p:cNvPr id="9" name="Text 6"/>
          <p:cNvSpPr/>
          <p:nvPr/>
        </p:nvSpPr>
        <p:spPr>
          <a:xfrm>
            <a:off x="863600" y="3296766"/>
            <a:ext cx="1320800" cy="194235"/>
          </a:xfrm>
          <a:prstGeom prst="rect">
            <a:avLst/>
          </a:prstGeom>
          <a:noFill/>
          <a:ln/>
        </p:spPr>
        <p:txBody>
          <a:bodyPr wrap="square" lIns="0" tIns="0" rIns="0" bIns="0" rtlCol="0" anchor="t">
            <a:normAutofit/>
          </a:bodyPr>
          <a:lstStyle/>
          <a:p>
            <a:pPr marL="0" indent="0" algn="l">
              <a:lnSpc>
                <a:spcPts val="1330"/>
              </a:lnSpc>
              <a:buNone/>
            </a:pPr>
            <a:r>
              <a:rPr lang="en-US" sz="950" b="1" dirty="0">
                <a:solidFill>
                  <a:srgbClr val="FF7A45"/>
                </a:solidFill>
                <a:latin typeface="Space Grotesk" pitchFamily="34" charset="0"/>
                <a:ea typeface="Space Grotesk" pitchFamily="34" charset="-122"/>
                <a:cs typeface="Space Grotesk" pitchFamily="34" charset="-120"/>
              </a:rPr>
              <a:t>0.07× at N=256</a:t>
            </a:r>
            <a:endParaRPr lang="en-US" sz="950" dirty="0"/>
          </a:p>
        </p:txBody>
      </p:sp>
      <p:sp>
        <p:nvSpPr>
          <p:cNvPr id="10" name="Text 7"/>
          <p:cNvSpPr/>
          <p:nvPr/>
        </p:nvSpPr>
        <p:spPr>
          <a:xfrm>
            <a:off x="4521200" y="2141066"/>
            <a:ext cx="1320800" cy="194235"/>
          </a:xfrm>
          <a:prstGeom prst="rect">
            <a:avLst/>
          </a:prstGeom>
          <a:noFill/>
          <a:ln/>
        </p:spPr>
        <p:txBody>
          <a:bodyPr wrap="square" lIns="0" tIns="0" rIns="0" bIns="0" rtlCol="0" anchor="t">
            <a:normAutofit/>
          </a:bodyPr>
          <a:lstStyle/>
          <a:p>
            <a:pPr marL="0" indent="0" algn="r">
              <a:lnSpc>
                <a:spcPts val="1330"/>
              </a:lnSpc>
              <a:buNone/>
            </a:pPr>
            <a:r>
              <a:rPr lang="en-US" sz="950" b="1" dirty="0">
                <a:solidFill>
                  <a:srgbClr val="3FD0E6"/>
                </a:solidFill>
                <a:latin typeface="Space Grotesk" pitchFamily="34" charset="0"/>
                <a:ea typeface="Space Grotesk" pitchFamily="34" charset="-122"/>
                <a:cs typeface="Space Grotesk" pitchFamily="34" charset="-120"/>
              </a:rPr>
              <a:t>8.6× at N=65,536</a:t>
            </a:r>
            <a:endParaRPr lang="en-US" sz="950" dirty="0"/>
          </a:p>
        </p:txBody>
      </p:sp>
      <p:sp>
        <p:nvSpPr>
          <p:cNvPr id="11" name="Shape 8"/>
          <p:cNvSpPr/>
          <p:nvPr/>
        </p:nvSpPr>
        <p:spPr>
          <a:xfrm>
            <a:off x="6172200" y="2912219"/>
            <a:ext cx="5207000" cy="756771"/>
          </a:xfrm>
          <a:prstGeom prst="roundRect">
            <a:avLst>
              <a:gd name="adj" fmla="val 16782"/>
            </a:avLst>
          </a:prstGeom>
          <a:solidFill>
            <a:srgbClr val="201A3D"/>
          </a:solidFill>
          <a:ln/>
        </p:spPr>
      </p:sp>
      <p:sp>
        <p:nvSpPr>
          <p:cNvPr id="12" name="Text 9"/>
          <p:cNvSpPr/>
          <p:nvPr/>
        </p:nvSpPr>
        <p:spPr>
          <a:xfrm>
            <a:off x="6337300" y="3077319"/>
            <a:ext cx="5023104" cy="4519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Below </a:t>
            </a:r>
            <a:r>
              <a:rPr lang="en-US" sz="1200" b="1" dirty="0">
                <a:solidFill>
                  <a:srgbClr val="F2EFFA"/>
                </a:solidFill>
                <a:latin typeface="Space Grotesk" pitchFamily="34" charset="0"/>
                <a:ea typeface="Space Grotesk" pitchFamily="34" charset="-122"/>
                <a:cs typeface="Space Grotesk" pitchFamily="34" charset="-120"/>
              </a:rPr>
              <a:t>N ≈ 2,000–4,000</a:t>
            </a:r>
            <a:r>
              <a:rPr lang="en-US" sz="1200" dirty="0">
                <a:solidFill>
                  <a:srgbClr val="F2EFFA"/>
                </a:solidFill>
                <a:latin typeface="Space Grotesk" pitchFamily="34" charset="0"/>
                <a:ea typeface="Space Grotesk" pitchFamily="34" charset="-122"/>
                <a:cs typeface="Space Grotesk" pitchFamily="34" charset="-120"/>
              </a:rPr>
              <a:t>, the pilot run to tune the drift costs more than plain MC saves — IS is </a:t>
            </a:r>
            <a:r>
              <a:rPr lang="en-US" sz="1200" b="1" dirty="0">
                <a:solidFill>
                  <a:srgbClr val="F2EFFA"/>
                </a:solidFill>
                <a:latin typeface="Space Grotesk" pitchFamily="34" charset="0"/>
                <a:ea typeface="Space Grotesk" pitchFamily="34" charset="-122"/>
                <a:cs typeface="Space Grotesk" pitchFamily="34" charset="-120"/>
              </a:rPr>
              <a:t>worse</a:t>
            </a:r>
            <a:r>
              <a:rPr lang="en-US" sz="1200" dirty="0">
                <a:solidFill>
                  <a:srgbClr val="F2EFFA"/>
                </a:solidFill>
                <a:latin typeface="Space Grotesk" pitchFamily="34" charset="0"/>
                <a:ea typeface="Space Grotesk" pitchFamily="34" charset="-122"/>
                <a:cs typeface="Space Grotesk" pitchFamily="34" charset="-120"/>
              </a:rPr>
              <a:t> than doing nothing.</a:t>
            </a:r>
            <a:endParaRPr lang="en-US" sz="1200" dirty="0"/>
          </a:p>
        </p:txBody>
      </p:sp>
      <p:sp>
        <p:nvSpPr>
          <p:cNvPr id="13" name="Shape 10"/>
          <p:cNvSpPr/>
          <p:nvPr/>
        </p:nvSpPr>
        <p:spPr>
          <a:xfrm>
            <a:off x="6172200" y="3783298"/>
            <a:ext cx="5207000" cy="970056"/>
          </a:xfrm>
          <a:prstGeom prst="roundRect">
            <a:avLst>
              <a:gd name="adj" fmla="val 13092"/>
            </a:avLst>
          </a:prstGeom>
          <a:solidFill>
            <a:srgbClr val="201A3D"/>
          </a:solidFill>
          <a:ln/>
        </p:spPr>
      </p:sp>
      <p:sp>
        <p:nvSpPr>
          <p:cNvPr id="14" name="Text 11"/>
          <p:cNvSpPr/>
          <p:nvPr/>
        </p:nvSpPr>
        <p:spPr>
          <a:xfrm>
            <a:off x="6337300" y="3948398"/>
            <a:ext cx="5023104" cy="6652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The ESS paradox: the rare barrier's effective sample size is </a:t>
            </a:r>
            <a:r>
              <a:rPr lang="en-US" sz="1200" b="1" dirty="0">
                <a:solidFill>
                  <a:srgbClr val="F2EFFA"/>
                </a:solidFill>
                <a:latin typeface="Space Grotesk" pitchFamily="34" charset="0"/>
                <a:ea typeface="Space Grotesk" pitchFamily="34" charset="-122"/>
                <a:cs typeface="Space Grotesk" pitchFamily="34" charset="-120"/>
              </a:rPr>
              <a:t>1.1% of N</a:t>
            </a:r>
            <a:r>
              <a:rPr lang="en-US" sz="1200" dirty="0">
                <a:solidFill>
                  <a:srgbClr val="F2EFFA"/>
                </a:solidFill>
                <a:latin typeface="Space Grotesk" pitchFamily="34" charset="0"/>
                <a:ea typeface="Space Grotesk" pitchFamily="34" charset="-122"/>
                <a:cs typeface="Space Grotesk" pitchFamily="34" charset="-120"/>
              </a:rPr>
              <a:t>, yet its VRF is </a:t>
            </a:r>
            <a:r>
              <a:rPr lang="en-US" sz="1200" b="1" dirty="0">
                <a:solidFill>
                  <a:srgbClr val="F2EFFA"/>
                </a:solidFill>
                <a:latin typeface="Space Grotesk" pitchFamily="34" charset="0"/>
                <a:ea typeface="Space Grotesk" pitchFamily="34" charset="-122"/>
                <a:cs typeface="Space Grotesk" pitchFamily="34" charset="-120"/>
              </a:rPr>
              <a:t>22×</a:t>
            </a:r>
            <a:r>
              <a:rPr lang="en-US" sz="1200" dirty="0">
                <a:solidFill>
                  <a:srgbClr val="F2EFFA"/>
                </a:solidFill>
                <a:latin typeface="Space Grotesk" pitchFamily="34" charset="0"/>
                <a:ea typeface="Space Grotesk" pitchFamily="34" charset="-122"/>
                <a:cs typeface="Space Grotesk" pitchFamily="34" charset="-120"/>
              </a:rPr>
              <a:t> — the few huge weights land on the paths that would otherwise contribute nothing.</a:t>
            </a:r>
            <a:endParaRPr lang="en-US" sz="1200" dirty="0"/>
          </a:p>
        </p:txBody>
      </p:sp>
      <p:sp>
        <p:nvSpPr>
          <p:cNvPr id="15" name="Text 12"/>
          <p:cNvSpPr/>
          <p:nvPr/>
        </p:nvSpPr>
        <p:spPr>
          <a:xfrm>
            <a:off x="812800" y="6238317"/>
            <a:ext cx="9706679"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A fixed 7-point θ grid also undershoots near the paper barrier — the true optimum runs about 2.3× further than the grid reaches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6238317"/>
            <a:ext cx="906244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BGK correction: accurate to 0.0006 at 252 dates, but overshoots by 0.034 at 12 — an asymptotic fix, not a universal one</a:t>
            </a:r>
            <a:endParaRPr lang="en-US" sz="1200" dirty="0"/>
          </a:p>
        </p:txBody>
      </p:sp>
      <p:sp>
        <p:nvSpPr>
          <p:cNvPr id="3" name="Text 1"/>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7A45"/>
                </a:solidFill>
                <a:latin typeface="Space Grotesk" pitchFamily="34" charset="0"/>
                <a:ea typeface="Space Grotesk" pitchFamily="34" charset="-122"/>
                <a:cs typeface="Space Grotesk" pitchFamily="34" charset="-120"/>
              </a:rPr>
              <a:t>6 · WHAT WE ADDED</a:t>
            </a:r>
            <a:endParaRPr lang="en-US" sz="1200" dirty="0"/>
          </a:p>
        </p:txBody>
      </p:sp>
      <p:sp>
        <p:nvSpPr>
          <p:cNvPr id="4" name="Text 2"/>
          <p:cNvSpPr/>
          <p:nvPr/>
        </p:nvSpPr>
        <p:spPr>
          <a:xfrm>
            <a:off x="812800" y="1231900"/>
            <a:ext cx="10883392" cy="416485"/>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2EFFA"/>
                </a:solidFill>
                <a:latin typeface="Fraunces" pitchFamily="34" charset="0"/>
                <a:ea typeface="Fraunces" pitchFamily="34" charset="-122"/>
                <a:cs typeface="Fraunces" pitchFamily="34" charset="-120"/>
              </a:rPr>
              <a:t>Monitoring less often costs you a real bias</a:t>
            </a:r>
            <a:endParaRPr lang="en-US" sz="2800" dirty="0"/>
          </a:p>
        </p:txBody>
      </p:sp>
      <p:sp>
        <p:nvSpPr>
          <p:cNvPr id="5" name="Text 3"/>
          <p:cNvSpPr/>
          <p:nvPr/>
        </p:nvSpPr>
        <p:spPr>
          <a:xfrm>
            <a:off x="1576388" y="3291917"/>
            <a:ext cx="690936"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45"/>
                </a:solidFill>
                <a:latin typeface="JetBrains Mono" pitchFamily="34" charset="0"/>
                <a:ea typeface="JetBrains Mono" pitchFamily="34" charset="-122"/>
                <a:cs typeface="JetBrains Mono" pitchFamily="34" charset="-120"/>
              </a:rPr>
              <a:t>−0.0626</a:t>
            </a:r>
            <a:endParaRPr lang="en-US" sz="1200" dirty="0"/>
          </a:p>
        </p:txBody>
      </p:sp>
      <p:sp>
        <p:nvSpPr>
          <p:cNvPr id="6" name="Text 4"/>
          <p:cNvSpPr/>
          <p:nvPr/>
        </p:nvSpPr>
        <p:spPr>
          <a:xfrm>
            <a:off x="1640821" y="5664200"/>
            <a:ext cx="562162"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12 dates</a:t>
            </a:r>
            <a:endParaRPr lang="en-US" sz="1000" dirty="0"/>
          </a:p>
        </p:txBody>
      </p:sp>
      <p:sp>
        <p:nvSpPr>
          <p:cNvPr id="7" name="Text 5"/>
          <p:cNvSpPr/>
          <p:nvPr/>
        </p:nvSpPr>
        <p:spPr>
          <a:xfrm>
            <a:off x="3972485" y="4441267"/>
            <a:ext cx="690936"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45"/>
                </a:solidFill>
                <a:latin typeface="JetBrains Mono" pitchFamily="34" charset="0"/>
                <a:ea typeface="JetBrains Mono" pitchFamily="34" charset="-122"/>
                <a:cs typeface="JetBrains Mono" pitchFamily="34" charset="-120"/>
              </a:rPr>
              <a:t>−0.0272</a:t>
            </a:r>
            <a:endParaRPr lang="en-US" sz="1200" dirty="0"/>
          </a:p>
        </p:txBody>
      </p:sp>
      <p:sp>
        <p:nvSpPr>
          <p:cNvPr id="8" name="Text 6"/>
          <p:cNvSpPr/>
          <p:nvPr/>
        </p:nvSpPr>
        <p:spPr>
          <a:xfrm>
            <a:off x="4025900" y="5664200"/>
            <a:ext cx="58410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52 dates</a:t>
            </a:r>
            <a:endParaRPr lang="en-US" sz="1000" dirty="0"/>
          </a:p>
        </p:txBody>
      </p:sp>
      <p:sp>
        <p:nvSpPr>
          <p:cNvPr id="9" name="Text 7"/>
          <p:cNvSpPr/>
          <p:nvPr/>
        </p:nvSpPr>
        <p:spPr>
          <a:xfrm>
            <a:off x="6368583" y="4936567"/>
            <a:ext cx="690936"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45"/>
                </a:solidFill>
                <a:latin typeface="JetBrains Mono" pitchFamily="34" charset="0"/>
                <a:ea typeface="JetBrains Mono" pitchFamily="34" charset="-122"/>
                <a:cs typeface="JetBrains Mono" pitchFamily="34" charset="-120"/>
              </a:rPr>
              <a:t>−0.0119</a:t>
            </a:r>
            <a:endParaRPr lang="en-US" sz="1200" dirty="0"/>
          </a:p>
        </p:txBody>
      </p:sp>
      <p:sp>
        <p:nvSpPr>
          <p:cNvPr id="10" name="Text 8"/>
          <p:cNvSpPr/>
          <p:nvPr/>
        </p:nvSpPr>
        <p:spPr>
          <a:xfrm>
            <a:off x="6383618" y="5664200"/>
            <a:ext cx="660774"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BFB8DC"/>
                </a:solidFill>
                <a:latin typeface="Space Grotesk" pitchFamily="34" charset="0"/>
                <a:ea typeface="Space Grotesk" pitchFamily="34" charset="-122"/>
                <a:cs typeface="Space Grotesk" pitchFamily="34" charset="-120"/>
              </a:rPr>
              <a:t>252 dates</a:t>
            </a:r>
            <a:endParaRPr lang="en-US" sz="1000" dirty="0"/>
          </a:p>
        </p:txBody>
      </p:sp>
      <p:sp>
        <p:nvSpPr>
          <p:cNvPr id="11" name="Shape 9"/>
          <p:cNvSpPr/>
          <p:nvPr/>
        </p:nvSpPr>
        <p:spPr>
          <a:xfrm>
            <a:off x="8077200" y="3449737"/>
            <a:ext cx="3302000" cy="1208741"/>
          </a:xfrm>
          <a:prstGeom prst="roundRect">
            <a:avLst>
              <a:gd name="adj" fmla="val 10507"/>
            </a:avLst>
          </a:prstGeom>
          <a:solidFill>
            <a:srgbClr val="201A3D"/>
          </a:solidFill>
          <a:ln/>
        </p:spPr>
      </p:sp>
      <p:sp>
        <p:nvSpPr>
          <p:cNvPr id="12" name="Text 10"/>
          <p:cNvSpPr/>
          <p:nvPr/>
        </p:nvSpPr>
        <p:spPr>
          <a:xfrm>
            <a:off x="8255000" y="3627537"/>
            <a:ext cx="3034792" cy="8785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Resolved at </a:t>
            </a:r>
            <a:r>
              <a:rPr lang="en-US" sz="1200" b="1" dirty="0">
                <a:solidFill>
                  <a:srgbClr val="F2EFFA"/>
                </a:solidFill>
                <a:latin typeface="Space Grotesk" pitchFamily="34" charset="0"/>
                <a:ea typeface="Space Grotesk" pitchFamily="34" charset="-122"/>
                <a:cs typeface="Space Grotesk" pitchFamily="34" charset="-120"/>
              </a:rPr>
              <a:t>54 standard errors</a:t>
            </a:r>
            <a:r>
              <a:rPr lang="en-US" sz="1200" dirty="0">
                <a:solidFill>
                  <a:srgbClr val="F2EFFA"/>
                </a:solidFill>
                <a:latin typeface="Space Grotesk" pitchFamily="34" charset="0"/>
                <a:ea typeface="Space Grotesk" pitchFamily="34" charset="-122"/>
                <a:cs typeface="Space Grotesk" pitchFamily="34" charset="-120"/>
              </a:rPr>
              <a:t> of the control-variate mean — a plain-MC run of the same size (SE ≈ 0.049) could never see it.</a:t>
            </a:r>
            <a:endParaRPr lang="en-US" sz="1200" dirty="0"/>
          </a:p>
        </p:txBody>
      </p:sp>
      <p:sp>
        <p:nvSpPr>
          <p:cNvPr id="13" name="Shape 11"/>
          <p:cNvSpPr/>
          <p:nvPr/>
        </p:nvSpPr>
        <p:spPr>
          <a:xfrm>
            <a:off x="8077200" y="4772769"/>
            <a:ext cx="3302000" cy="1069228"/>
          </a:xfrm>
          <a:prstGeom prst="roundRect">
            <a:avLst>
              <a:gd name="adj" fmla="val 11878"/>
            </a:avLst>
          </a:prstGeom>
          <a:solidFill>
            <a:srgbClr val="201A3D"/>
          </a:solidFill>
          <a:ln/>
        </p:spPr>
      </p:sp>
      <p:sp>
        <p:nvSpPr>
          <p:cNvPr id="14" name="Text 12"/>
          <p:cNvSpPr/>
          <p:nvPr/>
        </p:nvSpPr>
        <p:spPr>
          <a:xfrm>
            <a:off x="8255000" y="4950569"/>
            <a:ext cx="3034792" cy="309843"/>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D0E6"/>
                </a:solidFill>
                <a:latin typeface="JetBrains Mono" pitchFamily="34" charset="0"/>
                <a:ea typeface="JetBrains Mono" pitchFamily="34" charset="-122"/>
                <a:cs typeface="JetBrains Mono" pitchFamily="34" charset="-120"/>
              </a:rPr>
              <a:t>−0.160</a:t>
            </a:r>
            <a:endParaRPr lang="en-US" sz="1600" dirty="0"/>
          </a:p>
        </p:txBody>
      </p:sp>
      <p:sp>
        <p:nvSpPr>
          <p:cNvPr id="15" name="Text 13"/>
          <p:cNvSpPr/>
          <p:nvPr/>
        </p:nvSpPr>
        <p:spPr>
          <a:xfrm>
            <a:off x="8255000" y="5273117"/>
            <a:ext cx="3034792" cy="416485"/>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deep barrier's 252-date bias — 4.5% of its price, far larger than the paper barrier's</a:t>
            </a:r>
            <a:endParaRPr lang="en-US" sz="1100" dirty="0"/>
          </a:p>
        </p:txBody>
      </p:sp>
      <p:sp>
        <p:nvSpPr>
          <p:cNvPr id="16" name="Text 14"/>
          <p:cNvSpPr/>
          <p:nvPr/>
        </p:nvSpPr>
        <p:spPr>
          <a:xfrm>
            <a:off x="812800" y="1984933"/>
            <a:ext cx="7168388"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B8DC"/>
                </a:solidFill>
                <a:latin typeface="Space Grotesk" pitchFamily="34" charset="0"/>
                <a:ea typeface="Space Grotesk" pitchFamily="34" charset="-122"/>
                <a:cs typeface="Space Grotesk" pitchFamily="34" charset="-120"/>
              </a:rPr>
              <a:t>barrier price bias vs the continuous formula (7.1055), by monitoring dates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7 · THE VERDICT</a:t>
            </a:r>
            <a:endParaRPr lang="en-US" sz="1200" dirty="0"/>
          </a:p>
        </p:txBody>
      </p:sp>
      <p:sp>
        <p:nvSpPr>
          <p:cNvPr id="3" name="Text 1"/>
          <p:cNvSpPr/>
          <p:nvPr/>
        </p:nvSpPr>
        <p:spPr>
          <a:xfrm>
            <a:off x="812800" y="12319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RQMC wins, or ties, on every scenario</a:t>
            </a:r>
            <a:endParaRPr lang="en-US" sz="3000" dirty="0"/>
          </a:p>
        </p:txBody>
      </p:sp>
      <p:sp>
        <p:nvSpPr>
          <p:cNvPr id="4" name="Text 2"/>
          <p:cNvSpPr/>
          <p:nvPr/>
        </p:nvSpPr>
        <p:spPr>
          <a:xfrm>
            <a:off x="1311835" y="2884301"/>
            <a:ext cx="690936" cy="27426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FD0E6"/>
                </a:solidFill>
                <a:latin typeface="JetBrains Mono" pitchFamily="34" charset="0"/>
                <a:ea typeface="JetBrains Mono" pitchFamily="34" charset="-122"/>
                <a:cs typeface="JetBrains Mono" pitchFamily="34" charset="-120"/>
              </a:rPr>
              <a:t>2,260×</a:t>
            </a:r>
            <a:endParaRPr lang="en-US" sz="1400" dirty="0"/>
          </a:p>
        </p:txBody>
      </p:sp>
      <p:sp>
        <p:nvSpPr>
          <p:cNvPr id="5" name="Text 3"/>
          <p:cNvSpPr/>
          <p:nvPr/>
        </p:nvSpPr>
        <p:spPr>
          <a:xfrm>
            <a:off x="1228165" y="5673167"/>
            <a:ext cx="807477" cy="194235"/>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8A83AB"/>
                </a:solidFill>
                <a:latin typeface="Space Grotesk" pitchFamily="34" charset="0"/>
                <a:ea typeface="Space Grotesk" pitchFamily="34" charset="-122"/>
                <a:cs typeface="Space Grotesk" pitchFamily="34" charset="-120"/>
              </a:rPr>
              <a:t>paper barrier</a:t>
            </a:r>
            <a:endParaRPr lang="en-US" sz="950" dirty="0"/>
          </a:p>
        </p:txBody>
      </p:sp>
      <p:sp>
        <p:nvSpPr>
          <p:cNvPr id="6" name="Text 4"/>
          <p:cNvSpPr/>
          <p:nvPr/>
        </p:nvSpPr>
        <p:spPr>
          <a:xfrm>
            <a:off x="3313393" y="4344801"/>
            <a:ext cx="370915" cy="27426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FD0E6"/>
                </a:solidFill>
                <a:latin typeface="JetBrains Mono" pitchFamily="34" charset="0"/>
                <a:ea typeface="JetBrains Mono" pitchFamily="34" charset="-122"/>
                <a:cs typeface="JetBrains Mono" pitchFamily="34" charset="-120"/>
              </a:rPr>
              <a:t>21×</a:t>
            </a:r>
            <a:endParaRPr lang="en-US" sz="1400" dirty="0"/>
          </a:p>
        </p:txBody>
      </p:sp>
      <p:sp>
        <p:nvSpPr>
          <p:cNvPr id="7" name="Text 5"/>
          <p:cNvSpPr/>
          <p:nvPr/>
        </p:nvSpPr>
        <p:spPr>
          <a:xfrm>
            <a:off x="3091423" y="5673167"/>
            <a:ext cx="764054" cy="194235"/>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8A83AB"/>
                </a:solidFill>
                <a:latin typeface="Space Grotesk" pitchFamily="34" charset="0"/>
                <a:ea typeface="Space Grotesk" pitchFamily="34" charset="-122"/>
                <a:cs typeface="Space Grotesk" pitchFamily="34" charset="-120"/>
              </a:rPr>
              <a:t>deep barrier</a:t>
            </a:r>
            <a:endParaRPr lang="en-US" sz="950" dirty="0"/>
          </a:p>
        </p:txBody>
      </p:sp>
      <p:sp>
        <p:nvSpPr>
          <p:cNvPr id="8" name="Text 6"/>
          <p:cNvSpPr/>
          <p:nvPr/>
        </p:nvSpPr>
        <p:spPr>
          <a:xfrm>
            <a:off x="5101571" y="3208151"/>
            <a:ext cx="477557" cy="27426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FD0E6"/>
                </a:solidFill>
                <a:latin typeface="JetBrains Mono" pitchFamily="34" charset="0"/>
                <a:ea typeface="JetBrains Mono" pitchFamily="34" charset="-122"/>
                <a:cs typeface="JetBrains Mono" pitchFamily="34" charset="-120"/>
              </a:rPr>
              <a:t>794×</a:t>
            </a:r>
            <a:endParaRPr lang="en-US" sz="1400" dirty="0"/>
          </a:p>
        </p:txBody>
      </p:sp>
      <p:sp>
        <p:nvSpPr>
          <p:cNvPr id="9" name="Text 7"/>
          <p:cNvSpPr/>
          <p:nvPr/>
        </p:nvSpPr>
        <p:spPr>
          <a:xfrm>
            <a:off x="4816942" y="5673167"/>
            <a:ext cx="995923" cy="194235"/>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8A83AB"/>
                </a:solidFill>
                <a:latin typeface="Space Grotesk" pitchFamily="34" charset="0"/>
                <a:ea typeface="Space Grotesk" pitchFamily="34" charset="-122"/>
                <a:cs typeface="Space Grotesk" pitchFamily="34" charset="-120"/>
              </a:rPr>
              <a:t>arithmetic Asian</a:t>
            </a:r>
            <a:endParaRPr lang="en-US" sz="950" dirty="0"/>
          </a:p>
        </p:txBody>
      </p:sp>
      <p:sp>
        <p:nvSpPr>
          <p:cNvPr id="10" name="Text 8"/>
          <p:cNvSpPr/>
          <p:nvPr/>
        </p:nvSpPr>
        <p:spPr>
          <a:xfrm>
            <a:off x="6943072" y="3214501"/>
            <a:ext cx="477557" cy="27426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FD0E6"/>
                </a:solidFill>
                <a:latin typeface="JetBrains Mono" pitchFamily="34" charset="0"/>
                <a:ea typeface="JetBrains Mono" pitchFamily="34" charset="-122"/>
                <a:cs typeface="JetBrains Mono" pitchFamily="34" charset="-120"/>
              </a:rPr>
              <a:t>791×</a:t>
            </a:r>
            <a:endParaRPr lang="en-US" sz="1400" dirty="0"/>
          </a:p>
        </p:txBody>
      </p:sp>
      <p:sp>
        <p:nvSpPr>
          <p:cNvPr id="11" name="Text 9"/>
          <p:cNvSpPr/>
          <p:nvPr/>
        </p:nvSpPr>
        <p:spPr>
          <a:xfrm>
            <a:off x="6660963" y="5673167"/>
            <a:ext cx="990974" cy="194235"/>
          </a:xfrm>
          <a:prstGeom prst="rect">
            <a:avLst/>
          </a:prstGeom>
          <a:noFill/>
          <a:ln/>
        </p:spPr>
        <p:txBody>
          <a:bodyPr wrap="square" lIns="0" tIns="0" rIns="0" bIns="0" rtlCol="0" anchor="t">
            <a:normAutofit/>
          </a:bodyPr>
          <a:lstStyle/>
          <a:p>
            <a:pPr marL="0" indent="0" algn="ctr">
              <a:lnSpc>
                <a:spcPts val="1330"/>
              </a:lnSpc>
              <a:buNone/>
            </a:pPr>
            <a:r>
              <a:rPr lang="en-US" sz="950" dirty="0">
                <a:solidFill>
                  <a:srgbClr val="8A83AB"/>
                </a:solidFill>
                <a:latin typeface="Space Grotesk" pitchFamily="34" charset="0"/>
                <a:ea typeface="Space Grotesk" pitchFamily="34" charset="-122"/>
                <a:cs typeface="Space Grotesk" pitchFamily="34" charset="-120"/>
              </a:rPr>
              <a:t>geometric Asian</a:t>
            </a:r>
            <a:endParaRPr lang="en-US" sz="950" dirty="0"/>
          </a:p>
        </p:txBody>
      </p:sp>
      <p:sp>
        <p:nvSpPr>
          <p:cNvPr id="12" name="Shape 10"/>
          <p:cNvSpPr/>
          <p:nvPr/>
        </p:nvSpPr>
        <p:spPr>
          <a:xfrm>
            <a:off x="8331200" y="2276661"/>
            <a:ext cx="3048000" cy="970056"/>
          </a:xfrm>
          <a:prstGeom prst="roundRect">
            <a:avLst>
              <a:gd name="adj" fmla="val 13092"/>
            </a:avLst>
          </a:prstGeom>
          <a:solidFill>
            <a:srgbClr val="201A3D"/>
          </a:solidFill>
          <a:ln/>
        </p:spPr>
      </p:sp>
      <p:sp>
        <p:nvSpPr>
          <p:cNvPr id="13" name="Text 11"/>
          <p:cNvSpPr/>
          <p:nvPr/>
        </p:nvSpPr>
        <p:spPr>
          <a:xfrm>
            <a:off x="8496300" y="2441761"/>
            <a:ext cx="2799334" cy="6652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Bars show </a:t>
            </a:r>
            <a:r>
              <a:rPr lang="en-US" sz="1200" b="1" dirty="0">
                <a:solidFill>
                  <a:srgbClr val="F2EFFA"/>
                </a:solidFill>
                <a:latin typeface="Space Grotesk" pitchFamily="34" charset="0"/>
                <a:ea typeface="Space Grotesk" pitchFamily="34" charset="-122"/>
                <a:cs typeface="Space Grotesk" pitchFamily="34" charset="-120"/>
              </a:rPr>
              <a:t>RQMC + bridge</a:t>
            </a:r>
            <a:r>
              <a:rPr lang="en-US" sz="1200" dirty="0">
                <a:solidFill>
                  <a:srgbClr val="F2EFFA"/>
                </a:solidFill>
                <a:latin typeface="Space Grotesk" pitchFamily="34" charset="0"/>
                <a:ea typeface="Space Grotesk" pitchFamily="34" charset="-122"/>
                <a:cs typeface="Space Grotesk" pitchFamily="34" charset="-120"/>
              </a:rPr>
              <a:t> — the top or tied-top method on all four scenarios at full scale.</a:t>
            </a:r>
            <a:endParaRPr lang="en-US" sz="1200" dirty="0"/>
          </a:p>
        </p:txBody>
      </p:sp>
      <p:sp>
        <p:nvSpPr>
          <p:cNvPr id="14" name="Shape 12"/>
          <p:cNvSpPr/>
          <p:nvPr/>
        </p:nvSpPr>
        <p:spPr>
          <a:xfrm>
            <a:off x="8331200" y="3361023"/>
            <a:ext cx="3048000" cy="1183341"/>
          </a:xfrm>
          <a:prstGeom prst="roundRect">
            <a:avLst>
              <a:gd name="adj" fmla="val 10732"/>
            </a:avLst>
          </a:prstGeom>
          <a:solidFill>
            <a:srgbClr val="201A3D"/>
          </a:solidFill>
          <a:ln/>
        </p:spPr>
      </p:sp>
      <p:sp>
        <p:nvSpPr>
          <p:cNvPr id="15" name="Text 13"/>
          <p:cNvSpPr/>
          <p:nvPr/>
        </p:nvSpPr>
        <p:spPr>
          <a:xfrm>
            <a:off x="8496300" y="3526123"/>
            <a:ext cx="2799334" cy="8785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The </a:t>
            </a:r>
            <a:r>
              <a:rPr lang="en-US" sz="1200" b="1" dirty="0">
                <a:solidFill>
                  <a:srgbClr val="F2EFFA"/>
                </a:solidFill>
                <a:latin typeface="Space Grotesk" pitchFamily="34" charset="0"/>
                <a:ea typeface="Space Grotesk" pitchFamily="34" charset="-122"/>
                <a:cs typeface="Space Grotesk" pitchFamily="34" charset="-120"/>
              </a:rPr>
              <a:t>control variate</a:t>
            </a:r>
            <a:r>
              <a:rPr lang="en-US" sz="1200" dirty="0">
                <a:solidFill>
                  <a:srgbClr val="F2EFFA"/>
                </a:solidFill>
                <a:latin typeface="Space Grotesk" pitchFamily="34" charset="0"/>
                <a:ea typeface="Space Grotesk" pitchFamily="34" charset="-122"/>
                <a:cs typeface="Space Grotesk" pitchFamily="34" charset="-120"/>
              </a:rPr>
              <a:t> ties or leads at smaller N and on two of four scenarios: </a:t>
            </a:r>
            <a:r>
              <a:rPr lang="en-US" sz="1200" b="1" dirty="0">
                <a:solidFill>
                  <a:srgbClr val="F2EFFA"/>
                </a:solidFill>
                <a:latin typeface="Space Grotesk" pitchFamily="34" charset="0"/>
                <a:ea typeface="Space Grotesk" pitchFamily="34" charset="-122"/>
                <a:cs typeface="Space Grotesk" pitchFamily="34" charset="-120"/>
              </a:rPr>
              <a:t>1,602×</a:t>
            </a:r>
            <a:r>
              <a:rPr lang="en-US" sz="1200" dirty="0">
                <a:solidFill>
                  <a:srgbClr val="F2EFFA"/>
                </a:solidFill>
                <a:latin typeface="Space Grotesk" pitchFamily="34" charset="0"/>
                <a:ea typeface="Space Grotesk" pitchFamily="34" charset="-122"/>
                <a:cs typeface="Space Grotesk" pitchFamily="34" charset="-120"/>
              </a:rPr>
              <a:t> (barrier), </a:t>
            </a:r>
            <a:r>
              <a:rPr lang="en-US" sz="1200" b="1" dirty="0">
                <a:solidFill>
                  <a:srgbClr val="F2EFFA"/>
                </a:solidFill>
                <a:latin typeface="Space Grotesk" pitchFamily="34" charset="0"/>
                <a:ea typeface="Space Grotesk" pitchFamily="34" charset="-122"/>
                <a:cs typeface="Space Grotesk" pitchFamily="34" charset="-120"/>
              </a:rPr>
              <a:t>770×</a:t>
            </a:r>
            <a:r>
              <a:rPr lang="en-US" sz="1200" dirty="0">
                <a:solidFill>
                  <a:srgbClr val="F2EFFA"/>
                </a:solidFill>
                <a:latin typeface="Space Grotesk" pitchFamily="34" charset="0"/>
                <a:ea typeface="Space Grotesk" pitchFamily="34" charset="-122"/>
                <a:cs typeface="Space Grotesk" pitchFamily="34" charset="-120"/>
              </a:rPr>
              <a:t> (arithmetic Asian).</a:t>
            </a:r>
            <a:endParaRPr lang="en-US" sz="1200" dirty="0"/>
          </a:p>
        </p:txBody>
      </p:sp>
      <p:sp>
        <p:nvSpPr>
          <p:cNvPr id="16" name="Shape 14"/>
          <p:cNvSpPr/>
          <p:nvPr/>
        </p:nvSpPr>
        <p:spPr>
          <a:xfrm>
            <a:off x="8331200" y="4658655"/>
            <a:ext cx="3048000" cy="1183341"/>
          </a:xfrm>
          <a:prstGeom prst="roundRect">
            <a:avLst>
              <a:gd name="adj" fmla="val 10732"/>
            </a:avLst>
          </a:prstGeom>
          <a:solidFill>
            <a:srgbClr val="201A3D"/>
          </a:solidFill>
          <a:ln/>
        </p:spPr>
      </p:sp>
      <p:sp>
        <p:nvSpPr>
          <p:cNvPr id="17" name="Text 15"/>
          <p:cNvSpPr/>
          <p:nvPr/>
        </p:nvSpPr>
        <p:spPr>
          <a:xfrm>
            <a:off x="8496300" y="4823755"/>
            <a:ext cx="2799334" cy="8785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Deep barrier's low ceiling (21×) reflects a genuinely harder problem — its payoff is discontinuous across many dimensions.</a:t>
            </a:r>
            <a:endParaRPr lang="en-US" sz="1200" dirty="0"/>
          </a:p>
        </p:txBody>
      </p:sp>
      <p:sp>
        <p:nvSpPr>
          <p:cNvPr id="18" name="Text 16"/>
          <p:cNvSpPr/>
          <p:nvPr/>
        </p:nvSpPr>
        <p:spPr>
          <a:xfrm>
            <a:off x="812800" y="1850182"/>
            <a:ext cx="7377684"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8A83AB"/>
                </a:solidFill>
                <a:latin typeface="Space Grotesk" pitchFamily="34" charset="0"/>
                <a:ea typeface="Space Grotesk" pitchFamily="34" charset="-122"/>
                <a:cs typeface="Space Grotesk" pitchFamily="34" charset="-120"/>
              </a:rPr>
              <a:t>efficiency vs plain MC at N = 65,536 (log scale)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7 · THE VERDICT</a:t>
            </a:r>
            <a:endParaRPr lang="en-US" sz="1200" dirty="0"/>
          </a:p>
        </p:txBody>
      </p:sp>
      <p:sp>
        <p:nvSpPr>
          <p:cNvPr id="3" name="Text 1"/>
          <p:cNvSpPr/>
          <p:nvPr/>
        </p:nvSpPr>
        <p:spPr>
          <a:xfrm>
            <a:off x="812800" y="1229283"/>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Time to reach ±0.01 on the price</a:t>
            </a:r>
            <a:endParaRPr lang="en-US" sz="3000" dirty="0"/>
          </a:p>
        </p:txBody>
      </p:sp>
      <p:sp>
        <p:nvSpPr>
          <p:cNvPr id="4" name="Text 2"/>
          <p:cNvSpPr/>
          <p:nvPr/>
        </p:nvSpPr>
        <p:spPr>
          <a:xfrm>
            <a:off x="812800" y="2460067"/>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Paper barrier</a:t>
            </a:r>
            <a:endParaRPr lang="en-US" sz="1200" dirty="0"/>
          </a:p>
        </p:txBody>
      </p:sp>
      <p:sp>
        <p:nvSpPr>
          <p:cNvPr id="5" name="Shape 3"/>
          <p:cNvSpPr/>
          <p:nvPr/>
        </p:nvSpPr>
        <p:spPr>
          <a:xfrm>
            <a:off x="812800" y="2736850"/>
            <a:ext cx="4597400" cy="215900"/>
          </a:xfrm>
          <a:custGeom>
            <a:avLst/>
            <a:gdLst/>
            <a:ahLst/>
            <a:cxnLst/>
            <a:rect l="l" t="t" r="r" b="b"/>
            <a:pathLst>
              <a:path w="4597400" h="215900">
                <a:moveTo>
                  <a:pt x="0" y="0"/>
                </a:moveTo>
                <a:lnTo>
                  <a:pt x="4546600" y="0"/>
                </a:lnTo>
                <a:arcTo wR="50800" hR="50800" stAng="16200000" swAng="5400000"/>
                <a:lnTo>
                  <a:pt x="4597400" y="165100"/>
                </a:lnTo>
                <a:arcTo wR="50800" hR="50800" stAng="0" swAng="5400000"/>
                <a:lnTo>
                  <a:pt x="0" y="215900"/>
                </a:lnTo>
                <a:lnTo>
                  <a:pt x="0" y="0"/>
                </a:lnTo>
                <a:close/>
              </a:path>
            </a:pathLst>
          </a:custGeom>
          <a:solidFill>
            <a:srgbClr val="FF7A45"/>
          </a:solidFill>
          <a:ln/>
        </p:spPr>
      </p:sp>
      <p:sp>
        <p:nvSpPr>
          <p:cNvPr id="6" name="Text 4"/>
          <p:cNvSpPr/>
          <p:nvPr/>
        </p:nvSpPr>
        <p:spPr>
          <a:xfrm>
            <a:off x="5511800" y="2738152"/>
            <a:ext cx="1148136"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7A45"/>
                </a:solidFill>
                <a:latin typeface="JetBrains Mono" pitchFamily="34" charset="0"/>
                <a:ea typeface="JetBrains Mono" pitchFamily="34" charset="-122"/>
                <a:cs typeface="JetBrains Mono" pitchFamily="34" charset="-120"/>
              </a:rPr>
              <a:t>10.5 s plain</a:t>
            </a:r>
            <a:endParaRPr lang="en-US" sz="1200" dirty="0"/>
          </a:p>
        </p:txBody>
      </p:sp>
      <p:sp>
        <p:nvSpPr>
          <p:cNvPr id="7" name="Shape 5"/>
          <p:cNvSpPr/>
          <p:nvPr/>
        </p:nvSpPr>
        <p:spPr>
          <a:xfrm>
            <a:off x="812800" y="3016250"/>
            <a:ext cx="1174750" cy="215900"/>
          </a:xfrm>
          <a:custGeom>
            <a:avLst/>
            <a:gdLst/>
            <a:ahLst/>
            <a:cxnLst/>
            <a:rect l="l" t="t" r="r" b="b"/>
            <a:pathLst>
              <a:path w="1174750" h="215900">
                <a:moveTo>
                  <a:pt x="0" y="0"/>
                </a:moveTo>
                <a:lnTo>
                  <a:pt x="1123950" y="0"/>
                </a:lnTo>
                <a:arcTo wR="50800" hR="50800" stAng="16200000" swAng="5400000"/>
                <a:lnTo>
                  <a:pt x="1174750" y="165100"/>
                </a:lnTo>
                <a:arcTo wR="50800" hR="50800" stAng="0" swAng="5400000"/>
                <a:lnTo>
                  <a:pt x="0" y="215900"/>
                </a:lnTo>
                <a:lnTo>
                  <a:pt x="0" y="0"/>
                </a:lnTo>
                <a:close/>
              </a:path>
            </a:pathLst>
          </a:custGeom>
          <a:solidFill>
            <a:srgbClr val="3FD0E6"/>
          </a:solidFill>
          <a:ln/>
        </p:spPr>
      </p:sp>
      <p:sp>
        <p:nvSpPr>
          <p:cNvPr id="8" name="Text 6"/>
          <p:cNvSpPr/>
          <p:nvPr/>
        </p:nvSpPr>
        <p:spPr>
          <a:xfrm>
            <a:off x="2089150" y="3017552"/>
            <a:ext cx="2166252"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D0E6"/>
                </a:solidFill>
                <a:latin typeface="JetBrains Mono" pitchFamily="34" charset="0"/>
                <a:ea typeface="JetBrains Mono" pitchFamily="34" charset="-122"/>
                <a:cs typeface="JetBrains Mono" pitchFamily="34" charset="-120"/>
              </a:rPr>
              <a:t>0.011 s control variate</a:t>
            </a:r>
            <a:endParaRPr lang="en-US" sz="1200" dirty="0"/>
          </a:p>
        </p:txBody>
      </p:sp>
      <p:sp>
        <p:nvSpPr>
          <p:cNvPr id="9" name="Text 7"/>
          <p:cNvSpPr/>
          <p:nvPr/>
        </p:nvSpPr>
        <p:spPr>
          <a:xfrm>
            <a:off x="812800" y="346075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Arithmetic Asian</a:t>
            </a:r>
            <a:endParaRPr lang="en-US" sz="1200" dirty="0"/>
          </a:p>
        </p:txBody>
      </p:sp>
      <p:sp>
        <p:nvSpPr>
          <p:cNvPr id="10" name="Shape 8"/>
          <p:cNvSpPr/>
          <p:nvPr/>
        </p:nvSpPr>
        <p:spPr>
          <a:xfrm>
            <a:off x="812800" y="3737533"/>
            <a:ext cx="3848100" cy="215900"/>
          </a:xfrm>
          <a:custGeom>
            <a:avLst/>
            <a:gdLst/>
            <a:ahLst/>
            <a:cxnLst/>
            <a:rect l="l" t="t" r="r" b="b"/>
            <a:pathLst>
              <a:path w="3848100" h="215900">
                <a:moveTo>
                  <a:pt x="0" y="0"/>
                </a:moveTo>
                <a:lnTo>
                  <a:pt x="3797300" y="0"/>
                </a:lnTo>
                <a:arcTo wR="50800" hR="50800" stAng="16200000" swAng="5400000"/>
                <a:lnTo>
                  <a:pt x="3848100" y="165100"/>
                </a:lnTo>
                <a:arcTo wR="50800" hR="50800" stAng="0" swAng="5400000"/>
                <a:lnTo>
                  <a:pt x="0" y="215900"/>
                </a:lnTo>
                <a:lnTo>
                  <a:pt x="0" y="0"/>
                </a:lnTo>
                <a:close/>
              </a:path>
            </a:pathLst>
          </a:custGeom>
          <a:solidFill>
            <a:srgbClr val="FF7A45"/>
          </a:solidFill>
          <a:ln/>
        </p:spPr>
      </p:sp>
      <p:sp>
        <p:nvSpPr>
          <p:cNvPr id="11" name="Text 9"/>
          <p:cNvSpPr/>
          <p:nvPr/>
        </p:nvSpPr>
        <p:spPr>
          <a:xfrm>
            <a:off x="4762500" y="3738848"/>
            <a:ext cx="1148136"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7A45"/>
                </a:solidFill>
                <a:latin typeface="JetBrains Mono" pitchFamily="34" charset="0"/>
                <a:ea typeface="JetBrains Mono" pitchFamily="34" charset="-122"/>
                <a:cs typeface="JetBrains Mono" pitchFamily="34" charset="-120"/>
              </a:rPr>
              <a:t>2.33 s plain</a:t>
            </a:r>
            <a:endParaRPr lang="en-US" sz="1200" dirty="0"/>
          </a:p>
        </p:txBody>
      </p:sp>
      <p:sp>
        <p:nvSpPr>
          <p:cNvPr id="12" name="Shape 10"/>
          <p:cNvSpPr/>
          <p:nvPr/>
        </p:nvSpPr>
        <p:spPr>
          <a:xfrm>
            <a:off x="812800" y="4016933"/>
            <a:ext cx="768350" cy="215900"/>
          </a:xfrm>
          <a:custGeom>
            <a:avLst/>
            <a:gdLst/>
            <a:ahLst/>
            <a:cxnLst/>
            <a:rect l="l" t="t" r="r" b="b"/>
            <a:pathLst>
              <a:path w="768350" h="215900">
                <a:moveTo>
                  <a:pt x="0" y="0"/>
                </a:moveTo>
                <a:lnTo>
                  <a:pt x="717550" y="0"/>
                </a:lnTo>
                <a:arcTo wR="50800" hR="50800" stAng="16200000" swAng="5400000"/>
                <a:lnTo>
                  <a:pt x="768350" y="165100"/>
                </a:lnTo>
                <a:arcTo wR="50800" hR="50800" stAng="0" swAng="5400000"/>
                <a:lnTo>
                  <a:pt x="0" y="215900"/>
                </a:lnTo>
                <a:lnTo>
                  <a:pt x="0" y="0"/>
                </a:lnTo>
                <a:close/>
              </a:path>
            </a:pathLst>
          </a:custGeom>
          <a:solidFill>
            <a:srgbClr val="3FD0E6"/>
          </a:solidFill>
          <a:ln/>
        </p:spPr>
      </p:sp>
      <p:sp>
        <p:nvSpPr>
          <p:cNvPr id="13" name="Text 11"/>
          <p:cNvSpPr/>
          <p:nvPr/>
        </p:nvSpPr>
        <p:spPr>
          <a:xfrm>
            <a:off x="1682750" y="4018248"/>
            <a:ext cx="2166252"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D0E6"/>
                </a:solidFill>
                <a:latin typeface="JetBrains Mono" pitchFamily="34" charset="0"/>
                <a:ea typeface="JetBrains Mono" pitchFamily="34" charset="-122"/>
                <a:cs typeface="JetBrains Mono" pitchFamily="34" charset="-120"/>
              </a:rPr>
              <a:t>0.005 s control variate</a:t>
            </a:r>
            <a:endParaRPr lang="en-US" sz="1200" dirty="0"/>
          </a:p>
        </p:txBody>
      </p:sp>
      <p:sp>
        <p:nvSpPr>
          <p:cNvPr id="14" name="Text 12"/>
          <p:cNvSpPr/>
          <p:nvPr/>
        </p:nvSpPr>
        <p:spPr>
          <a:xfrm>
            <a:off x="812800" y="4461433"/>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EFFA"/>
                </a:solidFill>
                <a:latin typeface="Space Grotesk" pitchFamily="34" charset="0"/>
                <a:ea typeface="Space Grotesk" pitchFamily="34" charset="-122"/>
                <a:cs typeface="Space Grotesk" pitchFamily="34" charset="-120"/>
              </a:rPr>
              <a:t>Deep barrier</a:t>
            </a:r>
            <a:endParaRPr lang="en-US" sz="1200" dirty="0"/>
          </a:p>
        </p:txBody>
      </p:sp>
      <p:sp>
        <p:nvSpPr>
          <p:cNvPr id="15" name="Shape 13"/>
          <p:cNvSpPr/>
          <p:nvPr/>
        </p:nvSpPr>
        <p:spPr>
          <a:xfrm>
            <a:off x="812800" y="4738216"/>
            <a:ext cx="5080000" cy="215900"/>
          </a:xfrm>
          <a:custGeom>
            <a:avLst/>
            <a:gdLst/>
            <a:ahLst/>
            <a:cxnLst/>
            <a:rect l="l" t="t" r="r" b="b"/>
            <a:pathLst>
              <a:path w="5080000" h="215900">
                <a:moveTo>
                  <a:pt x="0" y="0"/>
                </a:moveTo>
                <a:lnTo>
                  <a:pt x="5029200" y="0"/>
                </a:lnTo>
                <a:arcTo wR="50800" hR="50800" stAng="16200000" swAng="5400000"/>
                <a:lnTo>
                  <a:pt x="5080000" y="165100"/>
                </a:lnTo>
                <a:arcTo wR="50800" hR="50800" stAng="0" swAng="5400000"/>
                <a:lnTo>
                  <a:pt x="0" y="215900"/>
                </a:lnTo>
                <a:lnTo>
                  <a:pt x="0" y="0"/>
                </a:lnTo>
                <a:close/>
              </a:path>
            </a:pathLst>
          </a:custGeom>
          <a:solidFill>
            <a:srgbClr val="FF7A45"/>
          </a:solidFill>
          <a:ln/>
        </p:spPr>
      </p:sp>
      <p:sp>
        <p:nvSpPr>
          <p:cNvPr id="16" name="Text 14"/>
          <p:cNvSpPr/>
          <p:nvPr/>
        </p:nvSpPr>
        <p:spPr>
          <a:xfrm>
            <a:off x="5994400" y="4739531"/>
            <a:ext cx="1148136"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7A45"/>
                </a:solidFill>
                <a:latin typeface="JetBrains Mono" pitchFamily="34" charset="0"/>
                <a:ea typeface="JetBrains Mono" pitchFamily="34" charset="-122"/>
                <a:cs typeface="JetBrains Mono" pitchFamily="34" charset="-120"/>
              </a:rPr>
              <a:t>27.9 s plain</a:t>
            </a:r>
            <a:endParaRPr lang="en-US" sz="1200" dirty="0"/>
          </a:p>
        </p:txBody>
      </p:sp>
      <p:sp>
        <p:nvSpPr>
          <p:cNvPr id="17" name="Shape 15"/>
          <p:cNvSpPr/>
          <p:nvPr/>
        </p:nvSpPr>
        <p:spPr>
          <a:xfrm>
            <a:off x="812800" y="5017616"/>
            <a:ext cx="3225800" cy="215900"/>
          </a:xfrm>
          <a:custGeom>
            <a:avLst/>
            <a:gdLst/>
            <a:ahLst/>
            <a:cxnLst/>
            <a:rect l="l" t="t" r="r" b="b"/>
            <a:pathLst>
              <a:path w="3225800" h="215900">
                <a:moveTo>
                  <a:pt x="0" y="0"/>
                </a:moveTo>
                <a:lnTo>
                  <a:pt x="3175000" y="0"/>
                </a:lnTo>
                <a:arcTo wR="50800" hR="50800" stAng="16200000" swAng="5400000"/>
                <a:lnTo>
                  <a:pt x="3225800" y="165100"/>
                </a:lnTo>
                <a:arcTo wR="50800" hR="50800" stAng="0" swAng="5400000"/>
                <a:lnTo>
                  <a:pt x="0" y="215900"/>
                </a:lnTo>
                <a:lnTo>
                  <a:pt x="0" y="0"/>
                </a:lnTo>
                <a:close/>
              </a:path>
            </a:pathLst>
          </a:custGeom>
          <a:solidFill>
            <a:srgbClr val="3FD0E6"/>
          </a:solidFill>
          <a:ln/>
        </p:spPr>
      </p:sp>
      <p:sp>
        <p:nvSpPr>
          <p:cNvPr id="18" name="Text 16"/>
          <p:cNvSpPr/>
          <p:nvPr/>
        </p:nvSpPr>
        <p:spPr>
          <a:xfrm>
            <a:off x="4140200" y="5018931"/>
            <a:ext cx="188376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D0E6"/>
                </a:solidFill>
                <a:latin typeface="JetBrains Mono" pitchFamily="34" charset="0"/>
                <a:ea typeface="JetBrains Mono" pitchFamily="34" charset="-122"/>
                <a:cs typeface="JetBrains Mono" pitchFamily="34" charset="-120"/>
              </a:rPr>
              <a:t>0.66 s RQMC + bridge</a:t>
            </a:r>
            <a:endParaRPr lang="en-US" sz="1200" dirty="0"/>
          </a:p>
        </p:txBody>
      </p:sp>
      <p:sp>
        <p:nvSpPr>
          <p:cNvPr id="19" name="Text 17"/>
          <p:cNvSpPr/>
          <p:nvPr/>
        </p:nvSpPr>
        <p:spPr>
          <a:xfrm>
            <a:off x="812800" y="6238317"/>
            <a:ext cx="7190895"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bar length ∝ log(time) — the gap between orange and teal is 200× to 1,000×, not a fixed margin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7 · THE VERDICT</a:t>
            </a:r>
            <a:endParaRPr lang="en-US" sz="1200" dirty="0"/>
          </a:p>
        </p:txBody>
      </p:sp>
      <p:sp>
        <p:nvSpPr>
          <p:cNvPr id="3" name="Text 1"/>
          <p:cNvSpPr/>
          <p:nvPr/>
        </p:nvSpPr>
        <p:spPr>
          <a:xfrm>
            <a:off x="812800" y="1280083"/>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What we'd actually reach for</a:t>
            </a:r>
            <a:endParaRPr lang="en-US" sz="3000" dirty="0"/>
          </a:p>
        </p:txBody>
      </p:sp>
      <p:sp>
        <p:nvSpPr>
          <p:cNvPr id="4" name="Shape 2"/>
          <p:cNvSpPr/>
          <p:nvPr/>
        </p:nvSpPr>
        <p:spPr>
          <a:xfrm>
            <a:off x="812800" y="1953183"/>
            <a:ext cx="3403600" cy="2852644"/>
          </a:xfrm>
          <a:prstGeom prst="roundRect">
            <a:avLst>
              <a:gd name="adj" fmla="val 5342"/>
            </a:avLst>
          </a:prstGeom>
          <a:solidFill>
            <a:srgbClr val="201A3D"/>
          </a:solidFill>
          <a:ln/>
        </p:spPr>
      </p:sp>
      <p:sp>
        <p:nvSpPr>
          <p:cNvPr id="5" name="Shape 3"/>
          <p:cNvSpPr/>
          <p:nvPr/>
        </p:nvSpPr>
        <p:spPr>
          <a:xfrm>
            <a:off x="812800" y="1953183"/>
            <a:ext cx="3403600" cy="2852644"/>
          </a:xfrm>
          <a:custGeom>
            <a:avLst/>
            <a:gdLst/>
            <a:ahLst/>
            <a:cxnLst/>
            <a:rect l="l" t="t" r="r" b="b"/>
            <a:pathLst>
              <a:path w="3403600" h="2852644">
                <a:moveTo>
                  <a:pt x="0" y="152400"/>
                </a:moveTo>
                <a:lnTo>
                  <a:pt x="0" y="152400"/>
                </a:lnTo>
                <a:arcTo wR="152400" hR="152400" stAng="10800000" swAng="5400000"/>
                <a:lnTo>
                  <a:pt x="3251200" y="0"/>
                </a:lnTo>
                <a:arcTo wR="152400" hR="152400" stAng="16200000" swAng="5400000"/>
                <a:lnTo>
                  <a:pt x="3403600" y="152400"/>
                </a:lnTo>
                <a:arcTo wR="152400" hR="114300" stAng="0" swAng="-5400000"/>
                <a:lnTo>
                  <a:pt x="152400" y="38100"/>
                </a:lnTo>
                <a:arcTo wR="152400" hR="114300" stAng="16200000" swAng="-5400000"/>
                <a:close/>
              </a:path>
            </a:pathLst>
          </a:custGeom>
          <a:solidFill>
            <a:srgbClr val="3FD0E6"/>
          </a:solidFill>
          <a:ln/>
        </p:spPr>
      </p:sp>
      <p:sp>
        <p:nvSpPr>
          <p:cNvPr id="6" name="Text 4"/>
          <p:cNvSpPr/>
          <p:nvPr/>
        </p:nvSpPr>
        <p:spPr>
          <a:xfrm>
            <a:off x="1041400" y="2217651"/>
            <a:ext cx="3034792"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8A83AB"/>
                </a:solidFill>
                <a:latin typeface="Space Grotesk" pitchFamily="34" charset="0"/>
                <a:ea typeface="Space Grotesk" pitchFamily="34" charset="-122"/>
                <a:cs typeface="Space Grotesk" pitchFamily="34" charset="-120"/>
              </a:rPr>
              <a:t>any barrier option</a:t>
            </a:r>
            <a:endParaRPr lang="en-US" sz="1100" dirty="0"/>
          </a:p>
        </p:txBody>
      </p:sp>
      <p:sp>
        <p:nvSpPr>
          <p:cNvPr id="7" name="Text 5"/>
          <p:cNvSpPr/>
          <p:nvPr/>
        </p:nvSpPr>
        <p:spPr>
          <a:xfrm>
            <a:off x="1041400" y="2514786"/>
            <a:ext cx="3034792" cy="299664"/>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3FD0E6"/>
                </a:solidFill>
                <a:latin typeface="Space Grotesk" pitchFamily="34" charset="0"/>
                <a:ea typeface="Space Grotesk" pitchFamily="34" charset="-122"/>
                <a:cs typeface="Space Grotesk" pitchFamily="34" charset="-120"/>
              </a:rPr>
              <a:t>RQMC + Brownian bridge</a:t>
            </a:r>
            <a:endParaRPr lang="en-US" sz="1800" dirty="0"/>
          </a:p>
        </p:txBody>
      </p:sp>
      <p:sp>
        <p:nvSpPr>
          <p:cNvPr id="8" name="Text 6"/>
          <p:cNvSpPr/>
          <p:nvPr/>
        </p:nvSpPr>
        <p:spPr>
          <a:xfrm>
            <a:off x="1041400" y="2890651"/>
            <a:ext cx="3034792" cy="843056"/>
          </a:xfrm>
          <a:prstGeom prst="rect">
            <a:avLst/>
          </a:prstGeom>
          <a:noFill/>
          <a:ln/>
        </p:spPr>
        <p:txBody>
          <a:bodyPr wrap="square" lIns="0" tIns="0" rIns="0" bIns="0" rtlCol="0" anchor="t">
            <a:normAutofit/>
          </a:bodyPr>
          <a:lstStyle/>
          <a:p>
            <a:pPr marL="0" indent="0" algn="l">
              <a:lnSpc>
                <a:spcPts val="1610"/>
              </a:lnSpc>
              <a:buNone/>
            </a:pPr>
            <a:r>
              <a:rPr lang="en-US" sz="1150" dirty="0">
                <a:solidFill>
                  <a:srgbClr val="BFB8DC"/>
                </a:solidFill>
                <a:latin typeface="Space Grotesk" pitchFamily="34" charset="0"/>
                <a:ea typeface="Space Grotesk" pitchFamily="34" charset="-122"/>
                <a:cs typeface="Space Grotesk" pitchFamily="34" charset="-120"/>
              </a:rPr>
              <a:t>Best or tied-best everywhere we tested it, near-the-money or deep. The bridge concentrates the payoff's sensitivity into the first few dimensions.</a:t>
            </a:r>
            <a:endParaRPr lang="en-US" sz="1150" dirty="0"/>
          </a:p>
        </p:txBody>
      </p:sp>
      <p:sp>
        <p:nvSpPr>
          <p:cNvPr id="9" name="Shape 7"/>
          <p:cNvSpPr/>
          <p:nvPr/>
        </p:nvSpPr>
        <p:spPr>
          <a:xfrm>
            <a:off x="4394200" y="1953183"/>
            <a:ext cx="3403600" cy="2852644"/>
          </a:xfrm>
          <a:prstGeom prst="roundRect">
            <a:avLst>
              <a:gd name="adj" fmla="val 5342"/>
            </a:avLst>
          </a:prstGeom>
          <a:solidFill>
            <a:srgbClr val="201A3D"/>
          </a:solidFill>
          <a:ln/>
        </p:spPr>
      </p:sp>
      <p:sp>
        <p:nvSpPr>
          <p:cNvPr id="10" name="Shape 8"/>
          <p:cNvSpPr/>
          <p:nvPr/>
        </p:nvSpPr>
        <p:spPr>
          <a:xfrm>
            <a:off x="4394200" y="1953183"/>
            <a:ext cx="3403600" cy="2852644"/>
          </a:xfrm>
          <a:custGeom>
            <a:avLst/>
            <a:gdLst/>
            <a:ahLst/>
            <a:cxnLst/>
            <a:rect l="l" t="t" r="r" b="b"/>
            <a:pathLst>
              <a:path w="3403600" h="2852644">
                <a:moveTo>
                  <a:pt x="0" y="152400"/>
                </a:moveTo>
                <a:lnTo>
                  <a:pt x="0" y="152400"/>
                </a:lnTo>
                <a:arcTo wR="152400" hR="152400" stAng="10800000" swAng="5400000"/>
                <a:lnTo>
                  <a:pt x="3251200" y="0"/>
                </a:lnTo>
                <a:arcTo wR="152400" hR="152400" stAng="16200000" swAng="5400000"/>
                <a:lnTo>
                  <a:pt x="3403600" y="152400"/>
                </a:lnTo>
                <a:arcTo wR="152400" hR="114300" stAng="0" swAng="-5400000"/>
                <a:lnTo>
                  <a:pt x="152400" y="38100"/>
                </a:lnTo>
                <a:arcTo wR="152400" hR="114300" stAng="16200000" swAng="-5400000"/>
                <a:close/>
              </a:path>
            </a:pathLst>
          </a:custGeom>
          <a:solidFill>
            <a:srgbClr val="FF7A45"/>
          </a:solidFill>
          <a:ln/>
        </p:spPr>
      </p:sp>
      <p:sp>
        <p:nvSpPr>
          <p:cNvPr id="11" name="Text 9"/>
          <p:cNvSpPr/>
          <p:nvPr/>
        </p:nvSpPr>
        <p:spPr>
          <a:xfrm>
            <a:off x="4622800" y="2217651"/>
            <a:ext cx="3034792"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8A83AB"/>
                </a:solidFill>
                <a:latin typeface="Space Grotesk" pitchFamily="34" charset="0"/>
                <a:ea typeface="Space Grotesk" pitchFamily="34" charset="-122"/>
                <a:cs typeface="Space Grotesk" pitchFamily="34" charset="-120"/>
              </a:rPr>
              <a:t>arithmetic Asian</a:t>
            </a:r>
            <a:endParaRPr lang="en-US" sz="1100" dirty="0"/>
          </a:p>
        </p:txBody>
      </p:sp>
      <p:sp>
        <p:nvSpPr>
          <p:cNvPr id="12" name="Text 10"/>
          <p:cNvSpPr/>
          <p:nvPr/>
        </p:nvSpPr>
        <p:spPr>
          <a:xfrm>
            <a:off x="4622800" y="2514786"/>
            <a:ext cx="3034792" cy="299664"/>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7A45"/>
                </a:solidFill>
                <a:latin typeface="Space Grotesk" pitchFamily="34" charset="0"/>
                <a:ea typeface="Space Grotesk" pitchFamily="34" charset="-122"/>
                <a:cs typeface="Space Grotesk" pitchFamily="34" charset="-120"/>
              </a:rPr>
              <a:t>Geometric control variate</a:t>
            </a:r>
            <a:endParaRPr lang="en-US" sz="1800" dirty="0"/>
          </a:p>
        </p:txBody>
      </p:sp>
      <p:sp>
        <p:nvSpPr>
          <p:cNvPr id="13" name="Text 11"/>
          <p:cNvSpPr/>
          <p:nvPr/>
        </p:nvSpPr>
        <p:spPr>
          <a:xfrm>
            <a:off x="4622800" y="2890651"/>
            <a:ext cx="3034792" cy="638642"/>
          </a:xfrm>
          <a:prstGeom prst="rect">
            <a:avLst/>
          </a:prstGeom>
          <a:noFill/>
          <a:ln/>
        </p:spPr>
        <p:txBody>
          <a:bodyPr wrap="square" lIns="0" tIns="0" rIns="0" bIns="0" rtlCol="0" anchor="t">
            <a:normAutofit/>
          </a:bodyPr>
          <a:lstStyle/>
          <a:p>
            <a:pPr marL="0" indent="0" algn="l">
              <a:lnSpc>
                <a:spcPts val="1610"/>
              </a:lnSpc>
              <a:buNone/>
            </a:pPr>
            <a:r>
              <a:rPr lang="en-US" sz="1150" dirty="0">
                <a:solidFill>
                  <a:srgbClr val="BFB8DC"/>
                </a:solidFill>
                <a:latin typeface="Space Grotesk" pitchFamily="34" charset="0"/>
                <a:ea typeface="Space Grotesk" pitchFamily="34" charset="-122"/>
                <a:cs typeface="Space Grotesk" pitchFamily="34" charset="-120"/>
              </a:rPr>
              <a:t>A near-perfect correlated control with a known closed form — 976× the precision at essentially no extra cost.</a:t>
            </a:r>
            <a:endParaRPr lang="en-US" sz="1150" dirty="0"/>
          </a:p>
        </p:txBody>
      </p:sp>
      <p:sp>
        <p:nvSpPr>
          <p:cNvPr id="14" name="Shape 12"/>
          <p:cNvSpPr/>
          <p:nvPr/>
        </p:nvSpPr>
        <p:spPr>
          <a:xfrm>
            <a:off x="7975600" y="1953183"/>
            <a:ext cx="3403600" cy="2852644"/>
          </a:xfrm>
          <a:prstGeom prst="roundRect">
            <a:avLst>
              <a:gd name="adj" fmla="val 5342"/>
            </a:avLst>
          </a:prstGeom>
          <a:solidFill>
            <a:srgbClr val="201A3D"/>
          </a:solidFill>
          <a:ln/>
        </p:spPr>
      </p:sp>
      <p:sp>
        <p:nvSpPr>
          <p:cNvPr id="15" name="Shape 13"/>
          <p:cNvSpPr/>
          <p:nvPr/>
        </p:nvSpPr>
        <p:spPr>
          <a:xfrm>
            <a:off x="7975600" y="1953183"/>
            <a:ext cx="3403600" cy="2852644"/>
          </a:xfrm>
          <a:custGeom>
            <a:avLst/>
            <a:gdLst/>
            <a:ahLst/>
            <a:cxnLst/>
            <a:rect l="l" t="t" r="r" b="b"/>
            <a:pathLst>
              <a:path w="3403600" h="2852644">
                <a:moveTo>
                  <a:pt x="0" y="152400"/>
                </a:moveTo>
                <a:lnTo>
                  <a:pt x="0" y="152400"/>
                </a:lnTo>
                <a:arcTo wR="152400" hR="152400" stAng="10800000" swAng="5400000"/>
                <a:lnTo>
                  <a:pt x="3251200" y="0"/>
                </a:lnTo>
                <a:arcTo wR="152400" hR="152400" stAng="16200000" swAng="5400000"/>
                <a:lnTo>
                  <a:pt x="3403600" y="152400"/>
                </a:lnTo>
                <a:arcTo wR="152400" hR="114300" stAng="0" swAng="-5400000"/>
                <a:lnTo>
                  <a:pt x="152400" y="38100"/>
                </a:lnTo>
                <a:arcTo wR="152400" hR="114300" stAng="16200000" swAng="-5400000"/>
                <a:close/>
              </a:path>
            </a:pathLst>
          </a:custGeom>
          <a:solidFill>
            <a:srgbClr val="A58BFF"/>
          </a:solidFill>
          <a:ln/>
        </p:spPr>
      </p:sp>
      <p:sp>
        <p:nvSpPr>
          <p:cNvPr id="16" name="Text 14"/>
          <p:cNvSpPr/>
          <p:nvPr/>
        </p:nvSpPr>
        <p:spPr>
          <a:xfrm>
            <a:off x="8204200" y="2217651"/>
            <a:ext cx="3034792" cy="220943"/>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8A83AB"/>
                </a:solidFill>
                <a:latin typeface="Space Grotesk" pitchFamily="34" charset="0"/>
                <a:ea typeface="Space Grotesk" pitchFamily="34" charset="-122"/>
                <a:cs typeface="Space Grotesk" pitchFamily="34" charset="-120"/>
              </a:rPr>
              <a:t>rare knock-in events</a:t>
            </a:r>
            <a:endParaRPr lang="en-US" sz="1100" dirty="0"/>
          </a:p>
        </p:txBody>
      </p:sp>
      <p:sp>
        <p:nvSpPr>
          <p:cNvPr id="17" name="Text 15"/>
          <p:cNvSpPr/>
          <p:nvPr/>
        </p:nvSpPr>
        <p:spPr>
          <a:xfrm>
            <a:off x="8204200" y="2514786"/>
            <a:ext cx="3034792" cy="573928"/>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58BFF"/>
                </a:solidFill>
                <a:latin typeface="Space Grotesk" pitchFamily="34" charset="0"/>
                <a:ea typeface="Space Grotesk" pitchFamily="34" charset="-122"/>
                <a:cs typeface="Space Grotesk" pitchFamily="34" charset="-120"/>
              </a:rPr>
              <a:t>Importance sampling, at scale</a:t>
            </a:r>
            <a:endParaRPr lang="en-US" sz="1800" dirty="0"/>
          </a:p>
        </p:txBody>
      </p:sp>
      <p:sp>
        <p:nvSpPr>
          <p:cNvPr id="18" name="Text 16"/>
          <p:cNvSpPr/>
          <p:nvPr/>
        </p:nvSpPr>
        <p:spPr>
          <a:xfrm>
            <a:off x="8204200" y="3164917"/>
            <a:ext cx="3034792" cy="843056"/>
          </a:xfrm>
          <a:prstGeom prst="rect">
            <a:avLst/>
          </a:prstGeom>
          <a:noFill/>
          <a:ln/>
        </p:spPr>
        <p:txBody>
          <a:bodyPr wrap="square" lIns="0" tIns="0" rIns="0" bIns="0" rtlCol="0" anchor="t">
            <a:normAutofit/>
          </a:bodyPr>
          <a:lstStyle/>
          <a:p>
            <a:pPr marL="0" indent="0" algn="l">
              <a:lnSpc>
                <a:spcPts val="1610"/>
              </a:lnSpc>
              <a:buNone/>
            </a:pPr>
            <a:r>
              <a:rPr lang="en-US" sz="1150" dirty="0">
                <a:solidFill>
                  <a:srgbClr val="BFB8DC"/>
                </a:solidFill>
                <a:latin typeface="Space Grotesk" pitchFamily="34" charset="0"/>
                <a:ea typeface="Space Grotesk" pitchFamily="34" charset="-122"/>
                <a:cs typeface="Space Grotesk" pitchFamily="34" charset="-120"/>
              </a:rPr>
              <a:t>Worth it once N is large enough to amortise the pilot — 48.6× at the rarest barrier we tested, worse than plain below N≈2–4k.</a:t>
            </a:r>
            <a:endParaRPr lang="en-US" sz="1150" dirty="0"/>
          </a:p>
        </p:txBody>
      </p:sp>
      <p:sp>
        <p:nvSpPr>
          <p:cNvPr id="19" name="Shape 17"/>
          <p:cNvSpPr/>
          <p:nvPr/>
        </p:nvSpPr>
        <p:spPr>
          <a:xfrm>
            <a:off x="812800" y="5059834"/>
            <a:ext cx="10566400" cy="782171"/>
          </a:xfrm>
          <a:prstGeom prst="roundRect">
            <a:avLst>
              <a:gd name="adj" fmla="val 16237"/>
            </a:avLst>
          </a:prstGeom>
          <a:solidFill>
            <a:srgbClr val="3A3560"/>
          </a:solidFill>
          <a:ln/>
        </p:spPr>
      </p:sp>
      <p:sp>
        <p:nvSpPr>
          <p:cNvPr id="20" name="Text 18"/>
          <p:cNvSpPr/>
          <p:nvPr/>
        </p:nvSpPr>
        <p:spPr>
          <a:xfrm>
            <a:off x="1016000" y="5237634"/>
            <a:ext cx="10464800" cy="4519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EFFA"/>
                </a:solidFill>
                <a:latin typeface="Space Grotesk" pitchFamily="34" charset="0"/>
                <a:ea typeface="Space Grotesk" pitchFamily="34" charset="-122"/>
                <a:cs typeface="Space Grotesk" pitchFamily="34" charset="-120"/>
              </a:rPr>
              <a:t>One rule that applies to all of them: </a:t>
            </a:r>
            <a:r>
              <a:rPr lang="en-US" sz="1200" b="1" dirty="0">
                <a:solidFill>
                  <a:srgbClr val="F2EFFA"/>
                </a:solidFill>
                <a:latin typeface="Space Grotesk" pitchFamily="34" charset="0"/>
                <a:ea typeface="Space Grotesk" pitchFamily="34" charset="-122"/>
                <a:cs typeface="Space Grotesk" pitchFamily="34" charset="-120"/>
              </a:rPr>
              <a:t>price discrete-monitoring barriers against the 252-date reference</a:t>
            </a:r>
            <a:r>
              <a:rPr lang="en-US" sz="1200" dirty="0">
                <a:solidFill>
                  <a:srgbClr val="F2EFFA"/>
                </a:solidFill>
                <a:latin typeface="Space Grotesk" pitchFamily="34" charset="0"/>
                <a:ea typeface="Space Grotesk" pitchFamily="34" charset="-122"/>
                <a:cs typeface="Space Grotesk" pitchFamily="34" charset="-120"/>
              </a:rPr>
              <a:t>, not the continuous formula — the gap is real and RQMC is precise enough to expose it.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85"/>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58BFF"/>
                </a:solidFill>
                <a:latin typeface="Space Grotesk" pitchFamily="34" charset="0"/>
                <a:ea typeface="Space Grotesk" pitchFamily="34" charset="-122"/>
                <a:cs typeface="Space Grotesk" pitchFamily="34" charset="-120"/>
              </a:rPr>
              <a:t>7 · THE VERDICT</a:t>
            </a:r>
            <a:endParaRPr lang="en-US" sz="1200" dirty="0"/>
          </a:p>
        </p:txBody>
      </p:sp>
      <p:sp>
        <p:nvSpPr>
          <p:cNvPr id="3" name="Text 1"/>
          <p:cNvSpPr/>
          <p:nvPr/>
        </p:nvSpPr>
        <p:spPr>
          <a:xfrm>
            <a:off x="812800" y="1254683"/>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2EFFA"/>
                </a:solidFill>
                <a:latin typeface="Fraunces" pitchFamily="34" charset="0"/>
                <a:ea typeface="Fraunces" pitchFamily="34" charset="-122"/>
                <a:cs typeface="Fraunces" pitchFamily="34" charset="-120"/>
              </a:rPr>
              <a:t>Can you trust these numbers?</a:t>
            </a:r>
            <a:endParaRPr lang="en-US" sz="3000" dirty="0"/>
          </a:p>
        </p:txBody>
      </p:sp>
      <p:sp>
        <p:nvSpPr>
          <p:cNvPr id="4" name="Shape 2"/>
          <p:cNvSpPr/>
          <p:nvPr/>
        </p:nvSpPr>
        <p:spPr>
          <a:xfrm>
            <a:off x="812800" y="1902383"/>
            <a:ext cx="2527300" cy="3939615"/>
          </a:xfrm>
          <a:prstGeom prst="roundRect">
            <a:avLst>
              <a:gd name="adj" fmla="val 5025"/>
            </a:avLst>
          </a:prstGeom>
          <a:solidFill>
            <a:srgbClr val="201A3D"/>
          </a:solidFill>
          <a:ln/>
        </p:spPr>
      </p:sp>
      <p:sp>
        <p:nvSpPr>
          <p:cNvPr id="5" name="Text 3"/>
          <p:cNvSpPr/>
          <p:nvPr/>
        </p:nvSpPr>
        <p:spPr>
          <a:xfrm>
            <a:off x="1517650" y="3304518"/>
            <a:ext cx="1117600" cy="523221"/>
          </a:xfrm>
          <a:prstGeom prst="rect">
            <a:avLst/>
          </a:prstGeom>
          <a:noFill/>
          <a:ln/>
        </p:spPr>
        <p:txBody>
          <a:bodyPr wrap="square" lIns="0" tIns="0" rIns="0" bIns="0" rtlCol="0" anchor="t">
            <a:normAutofit/>
          </a:bodyPr>
          <a:lstStyle/>
          <a:p>
            <a:pPr marL="0" indent="0" algn="ctr">
              <a:lnSpc>
                <a:spcPts val="3920"/>
              </a:lnSpc>
              <a:buNone/>
            </a:pPr>
            <a:r>
              <a:rPr lang="en-US" sz="2800" b="1" dirty="0">
                <a:solidFill>
                  <a:srgbClr val="3FD0E6"/>
                </a:solidFill>
                <a:latin typeface="JetBrains Mono" pitchFamily="34" charset="0"/>
                <a:ea typeface="JetBrains Mono" pitchFamily="34" charset="-122"/>
                <a:cs typeface="JetBrains Mono" pitchFamily="34" charset="-120"/>
              </a:rPr>
              <a:t>84/85</a:t>
            </a:r>
            <a:endParaRPr lang="en-US" sz="2800" dirty="0"/>
          </a:p>
        </p:txBody>
      </p:sp>
      <p:sp>
        <p:nvSpPr>
          <p:cNvPr id="6" name="Text 4"/>
          <p:cNvSpPr/>
          <p:nvPr/>
        </p:nvSpPr>
        <p:spPr>
          <a:xfrm>
            <a:off x="984187" y="3853148"/>
            <a:ext cx="2184527" cy="612028"/>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BFB8DC"/>
                </a:solidFill>
                <a:latin typeface="Space Grotesk" pitchFamily="34" charset="0"/>
                <a:ea typeface="Space Grotesk" pitchFamily="34" charset="-122"/>
                <a:cs typeface="Space Grotesk" pitchFamily="34" charset="-120"/>
              </a:rPr>
              <a:t>master-sweep cells within 3 standard errors of the reference</a:t>
            </a:r>
            <a:endParaRPr lang="en-US" sz="1100" dirty="0"/>
          </a:p>
        </p:txBody>
      </p:sp>
      <p:sp>
        <p:nvSpPr>
          <p:cNvPr id="7" name="Shape 5"/>
          <p:cNvSpPr/>
          <p:nvPr/>
        </p:nvSpPr>
        <p:spPr>
          <a:xfrm>
            <a:off x="3492500" y="1902383"/>
            <a:ext cx="2527300" cy="3939615"/>
          </a:xfrm>
          <a:prstGeom prst="roundRect">
            <a:avLst>
              <a:gd name="adj" fmla="val 5025"/>
            </a:avLst>
          </a:prstGeom>
          <a:solidFill>
            <a:srgbClr val="201A3D"/>
          </a:solidFill>
          <a:ln/>
        </p:spPr>
      </p:sp>
      <p:sp>
        <p:nvSpPr>
          <p:cNvPr id="8" name="Text 6"/>
          <p:cNvSpPr/>
          <p:nvPr/>
        </p:nvSpPr>
        <p:spPr>
          <a:xfrm>
            <a:off x="3767188" y="3402298"/>
            <a:ext cx="1977924" cy="523221"/>
          </a:xfrm>
          <a:prstGeom prst="rect">
            <a:avLst/>
          </a:prstGeom>
          <a:noFill/>
          <a:ln/>
        </p:spPr>
        <p:txBody>
          <a:bodyPr wrap="square" lIns="0" tIns="0" rIns="0" bIns="0" rtlCol="0" anchor="t">
            <a:normAutofit/>
          </a:bodyPr>
          <a:lstStyle/>
          <a:p>
            <a:pPr marL="0" indent="0" algn="ctr">
              <a:lnSpc>
                <a:spcPts val="3920"/>
              </a:lnSpc>
              <a:buNone/>
            </a:pPr>
            <a:r>
              <a:rPr lang="en-US" sz="2800" b="1" dirty="0">
                <a:solidFill>
                  <a:srgbClr val="3FD0E6"/>
                </a:solidFill>
                <a:latin typeface="JetBrains Mono" pitchFamily="34" charset="0"/>
                <a:ea typeface="JetBrains Mono" pitchFamily="34" charset="-122"/>
                <a:cs typeface="JetBrains Mono" pitchFamily="34" charset="-120"/>
              </a:rPr>
              <a:t>0.93–0.98</a:t>
            </a:r>
            <a:endParaRPr lang="en-US" sz="2800" dirty="0"/>
          </a:p>
        </p:txBody>
      </p:sp>
      <p:sp>
        <p:nvSpPr>
          <p:cNvPr id="9" name="Text 7"/>
          <p:cNvSpPr/>
          <p:nvPr/>
        </p:nvSpPr>
        <p:spPr>
          <a:xfrm>
            <a:off x="3663887" y="3950915"/>
            <a:ext cx="2184527" cy="416485"/>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BFB8DC"/>
                </a:solidFill>
                <a:latin typeface="Space Grotesk" pitchFamily="34" charset="0"/>
                <a:ea typeface="Space Grotesk" pitchFamily="34" charset="-122"/>
                <a:cs typeface="Space Grotesk" pitchFamily="34" charset="-120"/>
              </a:rPr>
              <a:t>per-replicate 95% CI coverage, across every method</a:t>
            </a:r>
            <a:endParaRPr lang="en-US" sz="1100" dirty="0"/>
          </a:p>
        </p:txBody>
      </p:sp>
      <p:sp>
        <p:nvSpPr>
          <p:cNvPr id="10" name="Shape 8"/>
          <p:cNvSpPr/>
          <p:nvPr/>
        </p:nvSpPr>
        <p:spPr>
          <a:xfrm>
            <a:off x="6172200" y="1902383"/>
            <a:ext cx="2527300" cy="3939615"/>
          </a:xfrm>
          <a:prstGeom prst="roundRect">
            <a:avLst>
              <a:gd name="adj" fmla="val 5025"/>
            </a:avLst>
          </a:prstGeom>
          <a:solidFill>
            <a:srgbClr val="201A3D"/>
          </a:solidFill>
          <a:ln/>
        </p:spPr>
      </p:sp>
      <p:sp>
        <p:nvSpPr>
          <p:cNvPr id="11" name="Text 9"/>
          <p:cNvSpPr/>
          <p:nvPr/>
        </p:nvSpPr>
        <p:spPr>
          <a:xfrm>
            <a:off x="6877050" y="3402298"/>
            <a:ext cx="1117600" cy="523221"/>
          </a:xfrm>
          <a:prstGeom prst="rect">
            <a:avLst/>
          </a:prstGeom>
          <a:noFill/>
          <a:ln/>
        </p:spPr>
        <p:txBody>
          <a:bodyPr wrap="square" lIns="0" tIns="0" rIns="0" bIns="0" rtlCol="0" anchor="t">
            <a:normAutofit/>
          </a:bodyPr>
          <a:lstStyle/>
          <a:p>
            <a:pPr marL="0" indent="0" algn="ctr">
              <a:lnSpc>
                <a:spcPts val="3920"/>
              </a:lnSpc>
              <a:buNone/>
            </a:pPr>
            <a:r>
              <a:rPr lang="en-US" sz="2800" b="1" dirty="0">
                <a:solidFill>
                  <a:srgbClr val="3FD0E6"/>
                </a:solidFill>
                <a:latin typeface="JetBrains Mono" pitchFamily="34" charset="0"/>
                <a:ea typeface="JetBrains Mono" pitchFamily="34" charset="-122"/>
                <a:cs typeface="JetBrains Mono" pitchFamily="34" charset="-120"/>
              </a:rPr>
              <a:t>90/90</a:t>
            </a:r>
            <a:endParaRPr lang="en-US" sz="2800" dirty="0"/>
          </a:p>
        </p:txBody>
      </p:sp>
      <p:sp>
        <p:nvSpPr>
          <p:cNvPr id="12" name="Text 10"/>
          <p:cNvSpPr/>
          <p:nvPr/>
        </p:nvSpPr>
        <p:spPr>
          <a:xfrm>
            <a:off x="6343587" y="3950915"/>
            <a:ext cx="2184527" cy="416485"/>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BFB8DC"/>
                </a:solidFill>
                <a:latin typeface="Space Grotesk" pitchFamily="34" charset="0"/>
                <a:ea typeface="Space Grotesk" pitchFamily="34" charset="-122"/>
                <a:cs typeface="Space Grotesk" pitchFamily="34" charset="-120"/>
              </a:rPr>
              <a:t>unit and integration tests passing</a:t>
            </a:r>
            <a:endParaRPr lang="en-US" sz="1100" dirty="0"/>
          </a:p>
        </p:txBody>
      </p:sp>
      <p:sp>
        <p:nvSpPr>
          <p:cNvPr id="13" name="Shape 11"/>
          <p:cNvSpPr/>
          <p:nvPr/>
        </p:nvSpPr>
        <p:spPr>
          <a:xfrm>
            <a:off x="8851900" y="1902383"/>
            <a:ext cx="2527300" cy="3939615"/>
          </a:xfrm>
          <a:prstGeom prst="roundRect">
            <a:avLst>
              <a:gd name="adj" fmla="val 5025"/>
            </a:avLst>
          </a:prstGeom>
          <a:solidFill>
            <a:srgbClr val="201A3D"/>
          </a:solidFill>
          <a:ln/>
        </p:spPr>
      </p:sp>
      <p:sp>
        <p:nvSpPr>
          <p:cNvPr id="14" name="Text 12"/>
          <p:cNvSpPr/>
          <p:nvPr/>
        </p:nvSpPr>
        <p:spPr>
          <a:xfrm>
            <a:off x="9023287" y="3055652"/>
            <a:ext cx="2184527" cy="1021043"/>
          </a:xfrm>
          <a:prstGeom prst="rect">
            <a:avLst/>
          </a:prstGeom>
          <a:noFill/>
          <a:ln/>
        </p:spPr>
        <p:txBody>
          <a:bodyPr wrap="square" lIns="0" tIns="0" rIns="0" bIns="0" rtlCol="0" anchor="t">
            <a:normAutofit/>
          </a:bodyPr>
          <a:lstStyle/>
          <a:p>
            <a:pPr marL="0" indent="0" algn="ctr">
              <a:lnSpc>
                <a:spcPts val="3920"/>
              </a:lnSpc>
              <a:buNone/>
            </a:pPr>
            <a:r>
              <a:rPr lang="en-US" sz="2800" b="1" dirty="0">
                <a:solidFill>
                  <a:srgbClr val="3FD0E6"/>
                </a:solidFill>
                <a:latin typeface="JetBrains Mono" pitchFamily="34" charset="0"/>
                <a:ea typeface="JetBrains Mono" pitchFamily="34" charset="-122"/>
                <a:cs typeface="JetBrains Mono" pitchFamily="34" charset="-120"/>
              </a:rPr>
              <a:t>bit-identical</a:t>
            </a:r>
            <a:endParaRPr lang="en-US" sz="2800" dirty="0"/>
          </a:p>
        </p:txBody>
      </p:sp>
      <p:sp>
        <p:nvSpPr>
          <p:cNvPr id="15" name="Text 13"/>
          <p:cNvSpPr/>
          <p:nvPr/>
        </p:nvSpPr>
        <p:spPr>
          <a:xfrm>
            <a:off x="9023287" y="4102100"/>
            <a:ext cx="2184527" cy="612028"/>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BFB8DC"/>
                </a:solidFill>
                <a:latin typeface="Space Grotesk" pitchFamily="34" charset="0"/>
                <a:ea typeface="Space Grotesk" pitchFamily="34" charset="-122"/>
                <a:cs typeface="Space Grotesk" pitchFamily="34" charset="-120"/>
              </a:rPr>
              <a:t>every table reproduced from a clean checkout, ≤ 6×10⁻¹⁵ relative</a:t>
            </a:r>
            <a:endParaRPr lang="en-US" sz="1100" dirty="0"/>
          </a:p>
        </p:txBody>
      </p:sp>
      <p:sp>
        <p:nvSpPr>
          <p:cNvPr id="16" name="Text 14"/>
          <p:cNvSpPr/>
          <p:nvPr/>
        </p:nvSpPr>
        <p:spPr>
          <a:xfrm>
            <a:off x="812800" y="6238317"/>
            <a:ext cx="8626054"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AB"/>
                </a:solidFill>
                <a:latin typeface="Space Grotesk" pitchFamily="34" charset="0"/>
                <a:ea typeface="Space Grotesk" pitchFamily="34" charset="-122"/>
                <a:cs typeface="Space Grotesk" pitchFamily="34" charset="-120"/>
              </a:rPr>
              <a:t>seeded, paired random numbers throughout — every method comparison is a paired comparison, not a lucky draw</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16122B"/>
        </a:solidFill>
        <a:effectLst/>
      </p:bgPr>
    </p:bg>
    <p:spTree>
      <p:nvGrpSpPr>
        <p:cNvPr id="1" name=""/>
        <p:cNvGrpSpPr/>
        <p:nvPr/>
      </p:nvGrpSpPr>
      <p:grpSpPr>
        <a:xfrm>
          <a:off x="0" y="0"/>
          <a:ext cx="0" cy="0"/>
          <a:chOff x="0" y="0"/>
          <a:chExt cx="0" cy="0"/>
        </a:xfrm>
      </p:grpSpPr>
      <p:pic>
        <p:nvPicPr>
          <p:cNvPr id="2" name="Image 0" descr="A fan of simulated price paths fading toward the bottom of the slide"/>
          <p:cNvPicPr>
            <a:picLocks noChangeAspect="1"/>
          </p:cNvPicPr>
          <p:nvPr/>
        </p:nvPicPr>
        <p:blipFill>
          <a:blip r:embed="rId3"/>
          <a:srcRect t="-21" b="-21"/>
          <a:stretch/>
        </p:blipFill>
        <p:spPr>
          <a:xfrm>
            <a:off x="0" y="2159000"/>
            <a:ext cx="12192000" cy="4699000"/>
          </a:xfrm>
          <a:prstGeom prst="rect">
            <a:avLst/>
          </a:prstGeom>
        </p:spPr>
      </p:pic>
      <p:sp>
        <p:nvSpPr>
          <p:cNvPr id="3" name="Text 0"/>
          <p:cNvSpPr/>
          <p:nvPr/>
        </p:nvSpPr>
        <p:spPr>
          <a:xfrm>
            <a:off x="812800" y="2672420"/>
            <a:ext cx="10883392" cy="256521"/>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A58BFF"/>
                </a:solidFill>
                <a:latin typeface="Space Grotesk" pitchFamily="34" charset="0"/>
                <a:ea typeface="Space Grotesk" pitchFamily="34" charset="-122"/>
                <a:cs typeface="Space Grotesk" pitchFamily="34" charset="-120"/>
              </a:rPr>
              <a:t>CSE 402 · GROUP G07</a:t>
            </a:r>
            <a:endParaRPr lang="en-US" sz="1300" dirty="0"/>
          </a:p>
        </p:txBody>
      </p:sp>
      <p:sp>
        <p:nvSpPr>
          <p:cNvPr id="4" name="Text 1"/>
          <p:cNvSpPr/>
          <p:nvPr/>
        </p:nvSpPr>
        <p:spPr>
          <a:xfrm>
            <a:off x="812800" y="2903538"/>
            <a:ext cx="10883392" cy="738561"/>
          </a:xfrm>
          <a:prstGeom prst="rect">
            <a:avLst/>
          </a:prstGeom>
          <a:noFill/>
          <a:ln/>
        </p:spPr>
        <p:txBody>
          <a:bodyPr wrap="square" lIns="0" tIns="0" rIns="0" bIns="0" rtlCol="0" anchor="t">
            <a:normAutofit/>
          </a:bodyPr>
          <a:lstStyle/>
          <a:p>
            <a:pPr marL="0" indent="0" algn="l">
              <a:lnSpc>
                <a:spcPts val="5616"/>
              </a:lnSpc>
              <a:buNone/>
            </a:pPr>
            <a:r>
              <a:rPr lang="en-US" sz="5200" b="1" dirty="0">
                <a:solidFill>
                  <a:srgbClr val="F2EFFA"/>
                </a:solidFill>
                <a:latin typeface="Fraunces" pitchFamily="34" charset="0"/>
                <a:ea typeface="Fraunces" pitchFamily="34" charset="-122"/>
                <a:cs typeface="Fraunces" pitchFamily="34" charset="-120"/>
              </a:rPr>
              <a:t>Thank you</a:t>
            </a:r>
            <a:endParaRPr lang="en-US" sz="5200" dirty="0"/>
          </a:p>
        </p:txBody>
      </p:sp>
      <p:sp>
        <p:nvSpPr>
          <p:cNvPr id="5" name="Text 2"/>
          <p:cNvSpPr/>
          <p:nvPr/>
        </p:nvSpPr>
        <p:spPr>
          <a:xfrm>
            <a:off x="812800" y="3616697"/>
            <a:ext cx="10883392" cy="38100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3FD0E6"/>
                </a:solidFill>
                <a:latin typeface="Fraunces" pitchFamily="34" charset="0"/>
                <a:ea typeface="Fraunces" pitchFamily="34" charset="-122"/>
                <a:cs typeface="Fraunces" pitchFamily="34" charset="-120"/>
              </a:rPr>
              <a:t>questions, and the demo, next</a:t>
            </a:r>
            <a:endParaRPr lang="en-US" sz="2000" dirty="0"/>
          </a:p>
        </p:txBody>
      </p:sp>
      <p:sp>
        <p:nvSpPr>
          <p:cNvPr id="6" name="Text 3"/>
          <p:cNvSpPr/>
          <p:nvPr/>
        </p:nvSpPr>
        <p:spPr>
          <a:xfrm>
            <a:off x="812800" y="3972297"/>
            <a:ext cx="7848600" cy="2386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B8DC"/>
                </a:solidFill>
                <a:latin typeface="Space Grotesk" pitchFamily="34" charset="0"/>
                <a:ea typeface="Space Grotesk" pitchFamily="34" charset="-122"/>
                <a:cs typeface="Space Grotesk" pitchFamily="34" charset="-120"/>
              </a:rPr>
              <a:t>One-command reproduction: </a:t>
            </a:r>
            <a:r>
              <a:rPr lang="en-US" sz="1200" dirty="0">
                <a:solidFill>
                  <a:srgbClr val="F2EFFA"/>
                </a:solidFill>
                <a:latin typeface="Space Grotesk" pitchFamily="34" charset="0"/>
                <a:ea typeface="Space Grotesk" pitchFamily="34" charset="-122"/>
                <a:cs typeface="Space Grotesk" pitchFamily="34" charset="-120"/>
              </a:rPr>
              <a:t>python run_all.py --analyze-only --only master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4519</Words>
  <Application>Microsoft Office PowerPoint</Application>
  <PresentationFormat>Widescreen</PresentationFormat>
  <Paragraphs>443</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Aptos Display</vt:lpstr>
      <vt:lpstr>Arial</vt:lpstr>
      <vt:lpstr>Calibri</vt:lpstr>
      <vt:lpstr>Fraunces</vt:lpstr>
      <vt:lpstr>JetBrains Mono</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Pricing the Path — G07</dc:title>
  <dc:subject>PptxGenJS Presentation</dc:subject>
  <dc:creator>PptxGenJS</dc:creator>
  <cp:lastModifiedBy>Aritra</cp:lastModifiedBy>
  <cp:revision>2</cp:revision>
  <dcterms:created xsi:type="dcterms:W3CDTF">2026-09-28T01:53:31Z</dcterms:created>
  <dcterms:modified xsi:type="dcterms:W3CDTF">2026-09-28T05:40:06Z</dcterms:modified>
</cp:coreProperties>
</file>